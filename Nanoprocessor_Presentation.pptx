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80" r:id="rId23"/>
    <p:sldId id="281" r:id="rId24"/>
    <p:sldId id="277" r:id="rId25"/>
    <p:sldId id="286" r:id="rId26"/>
    <p:sldId id="282" r:id="rId27"/>
    <p:sldId id="285" r:id="rId28"/>
    <p:sldId id="283" r:id="rId29"/>
    <p:sldId id="278" r:id="rId30"/>
    <p:sldId id="284" r:id="rId31"/>
    <p:sldId id="279" r:id="rId3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7" d="100"/>
          <a:sy n="117" d="100"/>
        </p:scale>
        <p:origin x="466"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56774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881AC-B4B2-016D-D5C8-1752B804E6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9C40E8-9904-F9F3-E4C8-67660757F73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6B27005-4F03-2E37-507E-48E71C5194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BDD306-07D4-C1B3-F20B-2C2078A32832}"/>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2528516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CE1AE-BA7E-46C5-0E6C-42267E9EEE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E41576-52FB-B8AC-B982-6C00A6C2ABC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FC055BD-2124-8854-9A3D-96ACAF2A92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D0DDFB-61D0-1B12-6AE9-5949C42C8F03}"/>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509679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718BB-6789-213D-6BE6-DA4BF2F10F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8A3F9A-2482-6335-DEE5-719B4C128FA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7D9F0A4-B0AF-1697-AC49-382E54BFB0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97B929-4277-6D91-6814-E2E7E0765F1B}"/>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30105451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DB7B4-47B3-1154-891A-0EB1FF4841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F4426C-0F14-8EAB-578B-4F8CEEAAA10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717EF30-60B2-93A7-3929-EDE627081E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CD6686-81AF-DD26-51B8-DCECBAA2921C}"/>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38644478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1A50F-AE5A-4FB1-7A86-FCC4BCE9E1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ED1DCB-D972-326A-B99F-8D0949548CC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877BBA4-F29D-495F-879F-CC6DCBC6DF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4F3B91-8230-E0D1-F33A-EF25920F608D}"/>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24819207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FC7DD-44D3-4768-A77B-BFC46BDC70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75BE47-D97F-D264-317F-07720A18ADB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10F493D-5C75-FC47-B83C-A5D2FD024D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2CCF8B-9017-544B-074D-2AD9EC63FC0D}"/>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30497447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D0718-4999-E1CB-459A-616D83E369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BFBD08-1D5B-A9B3-EF46-A283841BBE3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143CF40-D9C1-B580-A453-DA3142D7AA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1E2964-FB69-5997-0B58-C82D490F1413}"/>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3360676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86C1"/>
          </a:solidFill>
          <a:ln w="12700">
            <a:solidFill>
              <a:srgbClr val="2E86C1"/>
            </a:solidFill>
            <a:prstDash val="solid"/>
          </a:ln>
        </p:spPr>
        <p:txBody>
          <a:bodyPr/>
          <a:lstStyle/>
          <a:p>
            <a:endParaRPr lang="en-US"/>
          </a:p>
        </p:txBody>
      </p:sp>
      <p:sp>
        <p:nvSpPr>
          <p:cNvPr id="3" name="Shape 1"/>
          <p:cNvSpPr/>
          <p:nvPr/>
        </p:nvSpPr>
        <p:spPr>
          <a:xfrm>
            <a:off x="0" y="5079492"/>
            <a:ext cx="9144000" cy="64008"/>
          </a:xfrm>
          <a:prstGeom prst="rect">
            <a:avLst/>
          </a:prstGeom>
          <a:solidFill>
            <a:srgbClr val="2E86C1"/>
          </a:solidFill>
          <a:ln w="12700">
            <a:solidFill>
              <a:srgbClr val="2E86C1"/>
            </a:solidFill>
            <a:prstDash val="solid"/>
          </a:ln>
        </p:spPr>
        <p:txBody>
          <a:bodyPr/>
          <a:lstStyle/>
          <a:p>
            <a:endParaRPr lang="en-US"/>
          </a:p>
        </p:txBody>
      </p:sp>
      <p:sp>
        <p:nvSpPr>
          <p:cNvPr id="4" name="Text 2"/>
          <p:cNvSpPr/>
          <p:nvPr/>
        </p:nvSpPr>
        <p:spPr>
          <a:xfrm>
            <a:off x="457200" y="1463040"/>
            <a:ext cx="8229600" cy="1280160"/>
          </a:xfrm>
          <a:prstGeom prst="rect">
            <a:avLst/>
          </a:prstGeom>
          <a:noFill/>
          <a:ln/>
        </p:spPr>
        <p:txBody>
          <a:bodyPr wrap="square"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4-bit Nanoprocessor</a:t>
            </a:r>
            <a:endParaRPr lang="en-US" sz="4400" dirty="0"/>
          </a:p>
        </p:txBody>
      </p:sp>
      <p:sp>
        <p:nvSpPr>
          <p:cNvPr id="5" name="Text 3"/>
          <p:cNvSpPr/>
          <p:nvPr/>
        </p:nvSpPr>
        <p:spPr>
          <a:xfrm>
            <a:off x="431076" y="2181507"/>
            <a:ext cx="8229600" cy="731520"/>
          </a:xfrm>
          <a:prstGeom prst="rect">
            <a:avLst/>
          </a:prstGeom>
          <a:noFill/>
          <a:ln/>
        </p:spPr>
        <p:txBody>
          <a:bodyPr wrap="square" rtlCol="0" anchor="ctr"/>
          <a:lstStyle/>
          <a:p>
            <a:pPr marL="0" indent="0" algn="ctr">
              <a:buNone/>
            </a:pPr>
            <a:r>
              <a:rPr lang="en-US" sz="2000" dirty="0">
                <a:solidFill>
                  <a:srgbClr val="AED6F1"/>
                </a:solidFill>
                <a:latin typeface="Calibri" pitchFamily="34" charset="0"/>
                <a:ea typeface="Calibri" pitchFamily="34" charset="-122"/>
                <a:cs typeface="Calibri" pitchFamily="34" charset="-120"/>
              </a:rPr>
              <a:t>Design, Implementation &amp; Demonstration</a:t>
            </a:r>
            <a:endParaRPr lang="en-US" sz="2000" dirty="0"/>
          </a:p>
        </p:txBody>
      </p:sp>
      <p:sp>
        <p:nvSpPr>
          <p:cNvPr id="6" name="Text 4"/>
          <p:cNvSpPr/>
          <p:nvPr/>
        </p:nvSpPr>
        <p:spPr>
          <a:xfrm>
            <a:off x="457200" y="2657317"/>
            <a:ext cx="8229600" cy="365760"/>
          </a:xfrm>
          <a:prstGeom prst="rect">
            <a:avLst/>
          </a:prstGeom>
          <a:noFill/>
          <a:ln/>
        </p:spPr>
        <p:txBody>
          <a:bodyPr wrap="square" rtlCol="0" anchor="ctr"/>
          <a:lstStyle/>
          <a:p>
            <a:pPr marL="0" indent="0" algn="ctr">
              <a:buNone/>
            </a:pPr>
            <a:r>
              <a:rPr lang="en-US" sz="1300" dirty="0">
                <a:solidFill>
                  <a:srgbClr val="D5D8DC"/>
                </a:solidFill>
                <a:latin typeface="Calibri" pitchFamily="34" charset="0"/>
                <a:ea typeface="Calibri" pitchFamily="34" charset="-122"/>
                <a:cs typeface="Calibri" pitchFamily="34" charset="-120"/>
              </a:rPr>
              <a:t>CS1050 Computer Organization and Digital Design  |  University of Moratuwa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E86C1"/>
          </a:solidFill>
          <a:ln w="12700">
            <a:solidFill>
              <a:srgbClr val="2E86C1"/>
            </a:solidFill>
            <a:prstDash val="solid"/>
          </a:ln>
        </p:spPr>
        <p:txBody>
          <a:bodyPr/>
          <a:lstStyle/>
          <a:p>
            <a:endParaRPr lang="en-US"/>
          </a:p>
        </p:txBody>
      </p:sp>
      <p:sp>
        <p:nvSpPr>
          <p:cNvPr id="3" name="Shape 1"/>
          <p:cNvSpPr/>
          <p:nvPr/>
        </p:nvSpPr>
        <p:spPr>
          <a:xfrm>
            <a:off x="0" y="0"/>
            <a:ext cx="9144000" cy="713232"/>
          </a:xfrm>
          <a:prstGeom prst="rect">
            <a:avLst/>
          </a:prstGeom>
          <a:solidFill>
            <a:srgbClr val="0D1B2A"/>
          </a:solidFill>
          <a:ln w="12700">
            <a:solidFill>
              <a:srgbClr val="0D1B2A"/>
            </a:solidFill>
            <a:prstDash val="solid"/>
          </a:ln>
        </p:spPr>
        <p:txBody>
          <a:bodyPr/>
          <a:lstStyle/>
          <a:p>
            <a:endParaRPr lang="en-US"/>
          </a:p>
        </p:txBody>
      </p:sp>
      <p:sp>
        <p:nvSpPr>
          <p:cNvPr id="4" name="Text 2"/>
          <p:cNvSpPr/>
          <p:nvPr/>
        </p:nvSpPr>
        <p:spPr>
          <a:xfrm>
            <a:off x="274320" y="73152"/>
            <a:ext cx="8595360"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Presentation Agenda</a:t>
            </a:r>
            <a:endParaRPr lang="en-US" sz="2200" dirty="0"/>
          </a:p>
        </p:txBody>
      </p:sp>
      <p:sp>
        <p:nvSpPr>
          <p:cNvPr id="5" name="Shape 3"/>
          <p:cNvSpPr/>
          <p:nvPr/>
        </p:nvSpPr>
        <p:spPr>
          <a:xfrm>
            <a:off x="274320" y="868680"/>
            <a:ext cx="4206240" cy="960120"/>
          </a:xfrm>
          <a:prstGeom prst="rect">
            <a:avLst/>
          </a:prstGeom>
          <a:solidFill>
            <a:srgbClr val="FFFFFF"/>
          </a:solidFill>
          <a:ln w="12700">
            <a:solidFill>
              <a:srgbClr val="D5D8DC"/>
            </a:solidFill>
            <a:prstDash val="solid"/>
          </a:ln>
          <a:effectLst>
            <a:outerShdw blurRad="101600" dist="38100" dir="8100000" algn="bl" rotWithShape="0">
              <a:srgbClr val="000000">
                <a:alpha val="18000"/>
              </a:srgbClr>
            </a:outerShdw>
          </a:effectLst>
        </p:spPr>
        <p:txBody>
          <a:bodyPr/>
          <a:lstStyle/>
          <a:p>
            <a:endParaRPr lang="en-US"/>
          </a:p>
        </p:txBody>
      </p:sp>
      <p:sp>
        <p:nvSpPr>
          <p:cNvPr id="6" name="Shape 4"/>
          <p:cNvSpPr/>
          <p:nvPr/>
        </p:nvSpPr>
        <p:spPr>
          <a:xfrm>
            <a:off x="274320" y="868680"/>
            <a:ext cx="502920" cy="960120"/>
          </a:xfrm>
          <a:prstGeom prst="rect">
            <a:avLst/>
          </a:prstGeom>
          <a:solidFill>
            <a:srgbClr val="2E86C1"/>
          </a:solidFill>
          <a:ln w="12700">
            <a:solidFill>
              <a:srgbClr val="2E86C1"/>
            </a:solidFill>
            <a:prstDash val="solid"/>
          </a:ln>
        </p:spPr>
        <p:txBody>
          <a:bodyPr/>
          <a:lstStyle/>
          <a:p>
            <a:endParaRPr lang="en-US"/>
          </a:p>
        </p:txBody>
      </p:sp>
      <p:sp>
        <p:nvSpPr>
          <p:cNvPr id="7" name="Text 5"/>
          <p:cNvSpPr/>
          <p:nvPr/>
        </p:nvSpPr>
        <p:spPr>
          <a:xfrm>
            <a:off x="283464" y="1005840"/>
            <a:ext cx="484632"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01</a:t>
            </a:r>
            <a:endParaRPr lang="en-US" sz="2200" dirty="0"/>
          </a:p>
        </p:txBody>
      </p:sp>
      <p:sp>
        <p:nvSpPr>
          <p:cNvPr id="8" name="Text 6"/>
          <p:cNvSpPr/>
          <p:nvPr/>
        </p:nvSpPr>
        <p:spPr>
          <a:xfrm>
            <a:off x="868680" y="960120"/>
            <a:ext cx="3108960" cy="502920"/>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Task Overview &amp; Purpose</a:t>
            </a:r>
            <a:endParaRPr lang="en-US" sz="1300" dirty="0"/>
          </a:p>
        </p:txBody>
      </p:sp>
      <p:sp>
        <p:nvSpPr>
          <p:cNvPr id="10" name="Shape 8"/>
          <p:cNvSpPr/>
          <p:nvPr/>
        </p:nvSpPr>
        <p:spPr>
          <a:xfrm>
            <a:off x="4709160" y="868680"/>
            <a:ext cx="4206240" cy="960120"/>
          </a:xfrm>
          <a:prstGeom prst="rect">
            <a:avLst/>
          </a:prstGeom>
          <a:solidFill>
            <a:srgbClr val="FFFFFF"/>
          </a:solidFill>
          <a:ln w="12700">
            <a:solidFill>
              <a:srgbClr val="D5D8DC"/>
            </a:solidFill>
            <a:prstDash val="solid"/>
          </a:ln>
          <a:effectLst>
            <a:outerShdw blurRad="101600" dist="38100" dir="8100000" algn="bl" rotWithShape="0">
              <a:srgbClr val="000000">
                <a:alpha val="18000"/>
              </a:srgbClr>
            </a:outerShdw>
          </a:effectLst>
        </p:spPr>
        <p:txBody>
          <a:bodyPr/>
          <a:lstStyle/>
          <a:p>
            <a:endParaRPr lang="en-US"/>
          </a:p>
        </p:txBody>
      </p:sp>
      <p:sp>
        <p:nvSpPr>
          <p:cNvPr id="11" name="Shape 9"/>
          <p:cNvSpPr/>
          <p:nvPr/>
        </p:nvSpPr>
        <p:spPr>
          <a:xfrm>
            <a:off x="4709160" y="868680"/>
            <a:ext cx="502920" cy="960120"/>
          </a:xfrm>
          <a:prstGeom prst="rect">
            <a:avLst/>
          </a:prstGeom>
          <a:solidFill>
            <a:srgbClr val="2E86C1"/>
          </a:solidFill>
          <a:ln w="12700">
            <a:solidFill>
              <a:srgbClr val="2E86C1"/>
            </a:solidFill>
            <a:prstDash val="solid"/>
          </a:ln>
        </p:spPr>
        <p:txBody>
          <a:bodyPr/>
          <a:lstStyle/>
          <a:p>
            <a:endParaRPr lang="en-US"/>
          </a:p>
        </p:txBody>
      </p:sp>
      <p:sp>
        <p:nvSpPr>
          <p:cNvPr id="12" name="Text 10"/>
          <p:cNvSpPr/>
          <p:nvPr/>
        </p:nvSpPr>
        <p:spPr>
          <a:xfrm>
            <a:off x="4718304" y="1005840"/>
            <a:ext cx="484632"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02</a:t>
            </a:r>
            <a:endParaRPr lang="en-US" sz="2200" dirty="0"/>
          </a:p>
        </p:txBody>
      </p:sp>
      <p:sp>
        <p:nvSpPr>
          <p:cNvPr id="13" name="Text 11"/>
          <p:cNvSpPr/>
          <p:nvPr/>
        </p:nvSpPr>
        <p:spPr>
          <a:xfrm>
            <a:off x="5303520" y="960120"/>
            <a:ext cx="3108960" cy="502920"/>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Instruction Set Architecture</a:t>
            </a:r>
            <a:endParaRPr lang="en-US" sz="1300" dirty="0"/>
          </a:p>
        </p:txBody>
      </p:sp>
      <p:sp>
        <p:nvSpPr>
          <p:cNvPr id="15" name="Shape 13"/>
          <p:cNvSpPr/>
          <p:nvPr/>
        </p:nvSpPr>
        <p:spPr>
          <a:xfrm>
            <a:off x="274320" y="1965960"/>
            <a:ext cx="4206240" cy="960120"/>
          </a:xfrm>
          <a:prstGeom prst="rect">
            <a:avLst/>
          </a:prstGeom>
          <a:solidFill>
            <a:srgbClr val="FFFFFF"/>
          </a:solidFill>
          <a:ln w="12700">
            <a:solidFill>
              <a:srgbClr val="D5D8DC"/>
            </a:solidFill>
            <a:prstDash val="solid"/>
          </a:ln>
          <a:effectLst>
            <a:outerShdw blurRad="101600" dist="38100" dir="8100000" algn="bl" rotWithShape="0">
              <a:srgbClr val="000000">
                <a:alpha val="18000"/>
              </a:srgbClr>
            </a:outerShdw>
          </a:effectLst>
        </p:spPr>
        <p:txBody>
          <a:bodyPr/>
          <a:lstStyle/>
          <a:p>
            <a:endParaRPr lang="en-US"/>
          </a:p>
        </p:txBody>
      </p:sp>
      <p:sp>
        <p:nvSpPr>
          <p:cNvPr id="16" name="Shape 14"/>
          <p:cNvSpPr/>
          <p:nvPr/>
        </p:nvSpPr>
        <p:spPr>
          <a:xfrm>
            <a:off x="274320" y="1965960"/>
            <a:ext cx="502920" cy="960120"/>
          </a:xfrm>
          <a:prstGeom prst="rect">
            <a:avLst/>
          </a:prstGeom>
          <a:solidFill>
            <a:srgbClr val="2E86C1"/>
          </a:solidFill>
          <a:ln w="12700">
            <a:solidFill>
              <a:srgbClr val="2E86C1"/>
            </a:solidFill>
            <a:prstDash val="solid"/>
          </a:ln>
        </p:spPr>
        <p:txBody>
          <a:bodyPr/>
          <a:lstStyle/>
          <a:p>
            <a:endParaRPr lang="en-US"/>
          </a:p>
        </p:txBody>
      </p:sp>
      <p:sp>
        <p:nvSpPr>
          <p:cNvPr id="17" name="Text 15"/>
          <p:cNvSpPr/>
          <p:nvPr/>
        </p:nvSpPr>
        <p:spPr>
          <a:xfrm>
            <a:off x="283464" y="2103120"/>
            <a:ext cx="484632"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03</a:t>
            </a:r>
            <a:endParaRPr lang="en-US" sz="2200" dirty="0"/>
          </a:p>
        </p:txBody>
      </p:sp>
      <p:sp>
        <p:nvSpPr>
          <p:cNvPr id="18" name="Text 16"/>
          <p:cNvSpPr/>
          <p:nvPr/>
        </p:nvSpPr>
        <p:spPr>
          <a:xfrm>
            <a:off x="868680" y="2057400"/>
            <a:ext cx="3108960" cy="502920"/>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Architecture &amp; Signal Flow</a:t>
            </a:r>
            <a:endParaRPr lang="en-US" sz="1300" dirty="0"/>
          </a:p>
        </p:txBody>
      </p:sp>
      <p:sp>
        <p:nvSpPr>
          <p:cNvPr id="20" name="Shape 18"/>
          <p:cNvSpPr/>
          <p:nvPr/>
        </p:nvSpPr>
        <p:spPr>
          <a:xfrm>
            <a:off x="4709160" y="1965960"/>
            <a:ext cx="4206240" cy="960120"/>
          </a:xfrm>
          <a:prstGeom prst="rect">
            <a:avLst/>
          </a:prstGeom>
          <a:solidFill>
            <a:srgbClr val="FFFFFF"/>
          </a:solidFill>
          <a:ln w="12700">
            <a:solidFill>
              <a:srgbClr val="D5D8DC"/>
            </a:solidFill>
            <a:prstDash val="solid"/>
          </a:ln>
          <a:effectLst>
            <a:outerShdw blurRad="101600" dist="38100" dir="8100000" algn="bl" rotWithShape="0">
              <a:srgbClr val="000000">
                <a:alpha val="18000"/>
              </a:srgbClr>
            </a:outerShdw>
          </a:effectLst>
        </p:spPr>
        <p:txBody>
          <a:bodyPr/>
          <a:lstStyle/>
          <a:p>
            <a:endParaRPr lang="en-US"/>
          </a:p>
        </p:txBody>
      </p:sp>
      <p:sp>
        <p:nvSpPr>
          <p:cNvPr id="21" name="Shape 19"/>
          <p:cNvSpPr/>
          <p:nvPr/>
        </p:nvSpPr>
        <p:spPr>
          <a:xfrm>
            <a:off x="4709160" y="1965960"/>
            <a:ext cx="502920" cy="960120"/>
          </a:xfrm>
          <a:prstGeom prst="rect">
            <a:avLst/>
          </a:prstGeom>
          <a:solidFill>
            <a:srgbClr val="2E86C1"/>
          </a:solidFill>
          <a:ln w="12700">
            <a:solidFill>
              <a:srgbClr val="2E86C1"/>
            </a:solidFill>
            <a:prstDash val="solid"/>
          </a:ln>
        </p:spPr>
        <p:txBody>
          <a:bodyPr/>
          <a:lstStyle/>
          <a:p>
            <a:endParaRPr lang="en-US"/>
          </a:p>
        </p:txBody>
      </p:sp>
      <p:sp>
        <p:nvSpPr>
          <p:cNvPr id="22" name="Text 20"/>
          <p:cNvSpPr/>
          <p:nvPr/>
        </p:nvSpPr>
        <p:spPr>
          <a:xfrm>
            <a:off x="4718304" y="2103120"/>
            <a:ext cx="484632"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04</a:t>
            </a:r>
            <a:endParaRPr lang="en-US" sz="2200" dirty="0"/>
          </a:p>
        </p:txBody>
      </p:sp>
      <p:sp>
        <p:nvSpPr>
          <p:cNvPr id="23" name="Text 21"/>
          <p:cNvSpPr/>
          <p:nvPr/>
        </p:nvSpPr>
        <p:spPr>
          <a:xfrm>
            <a:off x="5303520" y="2057400"/>
            <a:ext cx="3108960" cy="502920"/>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Component Deep Dive</a:t>
            </a:r>
            <a:endParaRPr lang="en-US" sz="1300" dirty="0"/>
          </a:p>
        </p:txBody>
      </p:sp>
      <p:sp>
        <p:nvSpPr>
          <p:cNvPr id="25" name="Shape 23"/>
          <p:cNvSpPr/>
          <p:nvPr/>
        </p:nvSpPr>
        <p:spPr>
          <a:xfrm>
            <a:off x="274320" y="3063240"/>
            <a:ext cx="4206240" cy="960120"/>
          </a:xfrm>
          <a:prstGeom prst="rect">
            <a:avLst/>
          </a:prstGeom>
          <a:solidFill>
            <a:srgbClr val="FFFFFF"/>
          </a:solidFill>
          <a:ln w="12700">
            <a:solidFill>
              <a:srgbClr val="D5D8DC"/>
            </a:solidFill>
            <a:prstDash val="solid"/>
          </a:ln>
          <a:effectLst>
            <a:outerShdw blurRad="101600" dist="38100" dir="8100000" algn="bl" rotWithShape="0">
              <a:srgbClr val="000000">
                <a:alpha val="18000"/>
              </a:srgbClr>
            </a:outerShdw>
          </a:effectLst>
        </p:spPr>
        <p:txBody>
          <a:bodyPr/>
          <a:lstStyle/>
          <a:p>
            <a:endParaRPr lang="en-US"/>
          </a:p>
        </p:txBody>
      </p:sp>
      <p:sp>
        <p:nvSpPr>
          <p:cNvPr id="26" name="Shape 24"/>
          <p:cNvSpPr/>
          <p:nvPr/>
        </p:nvSpPr>
        <p:spPr>
          <a:xfrm>
            <a:off x="274320" y="3063240"/>
            <a:ext cx="502920" cy="960120"/>
          </a:xfrm>
          <a:prstGeom prst="rect">
            <a:avLst/>
          </a:prstGeom>
          <a:solidFill>
            <a:srgbClr val="2E86C1"/>
          </a:solidFill>
          <a:ln w="12700">
            <a:solidFill>
              <a:srgbClr val="2E86C1"/>
            </a:solidFill>
            <a:prstDash val="solid"/>
          </a:ln>
        </p:spPr>
        <p:txBody>
          <a:bodyPr/>
          <a:lstStyle/>
          <a:p>
            <a:endParaRPr lang="en-US"/>
          </a:p>
        </p:txBody>
      </p:sp>
      <p:sp>
        <p:nvSpPr>
          <p:cNvPr id="27" name="Text 25"/>
          <p:cNvSpPr/>
          <p:nvPr/>
        </p:nvSpPr>
        <p:spPr>
          <a:xfrm>
            <a:off x="283464" y="3200400"/>
            <a:ext cx="484632"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05</a:t>
            </a:r>
            <a:endParaRPr lang="en-US" sz="2200" dirty="0"/>
          </a:p>
        </p:txBody>
      </p:sp>
      <p:sp>
        <p:nvSpPr>
          <p:cNvPr id="28" name="Text 26"/>
          <p:cNvSpPr/>
          <p:nvPr/>
        </p:nvSpPr>
        <p:spPr>
          <a:xfrm>
            <a:off x="868680" y="3154680"/>
            <a:ext cx="3108960" cy="502920"/>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Resource Utilisation</a:t>
            </a:r>
            <a:endParaRPr lang="en-US" sz="1300" dirty="0"/>
          </a:p>
        </p:txBody>
      </p:sp>
      <p:sp>
        <p:nvSpPr>
          <p:cNvPr id="30" name="Shape 28"/>
          <p:cNvSpPr/>
          <p:nvPr/>
        </p:nvSpPr>
        <p:spPr>
          <a:xfrm>
            <a:off x="4709160" y="3063240"/>
            <a:ext cx="4206240" cy="960120"/>
          </a:xfrm>
          <a:prstGeom prst="rect">
            <a:avLst/>
          </a:prstGeom>
          <a:solidFill>
            <a:srgbClr val="FFFFFF"/>
          </a:solidFill>
          <a:ln w="12700">
            <a:solidFill>
              <a:srgbClr val="D5D8DC"/>
            </a:solidFill>
            <a:prstDash val="solid"/>
          </a:ln>
          <a:effectLst>
            <a:outerShdw blurRad="101600" dist="38100" dir="8100000" algn="bl" rotWithShape="0">
              <a:srgbClr val="000000">
                <a:alpha val="18000"/>
              </a:srgbClr>
            </a:outerShdw>
          </a:effectLst>
        </p:spPr>
        <p:txBody>
          <a:bodyPr/>
          <a:lstStyle/>
          <a:p>
            <a:endParaRPr lang="en-US"/>
          </a:p>
        </p:txBody>
      </p:sp>
      <p:sp>
        <p:nvSpPr>
          <p:cNvPr id="31" name="Shape 29"/>
          <p:cNvSpPr/>
          <p:nvPr/>
        </p:nvSpPr>
        <p:spPr>
          <a:xfrm>
            <a:off x="4709160" y="3063240"/>
            <a:ext cx="502920" cy="960120"/>
          </a:xfrm>
          <a:prstGeom prst="rect">
            <a:avLst/>
          </a:prstGeom>
          <a:solidFill>
            <a:srgbClr val="2E86C1"/>
          </a:solidFill>
          <a:ln w="12700">
            <a:solidFill>
              <a:srgbClr val="2E86C1"/>
            </a:solidFill>
            <a:prstDash val="solid"/>
          </a:ln>
        </p:spPr>
        <p:txBody>
          <a:bodyPr/>
          <a:lstStyle/>
          <a:p>
            <a:endParaRPr lang="en-US"/>
          </a:p>
        </p:txBody>
      </p:sp>
      <p:sp>
        <p:nvSpPr>
          <p:cNvPr id="32" name="Text 30"/>
          <p:cNvSpPr/>
          <p:nvPr/>
        </p:nvSpPr>
        <p:spPr>
          <a:xfrm>
            <a:off x="4718304" y="3200400"/>
            <a:ext cx="484632"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06</a:t>
            </a:r>
            <a:endParaRPr lang="en-US" sz="2200" dirty="0"/>
          </a:p>
        </p:txBody>
      </p:sp>
      <p:sp>
        <p:nvSpPr>
          <p:cNvPr id="33" name="Text 31"/>
          <p:cNvSpPr/>
          <p:nvPr/>
        </p:nvSpPr>
        <p:spPr>
          <a:xfrm>
            <a:off x="5303520" y="3154680"/>
            <a:ext cx="3108960" cy="502920"/>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Additional Features</a:t>
            </a:r>
            <a:endParaRPr lang="en-US" sz="1300" dirty="0"/>
          </a:p>
        </p:txBody>
      </p:sp>
      <p:sp>
        <p:nvSpPr>
          <p:cNvPr id="35" name="Shape 33"/>
          <p:cNvSpPr/>
          <p:nvPr/>
        </p:nvSpPr>
        <p:spPr>
          <a:xfrm>
            <a:off x="287385" y="4124595"/>
            <a:ext cx="4206240" cy="960120"/>
          </a:xfrm>
          <a:prstGeom prst="rect">
            <a:avLst/>
          </a:prstGeom>
          <a:solidFill>
            <a:srgbClr val="FFFFFF"/>
          </a:solidFill>
          <a:ln w="12700">
            <a:solidFill>
              <a:srgbClr val="D5D8DC"/>
            </a:solidFill>
            <a:prstDash val="solid"/>
          </a:ln>
          <a:effectLst>
            <a:outerShdw blurRad="101600" dist="38100" dir="8100000" algn="bl" rotWithShape="0">
              <a:srgbClr val="000000">
                <a:alpha val="18000"/>
              </a:srgbClr>
            </a:outerShdw>
          </a:effectLst>
        </p:spPr>
        <p:txBody>
          <a:bodyPr/>
          <a:lstStyle/>
          <a:p>
            <a:endParaRPr lang="en-US" dirty="0"/>
          </a:p>
        </p:txBody>
      </p:sp>
      <p:sp>
        <p:nvSpPr>
          <p:cNvPr id="36" name="Shape 34"/>
          <p:cNvSpPr/>
          <p:nvPr/>
        </p:nvSpPr>
        <p:spPr>
          <a:xfrm>
            <a:off x="293926" y="4127853"/>
            <a:ext cx="502920" cy="960120"/>
          </a:xfrm>
          <a:prstGeom prst="rect">
            <a:avLst/>
          </a:prstGeom>
          <a:solidFill>
            <a:srgbClr val="2E86C1"/>
          </a:solidFill>
          <a:ln w="12700">
            <a:solidFill>
              <a:srgbClr val="2E86C1"/>
            </a:solidFill>
            <a:prstDash val="solid"/>
          </a:ln>
        </p:spPr>
        <p:txBody>
          <a:bodyPr/>
          <a:lstStyle/>
          <a:p>
            <a:endParaRPr lang="en-US"/>
          </a:p>
        </p:txBody>
      </p:sp>
      <p:sp>
        <p:nvSpPr>
          <p:cNvPr id="37" name="Text 35"/>
          <p:cNvSpPr/>
          <p:nvPr/>
        </p:nvSpPr>
        <p:spPr>
          <a:xfrm>
            <a:off x="274320" y="4294398"/>
            <a:ext cx="484632"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07</a:t>
            </a:r>
            <a:endParaRPr lang="en-US" sz="2200" dirty="0"/>
          </a:p>
        </p:txBody>
      </p:sp>
      <p:sp>
        <p:nvSpPr>
          <p:cNvPr id="38" name="Text 36"/>
          <p:cNvSpPr/>
          <p:nvPr/>
        </p:nvSpPr>
        <p:spPr>
          <a:xfrm>
            <a:off x="855631" y="4310741"/>
            <a:ext cx="3108960" cy="502920"/>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Board Demo &amp; Conclusion</a:t>
            </a:r>
            <a:endParaRPr lang="en-US" sz="1300" dirty="0"/>
          </a:p>
        </p:txBody>
      </p:sp>
      <p:sp>
        <p:nvSpPr>
          <p:cNvPr id="14" name="Shape 33">
            <a:extLst>
              <a:ext uri="{FF2B5EF4-FFF2-40B4-BE49-F238E27FC236}">
                <a16:creationId xmlns:a16="http://schemas.microsoft.com/office/drawing/2014/main" id="{91C27E13-DFD1-EBF3-9ED4-F95A5240BD30}"/>
              </a:ext>
            </a:extLst>
          </p:cNvPr>
          <p:cNvSpPr/>
          <p:nvPr/>
        </p:nvSpPr>
        <p:spPr>
          <a:xfrm>
            <a:off x="4717859" y="4120251"/>
            <a:ext cx="4206240" cy="960120"/>
          </a:xfrm>
          <a:prstGeom prst="rect">
            <a:avLst/>
          </a:prstGeom>
          <a:solidFill>
            <a:srgbClr val="FFFFFF"/>
          </a:solidFill>
          <a:ln w="12700">
            <a:solidFill>
              <a:srgbClr val="D5D8DC"/>
            </a:solidFill>
            <a:prstDash val="solid"/>
          </a:ln>
          <a:effectLst>
            <a:outerShdw blurRad="101600" dist="38100" dir="8100000" algn="bl" rotWithShape="0">
              <a:srgbClr val="000000">
                <a:alpha val="18000"/>
              </a:srgbClr>
            </a:outerShdw>
          </a:effectLst>
        </p:spPr>
        <p:txBody>
          <a:bodyPr/>
          <a:lstStyle/>
          <a:p>
            <a:endParaRPr lang="en-US" dirty="0"/>
          </a:p>
        </p:txBody>
      </p:sp>
      <p:sp>
        <p:nvSpPr>
          <p:cNvPr id="19" name="Shape 29">
            <a:extLst>
              <a:ext uri="{FF2B5EF4-FFF2-40B4-BE49-F238E27FC236}">
                <a16:creationId xmlns:a16="http://schemas.microsoft.com/office/drawing/2014/main" id="{515F9121-990C-238F-771C-773028E7F1B0}"/>
              </a:ext>
            </a:extLst>
          </p:cNvPr>
          <p:cNvSpPr/>
          <p:nvPr/>
        </p:nvSpPr>
        <p:spPr>
          <a:xfrm>
            <a:off x="4724407" y="4116971"/>
            <a:ext cx="502920" cy="960120"/>
          </a:xfrm>
          <a:prstGeom prst="rect">
            <a:avLst/>
          </a:prstGeom>
          <a:solidFill>
            <a:srgbClr val="2E86C1"/>
          </a:solidFill>
          <a:ln w="12700">
            <a:solidFill>
              <a:srgbClr val="2E86C1"/>
            </a:solidFill>
            <a:prstDash val="solid"/>
          </a:ln>
        </p:spPr>
        <p:txBody>
          <a:bodyPr/>
          <a:lstStyle/>
          <a:p>
            <a:endParaRPr lang="en-US"/>
          </a:p>
        </p:txBody>
      </p:sp>
      <p:sp>
        <p:nvSpPr>
          <p:cNvPr id="24" name="Text 35">
            <a:extLst>
              <a:ext uri="{FF2B5EF4-FFF2-40B4-BE49-F238E27FC236}">
                <a16:creationId xmlns:a16="http://schemas.microsoft.com/office/drawing/2014/main" id="{34E9A52B-9A7C-1D78-37AC-130838068A2D}"/>
              </a:ext>
            </a:extLst>
          </p:cNvPr>
          <p:cNvSpPr/>
          <p:nvPr/>
        </p:nvSpPr>
        <p:spPr>
          <a:xfrm>
            <a:off x="4730916" y="4296580"/>
            <a:ext cx="484632"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08</a:t>
            </a:r>
            <a:endParaRPr lang="en-US" sz="2200" dirty="0"/>
          </a:p>
        </p:txBody>
      </p:sp>
      <p:sp>
        <p:nvSpPr>
          <p:cNvPr id="29" name="Text 36">
            <a:extLst>
              <a:ext uri="{FF2B5EF4-FFF2-40B4-BE49-F238E27FC236}">
                <a16:creationId xmlns:a16="http://schemas.microsoft.com/office/drawing/2014/main" id="{B3660FFA-05E3-F69B-80AA-AA258B702FD1}"/>
              </a:ext>
            </a:extLst>
          </p:cNvPr>
          <p:cNvSpPr/>
          <p:nvPr/>
        </p:nvSpPr>
        <p:spPr>
          <a:xfrm>
            <a:off x="5292632" y="4299856"/>
            <a:ext cx="3108960" cy="502920"/>
          </a:xfrm>
          <a:prstGeom prst="rect">
            <a:avLst/>
          </a:prstGeom>
          <a:noFill/>
          <a:ln/>
        </p:spPr>
        <p:txBody>
          <a:bodyPr wrap="square" rtlCol="0" anchor="ctr"/>
          <a:lstStyle/>
          <a:p>
            <a:pPr marL="0" indent="0">
              <a:buNone/>
            </a:pPr>
            <a:r>
              <a:rPr lang="en-US" sz="1300" b="1" dirty="0"/>
              <a:t>Problems faced and Future Developments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4F72"/>
        </a:solidFill>
        <a:effectLst/>
      </p:bgPr>
    </p:bg>
    <p:spTree>
      <p:nvGrpSpPr>
        <p:cNvPr id="1" name=""/>
        <p:cNvGrpSpPr/>
        <p:nvPr/>
      </p:nvGrpSpPr>
      <p:grpSpPr>
        <a:xfrm>
          <a:off x="0" y="0"/>
          <a:ext cx="0" cy="0"/>
          <a:chOff x="0" y="0"/>
          <a:chExt cx="0" cy="0"/>
        </a:xfrm>
      </p:grpSpPr>
      <p:sp>
        <p:nvSpPr>
          <p:cNvPr id="2" name="Shape 0"/>
          <p:cNvSpPr/>
          <p:nvPr/>
        </p:nvSpPr>
        <p:spPr>
          <a:xfrm>
            <a:off x="0" y="2011680"/>
            <a:ext cx="9144000" cy="1188720"/>
          </a:xfrm>
          <a:prstGeom prst="rect">
            <a:avLst/>
          </a:prstGeom>
          <a:solidFill>
            <a:srgbClr val="2E86C1"/>
          </a:solidFill>
          <a:ln w="12700">
            <a:solidFill>
              <a:srgbClr val="2E86C1"/>
            </a:solidFill>
            <a:prstDash val="solid"/>
          </a:ln>
        </p:spPr>
        <p:txBody>
          <a:bodyPr/>
          <a:lstStyle/>
          <a:p>
            <a:endParaRPr lang="en-US"/>
          </a:p>
        </p:txBody>
      </p:sp>
      <p:sp>
        <p:nvSpPr>
          <p:cNvPr id="3" name="Text 1"/>
          <p:cNvSpPr/>
          <p:nvPr/>
        </p:nvSpPr>
        <p:spPr>
          <a:xfrm>
            <a:off x="365760" y="548640"/>
            <a:ext cx="1828800" cy="1463040"/>
          </a:xfrm>
          <a:prstGeom prst="rect">
            <a:avLst/>
          </a:prstGeom>
          <a:noFill/>
          <a:ln/>
        </p:spPr>
        <p:txBody>
          <a:bodyPr wrap="square" rtlCol="0" anchor="ctr"/>
          <a:lstStyle/>
          <a:p>
            <a:pPr marL="0" indent="0" algn="l">
              <a:buNone/>
            </a:pPr>
            <a:r>
              <a:rPr lang="en-US" sz="8000" b="1" dirty="0">
                <a:solidFill>
                  <a:srgbClr val="AED6F1"/>
                </a:solidFill>
                <a:latin typeface="Calibri" pitchFamily="34" charset="0"/>
                <a:ea typeface="Calibri" pitchFamily="34" charset="-122"/>
                <a:cs typeface="Calibri" pitchFamily="34" charset="-120"/>
              </a:rPr>
              <a:t>01</a:t>
            </a:r>
            <a:endParaRPr lang="en-US" sz="8000" dirty="0"/>
          </a:p>
        </p:txBody>
      </p:sp>
      <p:sp>
        <p:nvSpPr>
          <p:cNvPr id="4" name="Text 2"/>
          <p:cNvSpPr/>
          <p:nvPr/>
        </p:nvSpPr>
        <p:spPr>
          <a:xfrm>
            <a:off x="365760" y="2103120"/>
            <a:ext cx="8412480" cy="1005840"/>
          </a:xfrm>
          <a:prstGeom prst="rect">
            <a:avLst/>
          </a:prstGeom>
          <a:noFill/>
          <a:ln/>
        </p:spPr>
        <p:txBody>
          <a:bodyPr wrap="square" rtlCol="0" anchor="ctr"/>
          <a:lstStyle/>
          <a:p>
            <a:pPr marL="0" indent="0" algn="l">
              <a:buNone/>
            </a:pPr>
            <a:r>
              <a:rPr lang="en-US" sz="3400" b="1" dirty="0">
                <a:solidFill>
                  <a:srgbClr val="FFFFFF"/>
                </a:solidFill>
                <a:latin typeface="Calibri" pitchFamily="34" charset="0"/>
                <a:ea typeface="Calibri" pitchFamily="34" charset="-122"/>
                <a:cs typeface="Calibri" pitchFamily="34" charset="-120"/>
              </a:rPr>
              <a:t>Task Overview &amp; Purpose</a:t>
            </a:r>
            <a:endParaRPr lang="en-US" sz="3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E86C1"/>
          </a:solidFill>
          <a:ln w="12700">
            <a:solidFill>
              <a:srgbClr val="2E86C1"/>
            </a:solidFill>
            <a:prstDash val="solid"/>
          </a:ln>
        </p:spPr>
        <p:txBody>
          <a:bodyPr/>
          <a:lstStyle/>
          <a:p>
            <a:endParaRPr lang="en-US"/>
          </a:p>
        </p:txBody>
      </p:sp>
      <p:sp>
        <p:nvSpPr>
          <p:cNvPr id="3" name="Shape 1"/>
          <p:cNvSpPr/>
          <p:nvPr/>
        </p:nvSpPr>
        <p:spPr>
          <a:xfrm>
            <a:off x="0" y="0"/>
            <a:ext cx="9144000" cy="713232"/>
          </a:xfrm>
          <a:prstGeom prst="rect">
            <a:avLst/>
          </a:prstGeom>
          <a:solidFill>
            <a:srgbClr val="0D1B2A"/>
          </a:solidFill>
          <a:ln w="12700">
            <a:solidFill>
              <a:srgbClr val="0D1B2A"/>
            </a:solidFill>
            <a:prstDash val="solid"/>
          </a:ln>
        </p:spPr>
        <p:txBody>
          <a:bodyPr/>
          <a:lstStyle/>
          <a:p>
            <a:endParaRPr lang="en-US"/>
          </a:p>
        </p:txBody>
      </p:sp>
      <p:sp>
        <p:nvSpPr>
          <p:cNvPr id="4" name="Text 2"/>
          <p:cNvSpPr/>
          <p:nvPr/>
        </p:nvSpPr>
        <p:spPr>
          <a:xfrm>
            <a:off x="274320" y="73152"/>
            <a:ext cx="8595360"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What is the Task?</a:t>
            </a:r>
            <a:endParaRPr lang="en-US" sz="2200" dirty="0"/>
          </a:p>
        </p:txBody>
      </p:sp>
      <p:sp>
        <p:nvSpPr>
          <p:cNvPr id="5" name="Text 3"/>
          <p:cNvSpPr/>
          <p:nvPr/>
        </p:nvSpPr>
        <p:spPr>
          <a:xfrm>
            <a:off x="365760" y="914400"/>
            <a:ext cx="4572000" cy="2011680"/>
          </a:xfrm>
          <a:prstGeom prst="rect">
            <a:avLst/>
          </a:prstGeom>
          <a:noFill/>
          <a:ln/>
        </p:spPr>
        <p:txBody>
          <a:bodyPr wrap="square" rtlCol="0" anchor="ctr"/>
          <a:lstStyle/>
          <a:p>
            <a:pPr marL="342900" indent="-342900">
              <a:buSzPct val="100000"/>
              <a:buChar char="•"/>
            </a:pPr>
            <a:r>
              <a:rPr lang="en-US" sz="1400" b="1" dirty="0">
                <a:solidFill>
                  <a:srgbClr val="1A252F"/>
                </a:solidFill>
                <a:latin typeface="Calibri" pitchFamily="34" charset="0"/>
                <a:ea typeface="Calibri" pitchFamily="34" charset="-122"/>
                <a:cs typeface="Calibri" pitchFamily="34" charset="-120"/>
              </a:rPr>
              <a:t>Design and implement a 4-bit nanoprocessor in VHDL</a:t>
            </a:r>
            <a:endParaRPr lang="en-US" sz="1400" dirty="0"/>
          </a:p>
          <a:p>
            <a:pPr marL="342900" indent="-342900">
              <a:buSzPct val="100000"/>
              <a:buChar char="•"/>
            </a:pPr>
            <a:r>
              <a:rPr lang="en-US" sz="1400" dirty="0">
                <a:solidFill>
                  <a:srgbClr val="1A252F"/>
                </a:solidFill>
                <a:latin typeface="Calibri" pitchFamily="34" charset="0"/>
                <a:ea typeface="Calibri" pitchFamily="34" charset="-122"/>
                <a:cs typeface="Calibri" pitchFamily="34" charset="-120"/>
              </a:rPr>
              <a:t>Deploy and verify on Digilent BASYS3 (Artix-7 FPGA)</a:t>
            </a:r>
            <a:endParaRPr lang="en-US" sz="1400" dirty="0"/>
          </a:p>
          <a:p>
            <a:pPr marL="342900" indent="-342900">
              <a:buSzPct val="100000"/>
              <a:buChar char="•"/>
            </a:pPr>
            <a:r>
              <a:rPr lang="en-US" sz="1400" dirty="0">
                <a:solidFill>
                  <a:srgbClr val="1A252F"/>
                </a:solidFill>
                <a:latin typeface="Calibri" pitchFamily="34" charset="0"/>
                <a:ea typeface="Calibri" pitchFamily="34" charset="-122"/>
                <a:cs typeface="Calibri" pitchFamily="34" charset="-120"/>
              </a:rPr>
              <a:t>Execute a hardcoded program: calculate sum of 1 + 2 + 3</a:t>
            </a:r>
            <a:endParaRPr lang="en-US" sz="1400" dirty="0"/>
          </a:p>
          <a:p>
            <a:pPr marL="342900" indent="-342900">
              <a:buSzPct val="100000"/>
              <a:buChar char="•"/>
            </a:pPr>
            <a:r>
              <a:rPr lang="en-US" sz="1400" dirty="0">
                <a:solidFill>
                  <a:srgbClr val="1A252F"/>
                </a:solidFill>
                <a:latin typeface="Calibri" pitchFamily="34" charset="0"/>
                <a:ea typeface="Calibri" pitchFamily="34" charset="-122"/>
                <a:cs typeface="Calibri" pitchFamily="34" charset="-120"/>
              </a:rPr>
              <a:t>Store final answer in R7, display on LEDs and 7-segment display</a:t>
            </a:r>
            <a:endParaRPr lang="en-US" sz="1400" dirty="0"/>
          </a:p>
        </p:txBody>
      </p:sp>
      <p:sp>
        <p:nvSpPr>
          <p:cNvPr id="6" name="Shape 4"/>
          <p:cNvSpPr/>
          <p:nvPr/>
        </p:nvSpPr>
        <p:spPr>
          <a:xfrm>
            <a:off x="5212080" y="822960"/>
            <a:ext cx="3657600" cy="2377440"/>
          </a:xfrm>
          <a:prstGeom prst="rect">
            <a:avLst/>
          </a:prstGeom>
          <a:solidFill>
            <a:srgbClr val="0D1B2A"/>
          </a:solidFill>
          <a:ln w="12700">
            <a:solidFill>
              <a:srgbClr val="0D1B2A"/>
            </a:solidFill>
            <a:prstDash val="solid"/>
          </a:ln>
          <a:effectLst>
            <a:outerShdw blurRad="101600" dist="38100" dir="8100000" algn="bl" rotWithShape="0">
              <a:srgbClr val="000000">
                <a:alpha val="18000"/>
              </a:srgbClr>
            </a:outerShdw>
          </a:effectLst>
        </p:spPr>
        <p:txBody>
          <a:bodyPr/>
          <a:lstStyle/>
          <a:p>
            <a:endParaRPr lang="en-US"/>
          </a:p>
        </p:txBody>
      </p:sp>
      <p:sp>
        <p:nvSpPr>
          <p:cNvPr id="7" name="Text 5"/>
          <p:cNvSpPr/>
          <p:nvPr/>
        </p:nvSpPr>
        <p:spPr>
          <a:xfrm>
            <a:off x="5303520" y="914400"/>
            <a:ext cx="3474720" cy="365760"/>
          </a:xfrm>
          <a:prstGeom prst="rect">
            <a:avLst/>
          </a:prstGeom>
          <a:noFill/>
          <a:ln/>
        </p:spPr>
        <p:txBody>
          <a:bodyPr wrap="square" rtlCol="0" anchor="ctr"/>
          <a:lstStyle/>
          <a:p>
            <a:pPr marL="0" indent="0">
              <a:buNone/>
            </a:pPr>
            <a:r>
              <a:rPr lang="en-US" sz="1300" b="1" dirty="0">
                <a:solidFill>
                  <a:srgbClr val="AED6F1"/>
                </a:solidFill>
                <a:latin typeface="Courier New" pitchFamily="34" charset="0"/>
                <a:ea typeface="Courier New" pitchFamily="34" charset="-122"/>
                <a:cs typeface="Courier New" pitchFamily="34" charset="-120"/>
              </a:rPr>
              <a:t>Lab Task Program</a:t>
            </a:r>
            <a:endParaRPr lang="en-US" sz="1300" dirty="0"/>
          </a:p>
        </p:txBody>
      </p:sp>
      <p:sp>
        <p:nvSpPr>
          <p:cNvPr id="8" name="Text 6"/>
          <p:cNvSpPr/>
          <p:nvPr/>
        </p:nvSpPr>
        <p:spPr>
          <a:xfrm>
            <a:off x="5303520" y="1325880"/>
            <a:ext cx="3383280" cy="1737360"/>
          </a:xfrm>
          <a:prstGeom prst="rect">
            <a:avLst/>
          </a:prstGeom>
          <a:noFill/>
          <a:ln/>
        </p:spPr>
        <p:txBody>
          <a:bodyPr wrap="square" rtlCol="0" anchor="ctr"/>
          <a:lstStyle/>
          <a:p>
            <a:pPr marL="0" indent="0">
              <a:buNone/>
            </a:pPr>
            <a:r>
              <a:rPr lang="en-US" sz="1100" b="1" dirty="0">
                <a:solidFill>
                  <a:srgbClr val="2E86C1"/>
                </a:solidFill>
                <a:latin typeface="Courier New" pitchFamily="34" charset="0"/>
                <a:ea typeface="Courier New" pitchFamily="34" charset="-122"/>
                <a:cs typeface="Courier New" pitchFamily="34" charset="-120"/>
              </a:rPr>
              <a:t>MOVI R7, 1   -- R7 = 1</a:t>
            </a:r>
            <a:endParaRPr lang="en-US" sz="1100" dirty="0"/>
          </a:p>
          <a:p>
            <a:pPr marL="0" indent="0">
              <a:buNone/>
            </a:pPr>
            <a:r>
              <a:rPr lang="en-US" sz="1100" b="1" dirty="0">
                <a:solidFill>
                  <a:srgbClr val="2E86C1"/>
                </a:solidFill>
                <a:latin typeface="Courier New" pitchFamily="34" charset="0"/>
                <a:ea typeface="Courier New" pitchFamily="34" charset="-122"/>
                <a:cs typeface="Courier New" pitchFamily="34" charset="-120"/>
              </a:rPr>
              <a:t>MOVI R5, 2   -- R5 = 2</a:t>
            </a:r>
            <a:endParaRPr lang="en-US" sz="1100" dirty="0"/>
          </a:p>
          <a:p>
            <a:pPr marL="0" indent="0">
              <a:buNone/>
            </a:pPr>
            <a:r>
              <a:rPr lang="en-US" sz="1100" b="1" dirty="0">
                <a:solidFill>
                  <a:srgbClr val="2E86C1"/>
                </a:solidFill>
                <a:latin typeface="Courier New" pitchFamily="34" charset="0"/>
                <a:ea typeface="Courier New" pitchFamily="34" charset="-122"/>
                <a:cs typeface="Courier New" pitchFamily="34" charset="-120"/>
              </a:rPr>
              <a:t>MOVI R4, 3   -- R4 = 3</a:t>
            </a:r>
            <a:endParaRPr lang="en-US" sz="1100" dirty="0"/>
          </a:p>
          <a:p>
            <a:pPr marL="0" indent="0">
              <a:buNone/>
            </a:pPr>
            <a:r>
              <a:rPr lang="en-US" sz="1100" b="1" dirty="0">
                <a:solidFill>
                  <a:srgbClr val="2E86C1"/>
                </a:solidFill>
                <a:latin typeface="Courier New" pitchFamily="34" charset="0"/>
                <a:ea typeface="Courier New" pitchFamily="34" charset="-122"/>
                <a:cs typeface="Courier New" pitchFamily="34" charset="-120"/>
              </a:rPr>
              <a:t>ADD  R7, R5  -- R7 = 3</a:t>
            </a:r>
            <a:endParaRPr lang="en-US" sz="1100" dirty="0"/>
          </a:p>
          <a:p>
            <a:pPr marL="0" indent="0">
              <a:buNone/>
            </a:pPr>
            <a:r>
              <a:rPr lang="en-US" sz="1100" b="1" dirty="0">
                <a:solidFill>
                  <a:srgbClr val="2E86C1"/>
                </a:solidFill>
                <a:latin typeface="Courier New" pitchFamily="34" charset="0"/>
                <a:ea typeface="Courier New" pitchFamily="34" charset="-122"/>
                <a:cs typeface="Courier New" pitchFamily="34" charset="-120"/>
              </a:rPr>
              <a:t>ADD  R7, R4  -- R7 = 6  ✓</a:t>
            </a:r>
            <a:endParaRPr lang="en-US" sz="1100" dirty="0"/>
          </a:p>
        </p:txBody>
      </p:sp>
      <p:sp>
        <p:nvSpPr>
          <p:cNvPr id="9" name="Shape 7"/>
          <p:cNvSpPr/>
          <p:nvPr/>
        </p:nvSpPr>
        <p:spPr>
          <a:xfrm>
            <a:off x="365760" y="3063240"/>
            <a:ext cx="8412480" cy="1097280"/>
          </a:xfrm>
          <a:prstGeom prst="rect">
            <a:avLst/>
          </a:prstGeom>
          <a:solidFill>
            <a:srgbClr val="1E8449"/>
          </a:solidFill>
          <a:ln w="12700">
            <a:solidFill>
              <a:srgbClr val="1E8449"/>
            </a:solidFill>
            <a:prstDash val="solid"/>
          </a:ln>
          <a:effectLst>
            <a:outerShdw blurRad="101600" dist="38100" dir="8100000" algn="bl" rotWithShape="0">
              <a:srgbClr val="000000">
                <a:alpha val="18000"/>
              </a:srgbClr>
            </a:outerShdw>
          </a:effectLst>
        </p:spPr>
        <p:txBody>
          <a:bodyPr/>
          <a:lstStyle/>
          <a:p>
            <a:endParaRPr lang="en-US"/>
          </a:p>
        </p:txBody>
      </p:sp>
      <p:sp>
        <p:nvSpPr>
          <p:cNvPr id="10" name="Text 8"/>
          <p:cNvSpPr/>
          <p:nvPr/>
        </p:nvSpPr>
        <p:spPr>
          <a:xfrm>
            <a:off x="457200" y="3200400"/>
            <a:ext cx="4572000" cy="54864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Final Result: R7 = 6  (1+2+3 = 6)</a:t>
            </a:r>
            <a:endParaRPr lang="en-US" sz="2000" dirty="0"/>
          </a:p>
        </p:txBody>
      </p:sp>
      <p:sp>
        <p:nvSpPr>
          <p:cNvPr id="11" name="Text 9"/>
          <p:cNvSpPr/>
          <p:nvPr/>
        </p:nvSpPr>
        <p:spPr>
          <a:xfrm>
            <a:off x="4663440" y="3200400"/>
            <a:ext cx="3931920" cy="548640"/>
          </a:xfrm>
          <a:prstGeom prst="rect">
            <a:avLst/>
          </a:prstGeom>
          <a:noFill/>
          <a:ln/>
        </p:spPr>
        <p:txBody>
          <a:bodyPr wrap="square" rtlCol="0" anchor="ctr"/>
          <a:lstStyle/>
          <a:p>
            <a:pPr marL="0" indent="0">
              <a:buNone/>
            </a:pPr>
            <a:r>
              <a:rPr lang="en-US" sz="1400" dirty="0">
                <a:solidFill>
                  <a:srgbClr val="ABEBC6"/>
                </a:solidFill>
                <a:latin typeface="Calibri" pitchFamily="34" charset="0"/>
                <a:ea typeface="Calibri" pitchFamily="34" charset="-122"/>
                <a:cs typeface="Calibri" pitchFamily="34" charset="-120"/>
              </a:rPr>
              <a:t>Displayed on LD0–LD3 and 7-segment display</a:t>
            </a:r>
            <a:endParaRPr lang="en-US" sz="1400" dirty="0"/>
          </a:p>
        </p:txBody>
      </p:sp>
      <p:sp>
        <p:nvSpPr>
          <p:cNvPr id="12" name="Text 10"/>
          <p:cNvSpPr/>
          <p:nvPr/>
        </p:nvSpPr>
        <p:spPr>
          <a:xfrm>
            <a:off x="365760" y="4297680"/>
            <a:ext cx="8412480" cy="594360"/>
          </a:xfrm>
          <a:prstGeom prst="rect">
            <a:avLst/>
          </a:prstGeom>
          <a:noFill/>
          <a:ln/>
        </p:spPr>
        <p:txBody>
          <a:bodyPr wrap="square" rtlCol="0" anchor="ctr"/>
          <a:lstStyle/>
          <a:p>
            <a:pPr marL="0" indent="0">
              <a:buNone/>
            </a:pPr>
            <a:r>
              <a:rPr lang="en-US" sz="1200" i="1" dirty="0">
                <a:solidFill>
                  <a:srgbClr val="5D6D7E"/>
                </a:solidFill>
                <a:latin typeface="Calibri" pitchFamily="34" charset="0"/>
                <a:ea typeface="Calibri" pitchFamily="34" charset="-122"/>
                <a:cs typeface="Calibri" pitchFamily="34" charset="-120"/>
              </a:rPr>
              <a:t>Why? Understand how a CPU fetches, decodes and executes at the gate level — making abstract computer architecture completely visible.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4F72"/>
        </a:solidFill>
        <a:effectLst/>
      </p:bgPr>
    </p:bg>
    <p:spTree>
      <p:nvGrpSpPr>
        <p:cNvPr id="1" name=""/>
        <p:cNvGrpSpPr/>
        <p:nvPr/>
      </p:nvGrpSpPr>
      <p:grpSpPr>
        <a:xfrm>
          <a:off x="0" y="0"/>
          <a:ext cx="0" cy="0"/>
          <a:chOff x="0" y="0"/>
          <a:chExt cx="0" cy="0"/>
        </a:xfrm>
      </p:grpSpPr>
      <p:sp>
        <p:nvSpPr>
          <p:cNvPr id="2" name="Shape 0"/>
          <p:cNvSpPr/>
          <p:nvPr/>
        </p:nvSpPr>
        <p:spPr>
          <a:xfrm>
            <a:off x="0" y="2011680"/>
            <a:ext cx="9144000" cy="1188720"/>
          </a:xfrm>
          <a:prstGeom prst="rect">
            <a:avLst/>
          </a:prstGeom>
          <a:solidFill>
            <a:srgbClr val="2E86C1"/>
          </a:solidFill>
          <a:ln w="12700">
            <a:solidFill>
              <a:srgbClr val="2E86C1"/>
            </a:solidFill>
            <a:prstDash val="solid"/>
          </a:ln>
        </p:spPr>
        <p:txBody>
          <a:bodyPr/>
          <a:lstStyle/>
          <a:p>
            <a:endParaRPr lang="en-US"/>
          </a:p>
        </p:txBody>
      </p:sp>
      <p:sp>
        <p:nvSpPr>
          <p:cNvPr id="3" name="Text 1"/>
          <p:cNvSpPr/>
          <p:nvPr/>
        </p:nvSpPr>
        <p:spPr>
          <a:xfrm>
            <a:off x="365760" y="548640"/>
            <a:ext cx="1828800" cy="1463040"/>
          </a:xfrm>
          <a:prstGeom prst="rect">
            <a:avLst/>
          </a:prstGeom>
          <a:noFill/>
          <a:ln/>
        </p:spPr>
        <p:txBody>
          <a:bodyPr wrap="square" rtlCol="0" anchor="ctr"/>
          <a:lstStyle/>
          <a:p>
            <a:pPr marL="0" indent="0" algn="l">
              <a:buNone/>
            </a:pPr>
            <a:r>
              <a:rPr lang="en-US" sz="8000" b="1" dirty="0">
                <a:solidFill>
                  <a:srgbClr val="AED6F1"/>
                </a:solidFill>
                <a:latin typeface="Calibri" pitchFamily="34" charset="0"/>
                <a:ea typeface="Calibri" pitchFamily="34" charset="-122"/>
                <a:cs typeface="Calibri" pitchFamily="34" charset="-120"/>
              </a:rPr>
              <a:t>02</a:t>
            </a:r>
            <a:endParaRPr lang="en-US" sz="8000" dirty="0"/>
          </a:p>
        </p:txBody>
      </p:sp>
      <p:sp>
        <p:nvSpPr>
          <p:cNvPr id="4" name="Text 2"/>
          <p:cNvSpPr/>
          <p:nvPr/>
        </p:nvSpPr>
        <p:spPr>
          <a:xfrm>
            <a:off x="365760" y="2103120"/>
            <a:ext cx="8412480" cy="1005840"/>
          </a:xfrm>
          <a:prstGeom prst="rect">
            <a:avLst/>
          </a:prstGeom>
          <a:noFill/>
          <a:ln/>
        </p:spPr>
        <p:txBody>
          <a:bodyPr wrap="square" rtlCol="0" anchor="ctr"/>
          <a:lstStyle/>
          <a:p>
            <a:pPr marL="0" indent="0" algn="l">
              <a:buNone/>
            </a:pPr>
            <a:r>
              <a:rPr lang="en-US" sz="3400" b="1" dirty="0">
                <a:solidFill>
                  <a:srgbClr val="FFFFFF"/>
                </a:solidFill>
                <a:latin typeface="Calibri" pitchFamily="34" charset="0"/>
                <a:ea typeface="Calibri" pitchFamily="34" charset="-122"/>
                <a:cs typeface="Calibri" pitchFamily="34" charset="-120"/>
              </a:rPr>
              <a:t>Instruction Set Architecture</a:t>
            </a:r>
            <a:endParaRPr lang="en-US" sz="3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E86C1"/>
          </a:solidFill>
          <a:ln w="12700">
            <a:solidFill>
              <a:srgbClr val="2E86C1"/>
            </a:solidFill>
            <a:prstDash val="solid"/>
          </a:ln>
        </p:spPr>
        <p:txBody>
          <a:bodyPr/>
          <a:lstStyle/>
          <a:p>
            <a:endParaRPr lang="en-US"/>
          </a:p>
        </p:txBody>
      </p:sp>
      <p:sp>
        <p:nvSpPr>
          <p:cNvPr id="3" name="Shape 1"/>
          <p:cNvSpPr/>
          <p:nvPr/>
        </p:nvSpPr>
        <p:spPr>
          <a:xfrm>
            <a:off x="0" y="0"/>
            <a:ext cx="9144000" cy="713232"/>
          </a:xfrm>
          <a:prstGeom prst="rect">
            <a:avLst/>
          </a:prstGeom>
          <a:solidFill>
            <a:srgbClr val="0D1B2A"/>
          </a:solidFill>
          <a:ln w="12700">
            <a:solidFill>
              <a:srgbClr val="0D1B2A"/>
            </a:solidFill>
            <a:prstDash val="solid"/>
          </a:ln>
        </p:spPr>
        <p:txBody>
          <a:bodyPr/>
          <a:lstStyle/>
          <a:p>
            <a:endParaRPr lang="en-US"/>
          </a:p>
        </p:txBody>
      </p:sp>
      <p:sp>
        <p:nvSpPr>
          <p:cNvPr id="4" name="Text 2"/>
          <p:cNvSpPr/>
          <p:nvPr/>
        </p:nvSpPr>
        <p:spPr>
          <a:xfrm>
            <a:off x="274320" y="73152"/>
            <a:ext cx="8595360"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Instruction Set — 12-bit Word, 4 Instructions</a:t>
            </a:r>
            <a:endParaRPr lang="en-US" sz="2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74320" y="868680"/>
          <a:ext cx="8595360" cy="2377440"/>
        </p:xfrm>
        <a:graphic>
          <a:graphicData uri="http://schemas.openxmlformats.org/drawingml/2006/table">
            <a:tbl>
              <a:tblPr/>
              <a:tblGrid>
                <a:gridCol w="15544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tblGrid>
              <a:tr h="47548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Instruction</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2E86C1"/>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Opcode [11:10]</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2E86C1"/>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Format</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2E86C1"/>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Operation</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2E86C1"/>
                    </a:solidFill>
                  </a:tcPr>
                </a:tc>
                <a:extLst>
                  <a:ext uri="{0D108BD9-81ED-4DB2-BD59-A6C34878D82A}">
                    <a16:rowId xmlns:a16="http://schemas.microsoft.com/office/drawing/2014/main" val="10000"/>
                  </a:ext>
                </a:extLst>
              </a:tr>
              <a:tr h="475488">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MOVI  R, d</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10 RRR 000 dddd</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R ← d   (immediate load)</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ADD   Ra, Rb</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00</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00 RaRaRa RbRbRb 0000</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Ra ← Ra + Rb</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NEG   R</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01</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01 RRR 0000000</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R ← −R   (2's complement via 0−R)</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JZR   R, d</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11 RRR 0000 ddd</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If R=0 → PC←d  else  PC←PC+1</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Shape 3"/>
          <p:cNvSpPr/>
          <p:nvPr/>
        </p:nvSpPr>
        <p:spPr>
          <a:xfrm>
            <a:off x="274320" y="3383280"/>
            <a:ext cx="2560320" cy="1600200"/>
          </a:xfrm>
          <a:prstGeom prst="rect">
            <a:avLst/>
          </a:prstGeom>
          <a:solidFill>
            <a:srgbClr val="0D1B2A"/>
          </a:solidFill>
          <a:ln w="12700">
            <a:solidFill>
              <a:srgbClr val="0D1B2A"/>
            </a:solidFill>
            <a:prstDash val="solid"/>
          </a:ln>
          <a:effectLst>
            <a:outerShdw blurRad="101600" dist="38100" dir="8100000" algn="bl" rotWithShape="0">
              <a:srgbClr val="000000">
                <a:alpha val="18000"/>
              </a:srgbClr>
            </a:outerShdw>
          </a:effectLst>
        </p:spPr>
        <p:txBody>
          <a:bodyPr/>
          <a:lstStyle/>
          <a:p>
            <a:endParaRPr lang="en-US"/>
          </a:p>
        </p:txBody>
      </p:sp>
      <p:sp>
        <p:nvSpPr>
          <p:cNvPr id="5" name="Text 4"/>
          <p:cNvSpPr/>
          <p:nvPr/>
        </p:nvSpPr>
        <p:spPr>
          <a:xfrm>
            <a:off x="365760" y="3456432"/>
            <a:ext cx="2377440" cy="347472"/>
          </a:xfrm>
          <a:prstGeom prst="rect">
            <a:avLst/>
          </a:prstGeom>
          <a:noFill/>
          <a:ln/>
        </p:spPr>
        <p:txBody>
          <a:bodyPr wrap="square" rtlCol="0" anchor="ctr"/>
          <a:lstStyle/>
          <a:p>
            <a:pPr marL="0" indent="0">
              <a:buNone/>
            </a:pPr>
            <a:r>
              <a:rPr lang="en-US" sz="1300" b="1" dirty="0">
                <a:solidFill>
                  <a:srgbClr val="AED6F1"/>
                </a:solidFill>
                <a:latin typeface="Calibri" pitchFamily="34" charset="0"/>
                <a:ea typeface="Calibri" pitchFamily="34" charset="-122"/>
                <a:cs typeface="Calibri" pitchFamily="34" charset="-120"/>
              </a:rPr>
              <a:t>R0 = 0 always</a:t>
            </a:r>
            <a:endParaRPr lang="en-US" sz="1300" dirty="0"/>
          </a:p>
        </p:txBody>
      </p:sp>
      <p:sp>
        <p:nvSpPr>
          <p:cNvPr id="8" name="Text 5"/>
          <p:cNvSpPr/>
          <p:nvPr/>
        </p:nvSpPr>
        <p:spPr>
          <a:xfrm>
            <a:off x="365760" y="3822192"/>
            <a:ext cx="2377440" cy="1051560"/>
          </a:xfrm>
          <a:prstGeom prst="rect">
            <a:avLst/>
          </a:prstGeom>
          <a:noFill/>
          <a:ln/>
        </p:spPr>
        <p:txBody>
          <a:bodyPr wrap="square" rtlCol="0" anchor="ctr"/>
          <a:lstStyle/>
          <a:p>
            <a:pPr marL="0" indent="0">
              <a:buNone/>
            </a:pPr>
            <a:r>
              <a:rPr lang="en-US" sz="1100" dirty="0">
                <a:solidFill>
                  <a:srgbClr val="AED6F1"/>
                </a:solidFill>
                <a:latin typeface="Calibri" pitchFamily="34" charset="0"/>
                <a:ea typeface="Calibri" pitchFamily="34" charset="-122"/>
                <a:cs typeface="Calibri" pitchFamily="34" charset="-120"/>
              </a:rPr>
              <a:t>Hardwired zero register</a:t>
            </a:r>
            <a:endParaRPr lang="en-US" sz="1100" dirty="0"/>
          </a:p>
          <a:p>
            <a:pPr marL="0" indent="0">
              <a:buNone/>
            </a:pPr>
            <a:r>
              <a:rPr lang="en-US" sz="1100" dirty="0">
                <a:solidFill>
                  <a:srgbClr val="AED6F1"/>
                </a:solidFill>
                <a:latin typeface="Calibri" pitchFamily="34" charset="0"/>
                <a:ea typeface="Calibri" pitchFamily="34" charset="-122"/>
                <a:cs typeface="Calibri" pitchFamily="34" charset="-120"/>
              </a:rPr>
              <a:t>enables NEG without</a:t>
            </a:r>
            <a:endParaRPr lang="en-US" sz="1100" dirty="0"/>
          </a:p>
          <a:p>
            <a:pPr marL="0" indent="0">
              <a:buNone/>
            </a:pPr>
            <a:r>
              <a:rPr lang="en-US" sz="1100" dirty="0">
                <a:solidFill>
                  <a:srgbClr val="AED6F1"/>
                </a:solidFill>
                <a:latin typeface="Calibri" pitchFamily="34" charset="0"/>
                <a:ea typeface="Calibri" pitchFamily="34" charset="-122"/>
                <a:cs typeface="Calibri" pitchFamily="34" charset="-120"/>
              </a:rPr>
              <a:t>a separate negation circuit</a:t>
            </a:r>
            <a:endParaRPr lang="en-US" sz="1100" dirty="0"/>
          </a:p>
        </p:txBody>
      </p:sp>
      <p:sp>
        <p:nvSpPr>
          <p:cNvPr id="9" name="Shape 6"/>
          <p:cNvSpPr/>
          <p:nvPr/>
        </p:nvSpPr>
        <p:spPr>
          <a:xfrm>
            <a:off x="2971800" y="3383280"/>
            <a:ext cx="2560320" cy="1600200"/>
          </a:xfrm>
          <a:prstGeom prst="rect">
            <a:avLst/>
          </a:prstGeom>
          <a:solidFill>
            <a:srgbClr val="0D1B2A"/>
          </a:solidFill>
          <a:ln w="12700">
            <a:solidFill>
              <a:srgbClr val="0D1B2A"/>
            </a:solidFill>
            <a:prstDash val="solid"/>
          </a:ln>
          <a:effectLst>
            <a:outerShdw blurRad="101600" dist="38100" dir="8100000" algn="bl" rotWithShape="0">
              <a:srgbClr val="000000">
                <a:alpha val="18000"/>
              </a:srgbClr>
            </a:outerShdw>
          </a:effectLst>
        </p:spPr>
        <p:txBody>
          <a:bodyPr/>
          <a:lstStyle/>
          <a:p>
            <a:endParaRPr lang="en-US"/>
          </a:p>
        </p:txBody>
      </p:sp>
      <p:sp>
        <p:nvSpPr>
          <p:cNvPr id="10" name="Text 7"/>
          <p:cNvSpPr/>
          <p:nvPr/>
        </p:nvSpPr>
        <p:spPr>
          <a:xfrm>
            <a:off x="3063240" y="3456432"/>
            <a:ext cx="2377440" cy="347472"/>
          </a:xfrm>
          <a:prstGeom prst="rect">
            <a:avLst/>
          </a:prstGeom>
          <a:noFill/>
          <a:ln/>
        </p:spPr>
        <p:txBody>
          <a:bodyPr wrap="square" rtlCol="0" anchor="ctr"/>
          <a:lstStyle/>
          <a:p>
            <a:pPr marL="0" indent="0">
              <a:buNone/>
            </a:pPr>
            <a:r>
              <a:rPr lang="en-US" sz="1300" b="1" dirty="0">
                <a:solidFill>
                  <a:srgbClr val="AED6F1"/>
                </a:solidFill>
                <a:latin typeface="Calibri" pitchFamily="34" charset="0"/>
                <a:ea typeface="Calibri" pitchFamily="34" charset="-122"/>
                <a:cs typeface="Calibri" pitchFamily="34" charset="-120"/>
              </a:rPr>
              <a:t>No HALT</a:t>
            </a:r>
            <a:endParaRPr lang="en-US" sz="1300" dirty="0"/>
          </a:p>
        </p:txBody>
      </p:sp>
      <p:sp>
        <p:nvSpPr>
          <p:cNvPr id="11" name="Text 8"/>
          <p:cNvSpPr/>
          <p:nvPr/>
        </p:nvSpPr>
        <p:spPr>
          <a:xfrm>
            <a:off x="3063240" y="3822192"/>
            <a:ext cx="2377440" cy="1051560"/>
          </a:xfrm>
          <a:prstGeom prst="rect">
            <a:avLst/>
          </a:prstGeom>
          <a:noFill/>
          <a:ln/>
        </p:spPr>
        <p:txBody>
          <a:bodyPr wrap="square" rtlCol="0" anchor="ctr"/>
          <a:lstStyle/>
          <a:p>
            <a:pPr marL="0" indent="0">
              <a:buNone/>
            </a:pPr>
            <a:r>
              <a:rPr lang="en-US" sz="1100" dirty="0">
                <a:solidFill>
                  <a:srgbClr val="AED6F1"/>
                </a:solidFill>
                <a:latin typeface="Calibri" pitchFamily="34" charset="0"/>
                <a:ea typeface="Calibri" pitchFamily="34" charset="-122"/>
                <a:cs typeface="Calibri" pitchFamily="34" charset="-120"/>
              </a:rPr>
              <a:t>PC wraps after address 7</a:t>
            </a:r>
            <a:endParaRPr lang="en-US" sz="1100" dirty="0"/>
          </a:p>
          <a:p>
            <a:pPr marL="0" indent="0">
              <a:buNone/>
            </a:pPr>
            <a:r>
              <a:rPr lang="en-US" sz="1100" dirty="0">
                <a:solidFill>
                  <a:srgbClr val="AED6F1"/>
                </a:solidFill>
                <a:latin typeface="Calibri" pitchFamily="34" charset="0"/>
                <a:ea typeface="Calibri" pitchFamily="34" charset="-122"/>
                <a:cs typeface="Calibri" pitchFamily="34" charset="-120"/>
              </a:rPr>
              <a:t>Program loops continuously</a:t>
            </a:r>
            <a:endParaRPr lang="en-US" sz="1100" dirty="0"/>
          </a:p>
          <a:p>
            <a:pPr marL="0" indent="0">
              <a:buNone/>
            </a:pPr>
            <a:r>
              <a:rPr lang="en-US" sz="1100" dirty="0">
                <a:solidFill>
                  <a:srgbClr val="AED6F1"/>
                </a:solidFill>
                <a:latin typeface="Calibri" pitchFamily="34" charset="0"/>
                <a:ea typeface="Calibri" pitchFamily="34" charset="-122"/>
                <a:cs typeface="Calibri" pitchFamily="34" charset="-120"/>
              </a:rPr>
              <a:t>Reset button restarts it</a:t>
            </a:r>
            <a:endParaRPr lang="en-US" sz="1100" dirty="0"/>
          </a:p>
        </p:txBody>
      </p:sp>
      <p:sp>
        <p:nvSpPr>
          <p:cNvPr id="12" name="Shape 9"/>
          <p:cNvSpPr/>
          <p:nvPr/>
        </p:nvSpPr>
        <p:spPr>
          <a:xfrm>
            <a:off x="5669280" y="3383280"/>
            <a:ext cx="2560320" cy="1600200"/>
          </a:xfrm>
          <a:prstGeom prst="rect">
            <a:avLst/>
          </a:prstGeom>
          <a:solidFill>
            <a:srgbClr val="0D1B2A"/>
          </a:solidFill>
          <a:ln w="12700">
            <a:solidFill>
              <a:srgbClr val="0D1B2A"/>
            </a:solidFill>
            <a:prstDash val="solid"/>
          </a:ln>
          <a:effectLst>
            <a:outerShdw blurRad="101600" dist="38100" dir="8100000" algn="bl" rotWithShape="0">
              <a:srgbClr val="000000">
                <a:alpha val="18000"/>
              </a:srgbClr>
            </a:outerShdw>
          </a:effectLst>
        </p:spPr>
        <p:txBody>
          <a:bodyPr/>
          <a:lstStyle/>
          <a:p>
            <a:endParaRPr lang="en-US"/>
          </a:p>
        </p:txBody>
      </p:sp>
      <p:sp>
        <p:nvSpPr>
          <p:cNvPr id="13" name="Text 10"/>
          <p:cNvSpPr/>
          <p:nvPr/>
        </p:nvSpPr>
        <p:spPr>
          <a:xfrm>
            <a:off x="5760720" y="3456432"/>
            <a:ext cx="2377440" cy="347472"/>
          </a:xfrm>
          <a:prstGeom prst="rect">
            <a:avLst/>
          </a:prstGeom>
          <a:noFill/>
          <a:ln/>
        </p:spPr>
        <p:txBody>
          <a:bodyPr wrap="square" rtlCol="0" anchor="ctr"/>
          <a:lstStyle/>
          <a:p>
            <a:pPr marL="0" indent="0">
              <a:buNone/>
            </a:pPr>
            <a:r>
              <a:rPr lang="en-US" sz="1300" b="1" dirty="0">
                <a:solidFill>
                  <a:srgbClr val="AED6F1"/>
                </a:solidFill>
                <a:latin typeface="Calibri" pitchFamily="34" charset="0"/>
                <a:ea typeface="Calibri" pitchFamily="34" charset="-122"/>
                <a:cs typeface="Calibri" pitchFamily="34" charset="-120"/>
              </a:rPr>
              <a:t>JZR R0, addr</a:t>
            </a:r>
            <a:endParaRPr lang="en-US" sz="1300" dirty="0"/>
          </a:p>
        </p:txBody>
      </p:sp>
      <p:sp>
        <p:nvSpPr>
          <p:cNvPr id="14" name="Text 11"/>
          <p:cNvSpPr/>
          <p:nvPr/>
        </p:nvSpPr>
        <p:spPr>
          <a:xfrm>
            <a:off x="5760720" y="3822192"/>
            <a:ext cx="2377440" cy="1051560"/>
          </a:xfrm>
          <a:prstGeom prst="rect">
            <a:avLst/>
          </a:prstGeom>
          <a:noFill/>
          <a:ln/>
        </p:spPr>
        <p:txBody>
          <a:bodyPr wrap="square" rtlCol="0" anchor="ctr"/>
          <a:lstStyle/>
          <a:p>
            <a:pPr marL="0" indent="0">
              <a:buNone/>
            </a:pPr>
            <a:r>
              <a:rPr lang="en-US" sz="1100" dirty="0">
                <a:solidFill>
                  <a:srgbClr val="AED6F1"/>
                </a:solidFill>
                <a:latin typeface="Calibri" pitchFamily="34" charset="0"/>
                <a:ea typeface="Calibri" pitchFamily="34" charset="-122"/>
                <a:cs typeface="Calibri" pitchFamily="34" charset="-120"/>
              </a:rPr>
              <a:t>Since R0=0 always</a:t>
            </a:r>
            <a:endParaRPr lang="en-US" sz="1100" dirty="0"/>
          </a:p>
          <a:p>
            <a:pPr marL="0" indent="0">
              <a:buNone/>
            </a:pPr>
            <a:r>
              <a:rPr lang="en-US" sz="1100" dirty="0">
                <a:solidFill>
                  <a:srgbClr val="AED6F1"/>
                </a:solidFill>
                <a:latin typeface="Calibri" pitchFamily="34" charset="0"/>
                <a:ea typeface="Calibri" pitchFamily="34" charset="-122"/>
                <a:cs typeface="Calibri" pitchFamily="34" charset="-120"/>
              </a:rPr>
              <a:t>this acts as unconditional</a:t>
            </a:r>
            <a:endParaRPr lang="en-US" sz="1100" dirty="0"/>
          </a:p>
          <a:p>
            <a:pPr marL="0" indent="0">
              <a:buNone/>
            </a:pPr>
            <a:r>
              <a:rPr lang="en-US" sz="1100" dirty="0">
                <a:solidFill>
                  <a:srgbClr val="AED6F1"/>
                </a:solidFill>
                <a:latin typeface="Calibri" pitchFamily="34" charset="0"/>
                <a:ea typeface="Calibri" pitchFamily="34" charset="-122"/>
                <a:cs typeface="Calibri" pitchFamily="34" charset="-120"/>
              </a:rPr>
              <a:t>jump — built-in for free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4F72"/>
        </a:solidFill>
        <a:effectLst/>
      </p:bgPr>
    </p:bg>
    <p:spTree>
      <p:nvGrpSpPr>
        <p:cNvPr id="1" name=""/>
        <p:cNvGrpSpPr/>
        <p:nvPr/>
      </p:nvGrpSpPr>
      <p:grpSpPr>
        <a:xfrm>
          <a:off x="0" y="0"/>
          <a:ext cx="0" cy="0"/>
          <a:chOff x="0" y="0"/>
          <a:chExt cx="0" cy="0"/>
        </a:xfrm>
      </p:grpSpPr>
      <p:sp>
        <p:nvSpPr>
          <p:cNvPr id="2" name="Shape 0"/>
          <p:cNvSpPr/>
          <p:nvPr/>
        </p:nvSpPr>
        <p:spPr>
          <a:xfrm>
            <a:off x="0" y="2011680"/>
            <a:ext cx="9144000" cy="1188720"/>
          </a:xfrm>
          <a:prstGeom prst="rect">
            <a:avLst/>
          </a:prstGeom>
          <a:solidFill>
            <a:srgbClr val="2E86C1"/>
          </a:solidFill>
          <a:ln w="12700">
            <a:solidFill>
              <a:srgbClr val="2E86C1"/>
            </a:solidFill>
            <a:prstDash val="solid"/>
          </a:ln>
        </p:spPr>
        <p:txBody>
          <a:bodyPr/>
          <a:lstStyle/>
          <a:p>
            <a:endParaRPr lang="en-US"/>
          </a:p>
        </p:txBody>
      </p:sp>
      <p:sp>
        <p:nvSpPr>
          <p:cNvPr id="3" name="Text 1"/>
          <p:cNvSpPr/>
          <p:nvPr/>
        </p:nvSpPr>
        <p:spPr>
          <a:xfrm>
            <a:off x="365760" y="548640"/>
            <a:ext cx="1828800" cy="1463040"/>
          </a:xfrm>
          <a:prstGeom prst="rect">
            <a:avLst/>
          </a:prstGeom>
          <a:noFill/>
          <a:ln/>
        </p:spPr>
        <p:txBody>
          <a:bodyPr wrap="square" rtlCol="0" anchor="ctr"/>
          <a:lstStyle/>
          <a:p>
            <a:pPr marL="0" indent="0" algn="l">
              <a:buNone/>
            </a:pPr>
            <a:r>
              <a:rPr lang="en-US" sz="8000" b="1" dirty="0">
                <a:solidFill>
                  <a:srgbClr val="AED6F1"/>
                </a:solidFill>
                <a:latin typeface="Calibri" pitchFamily="34" charset="0"/>
                <a:ea typeface="Calibri" pitchFamily="34" charset="-122"/>
                <a:cs typeface="Calibri" pitchFamily="34" charset="-120"/>
              </a:rPr>
              <a:t>03</a:t>
            </a:r>
            <a:endParaRPr lang="en-US" sz="8000" dirty="0"/>
          </a:p>
        </p:txBody>
      </p:sp>
      <p:sp>
        <p:nvSpPr>
          <p:cNvPr id="4" name="Text 2"/>
          <p:cNvSpPr/>
          <p:nvPr/>
        </p:nvSpPr>
        <p:spPr>
          <a:xfrm>
            <a:off x="365760" y="2103120"/>
            <a:ext cx="8412480" cy="1005840"/>
          </a:xfrm>
          <a:prstGeom prst="rect">
            <a:avLst/>
          </a:prstGeom>
          <a:noFill/>
          <a:ln/>
        </p:spPr>
        <p:txBody>
          <a:bodyPr wrap="square" rtlCol="0" anchor="ctr"/>
          <a:lstStyle/>
          <a:p>
            <a:pPr marL="0" indent="0" algn="l">
              <a:buNone/>
            </a:pPr>
            <a:r>
              <a:rPr lang="en-US" sz="3400" b="1" dirty="0">
                <a:solidFill>
                  <a:srgbClr val="FFFFFF"/>
                </a:solidFill>
                <a:latin typeface="Calibri" pitchFamily="34" charset="0"/>
                <a:ea typeface="Calibri" pitchFamily="34" charset="-122"/>
                <a:cs typeface="Calibri" pitchFamily="34" charset="-120"/>
              </a:rPr>
              <a:t>Architecture &amp; Signal Flow</a:t>
            </a:r>
            <a:endParaRPr lang="en-US" sz="3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E86C1"/>
          </a:solidFill>
          <a:ln w="12700">
            <a:solidFill>
              <a:srgbClr val="2E86C1"/>
            </a:solidFill>
            <a:prstDash val="solid"/>
          </a:ln>
        </p:spPr>
        <p:txBody>
          <a:bodyPr/>
          <a:lstStyle/>
          <a:p>
            <a:endParaRPr lang="en-US"/>
          </a:p>
        </p:txBody>
      </p:sp>
      <p:sp>
        <p:nvSpPr>
          <p:cNvPr id="3" name="Shape 1"/>
          <p:cNvSpPr/>
          <p:nvPr/>
        </p:nvSpPr>
        <p:spPr>
          <a:xfrm>
            <a:off x="0" y="0"/>
            <a:ext cx="9144000" cy="713232"/>
          </a:xfrm>
          <a:prstGeom prst="rect">
            <a:avLst/>
          </a:prstGeom>
          <a:solidFill>
            <a:srgbClr val="0D1B2A"/>
          </a:solidFill>
          <a:ln w="12700">
            <a:solidFill>
              <a:srgbClr val="0D1B2A"/>
            </a:solidFill>
            <a:prstDash val="solid"/>
          </a:ln>
        </p:spPr>
        <p:txBody>
          <a:bodyPr/>
          <a:lstStyle/>
          <a:p>
            <a:endParaRPr lang="en-US"/>
          </a:p>
        </p:txBody>
      </p:sp>
      <p:sp>
        <p:nvSpPr>
          <p:cNvPr id="4" name="Text 2"/>
          <p:cNvSpPr/>
          <p:nvPr/>
        </p:nvSpPr>
        <p:spPr>
          <a:xfrm>
            <a:off x="274320" y="73152"/>
            <a:ext cx="8595360"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Fetch → Decode → Execute Cycle</a:t>
            </a:r>
            <a:endParaRPr lang="en-US" sz="2200" dirty="0"/>
          </a:p>
        </p:txBody>
      </p:sp>
      <p:sp>
        <p:nvSpPr>
          <p:cNvPr id="5" name="Shape 3"/>
          <p:cNvSpPr/>
          <p:nvPr/>
        </p:nvSpPr>
        <p:spPr>
          <a:xfrm>
            <a:off x="274320" y="896112"/>
            <a:ext cx="2011680" cy="475488"/>
          </a:xfrm>
          <a:prstGeom prst="rect">
            <a:avLst/>
          </a:prstGeom>
          <a:solidFill>
            <a:srgbClr val="2E86C1"/>
          </a:solidFill>
          <a:ln w="12700">
            <a:solidFill>
              <a:srgbClr val="2E86C1"/>
            </a:solidFill>
            <a:prstDash val="solid"/>
          </a:ln>
        </p:spPr>
        <p:txBody>
          <a:bodyPr/>
          <a:lstStyle/>
          <a:p>
            <a:endParaRPr lang="en-US"/>
          </a:p>
        </p:txBody>
      </p:sp>
      <p:sp>
        <p:nvSpPr>
          <p:cNvPr id="6" name="Text 4"/>
          <p:cNvSpPr/>
          <p:nvPr/>
        </p:nvSpPr>
        <p:spPr>
          <a:xfrm>
            <a:off x="320040" y="914400"/>
            <a:ext cx="1920240"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FETCH</a:t>
            </a:r>
            <a:endParaRPr lang="en-US" sz="1400" dirty="0"/>
          </a:p>
        </p:txBody>
      </p:sp>
      <p:sp>
        <p:nvSpPr>
          <p:cNvPr id="7" name="Shape 5"/>
          <p:cNvSpPr/>
          <p:nvPr/>
        </p:nvSpPr>
        <p:spPr>
          <a:xfrm>
            <a:off x="2286000" y="1133856"/>
            <a:ext cx="164592" cy="0"/>
          </a:xfrm>
          <a:prstGeom prst="line">
            <a:avLst/>
          </a:prstGeom>
          <a:noFill/>
          <a:ln w="25400">
            <a:solidFill>
              <a:srgbClr val="999999"/>
            </a:solidFill>
            <a:prstDash val="solid"/>
          </a:ln>
        </p:spPr>
        <p:txBody>
          <a:bodyPr/>
          <a:lstStyle/>
          <a:p>
            <a:endParaRPr lang="en-US"/>
          </a:p>
        </p:txBody>
      </p:sp>
      <p:sp>
        <p:nvSpPr>
          <p:cNvPr id="8" name="Shape 6"/>
          <p:cNvSpPr/>
          <p:nvPr/>
        </p:nvSpPr>
        <p:spPr>
          <a:xfrm>
            <a:off x="274320" y="1463040"/>
            <a:ext cx="2011680" cy="1371600"/>
          </a:xfrm>
          <a:prstGeom prst="rect">
            <a:avLst/>
          </a:prstGeom>
          <a:solidFill>
            <a:srgbClr val="FFFFFF"/>
          </a:solidFill>
          <a:ln w="12700">
            <a:solidFill>
              <a:srgbClr val="DDDDDD"/>
            </a:solidFill>
            <a:prstDash val="solid"/>
          </a:ln>
          <a:effectLst>
            <a:outerShdw blurRad="101600" dist="38100" dir="8100000" algn="bl" rotWithShape="0">
              <a:srgbClr val="000000">
                <a:alpha val="18000"/>
              </a:srgbClr>
            </a:outerShdw>
          </a:effectLst>
        </p:spPr>
        <p:txBody>
          <a:bodyPr/>
          <a:lstStyle/>
          <a:p>
            <a:endParaRPr lang="en-US"/>
          </a:p>
        </p:txBody>
      </p:sp>
      <p:sp>
        <p:nvSpPr>
          <p:cNvPr id="9" name="Shape 7"/>
          <p:cNvSpPr/>
          <p:nvPr/>
        </p:nvSpPr>
        <p:spPr>
          <a:xfrm>
            <a:off x="274320" y="1463040"/>
            <a:ext cx="2011680" cy="54864"/>
          </a:xfrm>
          <a:prstGeom prst="rect">
            <a:avLst/>
          </a:prstGeom>
          <a:solidFill>
            <a:srgbClr val="2E86C1"/>
          </a:solidFill>
          <a:ln w="12700">
            <a:solidFill>
              <a:srgbClr val="2E86C1"/>
            </a:solidFill>
            <a:prstDash val="solid"/>
          </a:ln>
        </p:spPr>
        <p:txBody>
          <a:bodyPr/>
          <a:lstStyle/>
          <a:p>
            <a:endParaRPr lang="en-US"/>
          </a:p>
        </p:txBody>
      </p:sp>
      <p:sp>
        <p:nvSpPr>
          <p:cNvPr id="10" name="Text 8"/>
          <p:cNvSpPr/>
          <p:nvPr/>
        </p:nvSpPr>
        <p:spPr>
          <a:xfrm>
            <a:off x="365760" y="1536192"/>
            <a:ext cx="1828800" cy="1234440"/>
          </a:xfrm>
          <a:prstGeom prst="rect">
            <a:avLst/>
          </a:prstGeom>
          <a:noFill/>
          <a:ln/>
        </p:spPr>
        <p:txBody>
          <a:bodyPr wrap="square" rtlCol="0" anchor="ctr"/>
          <a:lstStyle/>
          <a:p>
            <a:pPr marL="0" indent="0">
              <a:buNone/>
            </a:pPr>
            <a:r>
              <a:rPr lang="en-US" sz="1150" dirty="0">
                <a:solidFill>
                  <a:srgbClr val="1A252F"/>
                </a:solidFill>
                <a:latin typeface="Calibri" pitchFamily="34" charset="0"/>
                <a:ea typeface="Calibri" pitchFamily="34" charset="-122"/>
                <a:cs typeface="Calibri" pitchFamily="34" charset="-120"/>
              </a:rPr>
              <a:t>PC holds address → ROM outputs 12-bit instruction onto Ins_Bus</a:t>
            </a:r>
            <a:endParaRPr lang="en-US" sz="1150" dirty="0"/>
          </a:p>
        </p:txBody>
      </p:sp>
      <p:sp>
        <p:nvSpPr>
          <p:cNvPr id="11" name="Shape 9"/>
          <p:cNvSpPr/>
          <p:nvPr/>
        </p:nvSpPr>
        <p:spPr>
          <a:xfrm>
            <a:off x="2450592" y="896112"/>
            <a:ext cx="2011680" cy="475488"/>
          </a:xfrm>
          <a:prstGeom prst="rect">
            <a:avLst/>
          </a:prstGeom>
          <a:solidFill>
            <a:srgbClr val="1E8449"/>
          </a:solidFill>
          <a:ln w="12700">
            <a:solidFill>
              <a:srgbClr val="1E8449"/>
            </a:solidFill>
            <a:prstDash val="solid"/>
          </a:ln>
        </p:spPr>
        <p:txBody>
          <a:bodyPr/>
          <a:lstStyle/>
          <a:p>
            <a:endParaRPr lang="en-US"/>
          </a:p>
        </p:txBody>
      </p:sp>
      <p:sp>
        <p:nvSpPr>
          <p:cNvPr id="12" name="Text 10"/>
          <p:cNvSpPr/>
          <p:nvPr/>
        </p:nvSpPr>
        <p:spPr>
          <a:xfrm>
            <a:off x="2496312" y="914400"/>
            <a:ext cx="1920240"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DECODE</a:t>
            </a:r>
            <a:endParaRPr lang="en-US" sz="1400" dirty="0"/>
          </a:p>
        </p:txBody>
      </p:sp>
      <p:sp>
        <p:nvSpPr>
          <p:cNvPr id="13" name="Shape 11"/>
          <p:cNvSpPr/>
          <p:nvPr/>
        </p:nvSpPr>
        <p:spPr>
          <a:xfrm>
            <a:off x="4462272" y="1133856"/>
            <a:ext cx="164592" cy="0"/>
          </a:xfrm>
          <a:prstGeom prst="line">
            <a:avLst/>
          </a:prstGeom>
          <a:noFill/>
          <a:ln w="25400">
            <a:solidFill>
              <a:srgbClr val="999999"/>
            </a:solidFill>
            <a:prstDash val="solid"/>
          </a:ln>
        </p:spPr>
        <p:txBody>
          <a:bodyPr/>
          <a:lstStyle/>
          <a:p>
            <a:endParaRPr lang="en-US"/>
          </a:p>
        </p:txBody>
      </p:sp>
      <p:sp>
        <p:nvSpPr>
          <p:cNvPr id="14" name="Shape 12"/>
          <p:cNvSpPr/>
          <p:nvPr/>
        </p:nvSpPr>
        <p:spPr>
          <a:xfrm>
            <a:off x="2450592" y="1463040"/>
            <a:ext cx="2011680" cy="1371600"/>
          </a:xfrm>
          <a:prstGeom prst="rect">
            <a:avLst/>
          </a:prstGeom>
          <a:solidFill>
            <a:srgbClr val="FFFFFF"/>
          </a:solidFill>
          <a:ln w="12700">
            <a:solidFill>
              <a:srgbClr val="DDDDDD"/>
            </a:solidFill>
            <a:prstDash val="solid"/>
          </a:ln>
          <a:effectLst>
            <a:outerShdw blurRad="101600" dist="38100" dir="8100000" algn="bl" rotWithShape="0">
              <a:srgbClr val="000000">
                <a:alpha val="18000"/>
              </a:srgbClr>
            </a:outerShdw>
          </a:effectLst>
        </p:spPr>
        <p:txBody>
          <a:bodyPr/>
          <a:lstStyle/>
          <a:p>
            <a:endParaRPr lang="en-US"/>
          </a:p>
        </p:txBody>
      </p:sp>
      <p:sp>
        <p:nvSpPr>
          <p:cNvPr id="15" name="Shape 13"/>
          <p:cNvSpPr/>
          <p:nvPr/>
        </p:nvSpPr>
        <p:spPr>
          <a:xfrm>
            <a:off x="2450592" y="1463040"/>
            <a:ext cx="2011680" cy="54864"/>
          </a:xfrm>
          <a:prstGeom prst="rect">
            <a:avLst/>
          </a:prstGeom>
          <a:solidFill>
            <a:srgbClr val="1E8449"/>
          </a:solidFill>
          <a:ln w="12700">
            <a:solidFill>
              <a:srgbClr val="1E8449"/>
            </a:solidFill>
            <a:prstDash val="solid"/>
          </a:ln>
        </p:spPr>
        <p:txBody>
          <a:bodyPr/>
          <a:lstStyle/>
          <a:p>
            <a:endParaRPr lang="en-US"/>
          </a:p>
        </p:txBody>
      </p:sp>
      <p:sp>
        <p:nvSpPr>
          <p:cNvPr id="16" name="Text 14"/>
          <p:cNvSpPr/>
          <p:nvPr/>
        </p:nvSpPr>
        <p:spPr>
          <a:xfrm>
            <a:off x="2542032" y="1536192"/>
            <a:ext cx="1828800" cy="1234440"/>
          </a:xfrm>
          <a:prstGeom prst="rect">
            <a:avLst/>
          </a:prstGeom>
          <a:noFill/>
          <a:ln/>
        </p:spPr>
        <p:txBody>
          <a:bodyPr wrap="square" rtlCol="0" anchor="ctr"/>
          <a:lstStyle/>
          <a:p>
            <a:pPr marL="0" indent="0">
              <a:buNone/>
            </a:pPr>
            <a:r>
              <a:rPr lang="en-US" sz="1150" dirty="0">
                <a:solidFill>
                  <a:srgbClr val="1A252F"/>
                </a:solidFill>
                <a:latin typeface="Calibri" pitchFamily="34" charset="0"/>
                <a:ea typeface="Calibri" pitchFamily="34" charset="-122"/>
                <a:cs typeface="Calibri" pitchFamily="34" charset="-120"/>
              </a:rPr>
              <a:t>Instruction Decoder reads opcode[11:10] → generates all control signals</a:t>
            </a:r>
            <a:endParaRPr lang="en-US" sz="1150" dirty="0"/>
          </a:p>
        </p:txBody>
      </p:sp>
      <p:sp>
        <p:nvSpPr>
          <p:cNvPr id="17" name="Shape 15"/>
          <p:cNvSpPr/>
          <p:nvPr/>
        </p:nvSpPr>
        <p:spPr>
          <a:xfrm>
            <a:off x="4626864" y="896112"/>
            <a:ext cx="2011680" cy="475488"/>
          </a:xfrm>
          <a:prstGeom prst="rect">
            <a:avLst/>
          </a:prstGeom>
          <a:solidFill>
            <a:srgbClr val="D35400"/>
          </a:solidFill>
          <a:ln w="12700">
            <a:solidFill>
              <a:srgbClr val="D35400"/>
            </a:solidFill>
            <a:prstDash val="solid"/>
          </a:ln>
        </p:spPr>
        <p:txBody>
          <a:bodyPr/>
          <a:lstStyle/>
          <a:p>
            <a:endParaRPr lang="en-US"/>
          </a:p>
        </p:txBody>
      </p:sp>
      <p:sp>
        <p:nvSpPr>
          <p:cNvPr id="18" name="Text 16"/>
          <p:cNvSpPr/>
          <p:nvPr/>
        </p:nvSpPr>
        <p:spPr>
          <a:xfrm>
            <a:off x="4672584" y="914400"/>
            <a:ext cx="1920240"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EXECUTE</a:t>
            </a:r>
            <a:endParaRPr lang="en-US" sz="1400" dirty="0"/>
          </a:p>
        </p:txBody>
      </p:sp>
      <p:sp>
        <p:nvSpPr>
          <p:cNvPr id="19" name="Shape 17"/>
          <p:cNvSpPr/>
          <p:nvPr/>
        </p:nvSpPr>
        <p:spPr>
          <a:xfrm>
            <a:off x="6638544" y="1133856"/>
            <a:ext cx="164592" cy="0"/>
          </a:xfrm>
          <a:prstGeom prst="line">
            <a:avLst/>
          </a:prstGeom>
          <a:noFill/>
          <a:ln w="25400">
            <a:solidFill>
              <a:srgbClr val="999999"/>
            </a:solidFill>
            <a:prstDash val="solid"/>
          </a:ln>
        </p:spPr>
        <p:txBody>
          <a:bodyPr/>
          <a:lstStyle/>
          <a:p>
            <a:endParaRPr lang="en-US"/>
          </a:p>
        </p:txBody>
      </p:sp>
      <p:sp>
        <p:nvSpPr>
          <p:cNvPr id="20" name="Shape 18"/>
          <p:cNvSpPr/>
          <p:nvPr/>
        </p:nvSpPr>
        <p:spPr>
          <a:xfrm>
            <a:off x="4626864" y="1463040"/>
            <a:ext cx="2011680" cy="1371600"/>
          </a:xfrm>
          <a:prstGeom prst="rect">
            <a:avLst/>
          </a:prstGeom>
          <a:solidFill>
            <a:srgbClr val="FFFFFF"/>
          </a:solidFill>
          <a:ln w="12700">
            <a:solidFill>
              <a:srgbClr val="DDDDDD"/>
            </a:solidFill>
            <a:prstDash val="solid"/>
          </a:ln>
          <a:effectLst>
            <a:outerShdw blurRad="101600" dist="38100" dir="8100000" algn="bl" rotWithShape="0">
              <a:srgbClr val="000000">
                <a:alpha val="18000"/>
              </a:srgbClr>
            </a:outerShdw>
          </a:effectLst>
        </p:spPr>
        <p:txBody>
          <a:bodyPr/>
          <a:lstStyle/>
          <a:p>
            <a:endParaRPr lang="en-US"/>
          </a:p>
        </p:txBody>
      </p:sp>
      <p:sp>
        <p:nvSpPr>
          <p:cNvPr id="21" name="Shape 19"/>
          <p:cNvSpPr/>
          <p:nvPr/>
        </p:nvSpPr>
        <p:spPr>
          <a:xfrm>
            <a:off x="4626864" y="1463040"/>
            <a:ext cx="2011680" cy="54864"/>
          </a:xfrm>
          <a:prstGeom prst="rect">
            <a:avLst/>
          </a:prstGeom>
          <a:solidFill>
            <a:srgbClr val="D35400"/>
          </a:solidFill>
          <a:ln w="12700">
            <a:solidFill>
              <a:srgbClr val="D35400"/>
            </a:solidFill>
            <a:prstDash val="solid"/>
          </a:ln>
        </p:spPr>
        <p:txBody>
          <a:bodyPr/>
          <a:lstStyle/>
          <a:p>
            <a:endParaRPr lang="en-US"/>
          </a:p>
        </p:txBody>
      </p:sp>
      <p:sp>
        <p:nvSpPr>
          <p:cNvPr id="22" name="Text 20"/>
          <p:cNvSpPr/>
          <p:nvPr/>
        </p:nvSpPr>
        <p:spPr>
          <a:xfrm>
            <a:off x="4718304" y="1536192"/>
            <a:ext cx="1828800" cy="1234440"/>
          </a:xfrm>
          <a:prstGeom prst="rect">
            <a:avLst/>
          </a:prstGeom>
          <a:noFill/>
          <a:ln/>
        </p:spPr>
        <p:txBody>
          <a:bodyPr wrap="square" rtlCol="0" anchor="ctr"/>
          <a:lstStyle/>
          <a:p>
            <a:pPr marL="0" indent="0">
              <a:buNone/>
            </a:pPr>
            <a:r>
              <a:rPr lang="en-US" sz="1150" dirty="0">
                <a:solidFill>
                  <a:srgbClr val="1A252F"/>
                </a:solidFill>
                <a:latin typeface="Calibri" pitchFamily="34" charset="0"/>
                <a:ea typeface="Calibri" pitchFamily="34" charset="-122"/>
                <a:cs typeface="Calibri" pitchFamily="34" charset="-120"/>
              </a:rPr>
              <a:t>Datapath routes data through MUXes → ALU computes → register written</a:t>
            </a:r>
            <a:endParaRPr lang="en-US" sz="1150" dirty="0"/>
          </a:p>
        </p:txBody>
      </p:sp>
      <p:sp>
        <p:nvSpPr>
          <p:cNvPr id="23" name="Shape 21"/>
          <p:cNvSpPr/>
          <p:nvPr/>
        </p:nvSpPr>
        <p:spPr>
          <a:xfrm>
            <a:off x="6803136" y="896112"/>
            <a:ext cx="2011680" cy="475488"/>
          </a:xfrm>
          <a:prstGeom prst="rect">
            <a:avLst/>
          </a:prstGeom>
          <a:solidFill>
            <a:srgbClr val="6C3483"/>
          </a:solidFill>
          <a:ln w="12700">
            <a:solidFill>
              <a:srgbClr val="6C3483"/>
            </a:solidFill>
            <a:prstDash val="solid"/>
          </a:ln>
        </p:spPr>
        <p:txBody>
          <a:bodyPr/>
          <a:lstStyle/>
          <a:p>
            <a:endParaRPr lang="en-US"/>
          </a:p>
        </p:txBody>
      </p:sp>
      <p:sp>
        <p:nvSpPr>
          <p:cNvPr id="24" name="Text 22"/>
          <p:cNvSpPr/>
          <p:nvPr/>
        </p:nvSpPr>
        <p:spPr>
          <a:xfrm>
            <a:off x="6848856" y="914400"/>
            <a:ext cx="1920240"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PC UPDATE</a:t>
            </a:r>
            <a:endParaRPr lang="en-US" sz="1400" dirty="0"/>
          </a:p>
        </p:txBody>
      </p:sp>
      <p:sp>
        <p:nvSpPr>
          <p:cNvPr id="25" name="Shape 23"/>
          <p:cNvSpPr/>
          <p:nvPr/>
        </p:nvSpPr>
        <p:spPr>
          <a:xfrm>
            <a:off x="6803136" y="1463040"/>
            <a:ext cx="2011680" cy="1371600"/>
          </a:xfrm>
          <a:prstGeom prst="rect">
            <a:avLst/>
          </a:prstGeom>
          <a:solidFill>
            <a:srgbClr val="FFFFFF"/>
          </a:solidFill>
          <a:ln w="12700">
            <a:solidFill>
              <a:srgbClr val="DDDDDD"/>
            </a:solidFill>
            <a:prstDash val="solid"/>
          </a:ln>
          <a:effectLst>
            <a:outerShdw blurRad="101600" dist="38100" dir="8100000" algn="bl" rotWithShape="0">
              <a:srgbClr val="000000">
                <a:alpha val="18000"/>
              </a:srgbClr>
            </a:outerShdw>
          </a:effectLst>
        </p:spPr>
        <p:txBody>
          <a:bodyPr/>
          <a:lstStyle/>
          <a:p>
            <a:endParaRPr lang="en-US"/>
          </a:p>
        </p:txBody>
      </p:sp>
      <p:sp>
        <p:nvSpPr>
          <p:cNvPr id="26" name="Shape 24"/>
          <p:cNvSpPr/>
          <p:nvPr/>
        </p:nvSpPr>
        <p:spPr>
          <a:xfrm>
            <a:off x="6803136" y="1463040"/>
            <a:ext cx="2011680" cy="54864"/>
          </a:xfrm>
          <a:prstGeom prst="rect">
            <a:avLst/>
          </a:prstGeom>
          <a:solidFill>
            <a:srgbClr val="6C3483"/>
          </a:solidFill>
          <a:ln w="12700">
            <a:solidFill>
              <a:srgbClr val="6C3483"/>
            </a:solidFill>
            <a:prstDash val="solid"/>
          </a:ln>
        </p:spPr>
        <p:txBody>
          <a:bodyPr/>
          <a:lstStyle/>
          <a:p>
            <a:endParaRPr lang="en-US"/>
          </a:p>
        </p:txBody>
      </p:sp>
      <p:sp>
        <p:nvSpPr>
          <p:cNvPr id="27" name="Text 25"/>
          <p:cNvSpPr/>
          <p:nvPr/>
        </p:nvSpPr>
        <p:spPr>
          <a:xfrm>
            <a:off x="6894576" y="1536192"/>
            <a:ext cx="1828800" cy="1234440"/>
          </a:xfrm>
          <a:prstGeom prst="rect">
            <a:avLst/>
          </a:prstGeom>
          <a:noFill/>
          <a:ln/>
        </p:spPr>
        <p:txBody>
          <a:bodyPr wrap="square" rtlCol="0" anchor="ctr"/>
          <a:lstStyle/>
          <a:p>
            <a:pPr marL="0" indent="0">
              <a:buNone/>
            </a:pPr>
            <a:r>
              <a:rPr lang="en-US" sz="1150" dirty="0">
                <a:solidFill>
                  <a:srgbClr val="1A252F"/>
                </a:solidFill>
                <a:latin typeface="Calibri" pitchFamily="34" charset="0"/>
                <a:ea typeface="Calibri" pitchFamily="34" charset="-122"/>
                <a:cs typeface="Calibri" pitchFamily="34" charset="-120"/>
              </a:rPr>
              <a:t>3-bit Adder computes PC+1 → MUX selects PC+1 or jump address → PC loads</a:t>
            </a:r>
            <a:endParaRPr lang="en-US" sz="1150" dirty="0"/>
          </a:p>
        </p:txBody>
      </p:sp>
      <p:sp>
        <p:nvSpPr>
          <p:cNvPr id="28" name="Shape 26"/>
          <p:cNvSpPr/>
          <p:nvPr/>
        </p:nvSpPr>
        <p:spPr>
          <a:xfrm>
            <a:off x="274320" y="3017520"/>
            <a:ext cx="8595360" cy="1920240"/>
          </a:xfrm>
          <a:prstGeom prst="rect">
            <a:avLst/>
          </a:prstGeom>
          <a:solidFill>
            <a:srgbClr val="0D1B2A"/>
          </a:solidFill>
          <a:ln w="12700">
            <a:solidFill>
              <a:srgbClr val="0D1B2A"/>
            </a:solidFill>
            <a:prstDash val="solid"/>
          </a:ln>
          <a:effectLst>
            <a:outerShdw blurRad="101600" dist="38100" dir="8100000" algn="bl" rotWithShape="0">
              <a:srgbClr val="000000">
                <a:alpha val="18000"/>
              </a:srgbClr>
            </a:outerShdw>
          </a:effectLst>
        </p:spPr>
        <p:txBody>
          <a:bodyPr/>
          <a:lstStyle/>
          <a:p>
            <a:endParaRPr lang="en-US"/>
          </a:p>
        </p:txBody>
      </p:sp>
      <p:sp>
        <p:nvSpPr>
          <p:cNvPr id="29" name="Text 27"/>
          <p:cNvSpPr/>
          <p:nvPr/>
        </p:nvSpPr>
        <p:spPr>
          <a:xfrm>
            <a:off x="411480" y="3090672"/>
            <a:ext cx="8229600" cy="347472"/>
          </a:xfrm>
          <a:prstGeom prst="rect">
            <a:avLst/>
          </a:prstGeom>
          <a:noFill/>
          <a:ln/>
        </p:spPr>
        <p:txBody>
          <a:bodyPr wrap="square" rtlCol="0" anchor="ctr"/>
          <a:lstStyle/>
          <a:p>
            <a:pPr marL="0" indent="0">
              <a:buNone/>
            </a:pPr>
            <a:r>
              <a:rPr lang="en-US" sz="1300" b="1" dirty="0">
                <a:solidFill>
                  <a:srgbClr val="AED6F1"/>
                </a:solidFill>
                <a:latin typeface="Calibri" pitchFamily="34" charset="0"/>
                <a:ea typeface="Calibri" pitchFamily="34" charset="-122"/>
                <a:cs typeface="Calibri" pitchFamily="34" charset="-120"/>
              </a:rPr>
              <a:t>Traced Signal Flow — ADD R7, R5  (instruction: 001111010000)</a:t>
            </a:r>
            <a:endParaRPr lang="en-US" sz="1300" dirty="0"/>
          </a:p>
        </p:txBody>
      </p:sp>
      <p:sp>
        <p:nvSpPr>
          <p:cNvPr id="30" name="Text 28"/>
          <p:cNvSpPr/>
          <p:nvPr/>
        </p:nvSpPr>
        <p:spPr>
          <a:xfrm>
            <a:off x="411480" y="3474720"/>
            <a:ext cx="8229600" cy="1371600"/>
          </a:xfrm>
          <a:prstGeom prst="rect">
            <a:avLst/>
          </a:prstGeom>
          <a:noFill/>
          <a:ln/>
        </p:spPr>
        <p:txBody>
          <a:bodyPr wrap="square" rtlCol="0" anchor="ctr"/>
          <a:lstStyle/>
          <a:p>
            <a:pPr marL="0" indent="0">
              <a:buNone/>
            </a:pPr>
            <a:r>
              <a:rPr lang="en-US" sz="1100" b="1" dirty="0">
                <a:solidFill>
                  <a:srgbClr val="2E86C1"/>
                </a:solidFill>
                <a:latin typeface="Courier New" pitchFamily="34" charset="0"/>
                <a:ea typeface="Courier New" pitchFamily="34" charset="-122"/>
                <a:cs typeface="Courier New" pitchFamily="34" charset="-120"/>
              </a:rPr>
              <a:t>PC=011 → ROM → Ins_Bus=001111010000 → Decoder: opcode=00 (ADD)</a:t>
            </a:r>
            <a:endParaRPr lang="en-US" sz="1100" dirty="0"/>
          </a:p>
          <a:p>
            <a:pPr marL="0" indent="0">
              <a:buNone/>
            </a:pPr>
            <a:r>
              <a:rPr lang="en-US" sz="1100" b="1" dirty="0">
                <a:solidFill>
                  <a:srgbClr val="2E86C1"/>
                </a:solidFill>
                <a:latin typeface="Courier New" pitchFamily="34" charset="0"/>
                <a:ea typeface="Courier New" pitchFamily="34" charset="-122"/>
                <a:cs typeface="Courier New" pitchFamily="34" charset="-120"/>
              </a:rPr>
              <a:t>Reg_en=111  Reg_Sel_A=111(R7)  Reg_Sel_B=101(R5)  Load_sel=0  Add_Sub_Sel=0</a:t>
            </a:r>
            <a:endParaRPr lang="en-US" sz="1100" dirty="0"/>
          </a:p>
          <a:p>
            <a:pPr marL="0" indent="0">
              <a:buNone/>
            </a:pPr>
            <a:r>
              <a:rPr lang="en-US" sz="1100" b="1" dirty="0">
                <a:solidFill>
                  <a:srgbClr val="2E86C1"/>
                </a:solidFill>
                <a:latin typeface="Courier New" pitchFamily="34" charset="0"/>
                <a:ea typeface="Courier New" pitchFamily="34" charset="-122"/>
                <a:cs typeface="Courier New" pitchFamily="34" charset="-120"/>
              </a:rPr>
              <a:t>MuxA→R7=0001   MuxB→R5=0010   ALU: 0001+0010=0011   MUX4→0011→RegBank</a:t>
            </a:r>
            <a:endParaRPr lang="en-US" sz="1100" dirty="0"/>
          </a:p>
          <a:p>
            <a:pPr marL="0" indent="0">
              <a:buNone/>
            </a:pPr>
            <a:r>
              <a:rPr lang="en-US" sz="1100" b="1" dirty="0">
                <a:solidFill>
                  <a:srgbClr val="2E86C1"/>
                </a:solidFill>
                <a:latin typeface="Courier New" pitchFamily="34" charset="0"/>
                <a:ea typeface="Courier New" pitchFamily="34" charset="-122"/>
                <a:cs typeface="Courier New" pitchFamily="34" charset="-120"/>
              </a:rPr>
              <a:t>Adder3bit: 011+1=100   MUX3(Jump=0)→100   PC loads 100   Next: ADD R7,R4</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E86C1"/>
          </a:solidFill>
          <a:ln w="12700">
            <a:solidFill>
              <a:srgbClr val="2E86C1"/>
            </a:solidFill>
            <a:prstDash val="solid"/>
          </a:ln>
        </p:spPr>
        <p:txBody>
          <a:bodyPr/>
          <a:lstStyle/>
          <a:p>
            <a:endParaRPr lang="en-US"/>
          </a:p>
        </p:txBody>
      </p:sp>
      <p:sp>
        <p:nvSpPr>
          <p:cNvPr id="3" name="Shape 1"/>
          <p:cNvSpPr/>
          <p:nvPr/>
        </p:nvSpPr>
        <p:spPr>
          <a:xfrm>
            <a:off x="0" y="0"/>
            <a:ext cx="9144000" cy="713232"/>
          </a:xfrm>
          <a:prstGeom prst="rect">
            <a:avLst/>
          </a:prstGeom>
          <a:solidFill>
            <a:srgbClr val="0D1B2A"/>
          </a:solidFill>
          <a:ln w="12700">
            <a:solidFill>
              <a:srgbClr val="0D1B2A"/>
            </a:solidFill>
            <a:prstDash val="solid"/>
          </a:ln>
        </p:spPr>
        <p:txBody>
          <a:bodyPr/>
          <a:lstStyle/>
          <a:p>
            <a:endParaRPr lang="en-US"/>
          </a:p>
        </p:txBody>
      </p:sp>
      <p:sp>
        <p:nvSpPr>
          <p:cNvPr id="4" name="Text 2"/>
          <p:cNvSpPr/>
          <p:nvPr/>
        </p:nvSpPr>
        <p:spPr>
          <a:xfrm>
            <a:off x="274320" y="73152"/>
            <a:ext cx="8595360"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Bus Architecture — Simplifying Interconnects</a:t>
            </a:r>
            <a:endParaRPr lang="en-US" sz="2200" dirty="0"/>
          </a:p>
        </p:txBody>
      </p:sp>
      <p:sp>
        <p:nvSpPr>
          <p:cNvPr id="5" name="Text 3"/>
          <p:cNvSpPr/>
          <p:nvPr/>
        </p:nvSpPr>
        <p:spPr>
          <a:xfrm>
            <a:off x="274320" y="914400"/>
            <a:ext cx="4114800" cy="457200"/>
          </a:xfrm>
          <a:prstGeom prst="rect">
            <a:avLst/>
          </a:prstGeom>
          <a:noFill/>
          <a:ln/>
        </p:spPr>
        <p:txBody>
          <a:bodyPr wrap="square"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Three bus widths connect all components:</a:t>
            </a:r>
            <a:endParaRPr lang="en-US" sz="1400" dirty="0"/>
          </a:p>
        </p:txBody>
      </p:sp>
      <p:sp>
        <p:nvSpPr>
          <p:cNvPr id="6" name="Shape 4"/>
          <p:cNvSpPr/>
          <p:nvPr/>
        </p:nvSpPr>
        <p:spPr>
          <a:xfrm>
            <a:off x="274320" y="1417320"/>
            <a:ext cx="640080" cy="640080"/>
          </a:xfrm>
          <a:prstGeom prst="rect">
            <a:avLst/>
          </a:prstGeom>
          <a:solidFill>
            <a:srgbClr val="2E86C1"/>
          </a:solidFill>
          <a:ln w="12700">
            <a:solidFill>
              <a:srgbClr val="2E86C1"/>
            </a:solidFill>
            <a:prstDash val="solid"/>
          </a:ln>
        </p:spPr>
        <p:txBody>
          <a:bodyPr/>
          <a:lstStyle/>
          <a:p>
            <a:endParaRPr lang="en-US"/>
          </a:p>
        </p:txBody>
      </p:sp>
      <p:sp>
        <p:nvSpPr>
          <p:cNvPr id="7" name="Text 5"/>
          <p:cNvSpPr/>
          <p:nvPr/>
        </p:nvSpPr>
        <p:spPr>
          <a:xfrm>
            <a:off x="274320" y="1417320"/>
            <a:ext cx="640080" cy="6400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12-bit</a:t>
            </a:r>
            <a:endParaRPr lang="en-US" sz="1000" dirty="0"/>
          </a:p>
        </p:txBody>
      </p:sp>
      <p:sp>
        <p:nvSpPr>
          <p:cNvPr id="8" name="Shape 6"/>
          <p:cNvSpPr/>
          <p:nvPr/>
        </p:nvSpPr>
        <p:spPr>
          <a:xfrm>
            <a:off x="1005840" y="1508760"/>
            <a:ext cx="4114800" cy="457200"/>
          </a:xfrm>
          <a:prstGeom prst="rect">
            <a:avLst/>
          </a:prstGeom>
          <a:solidFill>
            <a:srgbClr val="FFFFFF"/>
          </a:solidFill>
          <a:ln w="12700">
            <a:solidFill>
              <a:srgbClr val="DDDDDD"/>
            </a:solidFill>
            <a:prstDash val="solid"/>
          </a:ln>
        </p:spPr>
        <p:txBody>
          <a:bodyPr/>
          <a:lstStyle/>
          <a:p>
            <a:endParaRPr lang="en-US"/>
          </a:p>
        </p:txBody>
      </p:sp>
      <p:sp>
        <p:nvSpPr>
          <p:cNvPr id="9" name="Text 7"/>
          <p:cNvSpPr/>
          <p:nvPr/>
        </p:nvSpPr>
        <p:spPr>
          <a:xfrm>
            <a:off x="1097280" y="1508760"/>
            <a:ext cx="4023360" cy="22860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Instruction Bus</a:t>
            </a:r>
            <a:endParaRPr lang="en-US" sz="1200" dirty="0"/>
          </a:p>
        </p:txBody>
      </p:sp>
      <p:sp>
        <p:nvSpPr>
          <p:cNvPr id="10" name="Text 8"/>
          <p:cNvSpPr/>
          <p:nvPr/>
        </p:nvSpPr>
        <p:spPr>
          <a:xfrm>
            <a:off x="1097280" y="1737360"/>
            <a:ext cx="4023360" cy="201168"/>
          </a:xfrm>
          <a:prstGeom prst="rect">
            <a:avLst/>
          </a:prstGeom>
          <a:noFill/>
          <a:ln/>
        </p:spPr>
        <p:txBody>
          <a:bodyPr wrap="square" lIns="0" tIns="0" rIns="0" bIns="0" rtlCol="0" anchor="ctr"/>
          <a:lstStyle/>
          <a:p>
            <a:pPr marL="0" indent="0">
              <a:buNone/>
            </a:pPr>
            <a:r>
              <a:rPr lang="en-US" sz="1000" dirty="0">
                <a:solidFill>
                  <a:srgbClr val="5D6D7E"/>
                </a:solidFill>
                <a:latin typeface="Calibri" pitchFamily="34" charset="0"/>
                <a:ea typeface="Calibri" pitchFamily="34" charset="-122"/>
                <a:cs typeface="Calibri" pitchFamily="34" charset="-120"/>
              </a:rPr>
              <a:t>Ins_Bus  —  ROM → Decoder</a:t>
            </a:r>
            <a:endParaRPr lang="en-US" sz="1000" dirty="0"/>
          </a:p>
        </p:txBody>
      </p:sp>
      <p:sp>
        <p:nvSpPr>
          <p:cNvPr id="11" name="Shape 9"/>
          <p:cNvSpPr/>
          <p:nvPr/>
        </p:nvSpPr>
        <p:spPr>
          <a:xfrm>
            <a:off x="274320" y="2286000"/>
            <a:ext cx="640080" cy="640080"/>
          </a:xfrm>
          <a:prstGeom prst="rect">
            <a:avLst/>
          </a:prstGeom>
          <a:solidFill>
            <a:srgbClr val="1E8449"/>
          </a:solidFill>
          <a:ln w="12700">
            <a:solidFill>
              <a:srgbClr val="1E8449"/>
            </a:solidFill>
            <a:prstDash val="solid"/>
          </a:ln>
        </p:spPr>
        <p:txBody>
          <a:bodyPr/>
          <a:lstStyle/>
          <a:p>
            <a:endParaRPr lang="en-US"/>
          </a:p>
        </p:txBody>
      </p:sp>
      <p:sp>
        <p:nvSpPr>
          <p:cNvPr id="12" name="Text 10"/>
          <p:cNvSpPr/>
          <p:nvPr/>
        </p:nvSpPr>
        <p:spPr>
          <a:xfrm>
            <a:off x="274320" y="2286000"/>
            <a:ext cx="640080" cy="6400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4-bit</a:t>
            </a:r>
            <a:endParaRPr lang="en-US" sz="1000" dirty="0"/>
          </a:p>
        </p:txBody>
      </p:sp>
      <p:sp>
        <p:nvSpPr>
          <p:cNvPr id="13" name="Shape 11"/>
          <p:cNvSpPr/>
          <p:nvPr/>
        </p:nvSpPr>
        <p:spPr>
          <a:xfrm>
            <a:off x="1005840" y="2377440"/>
            <a:ext cx="4114800" cy="457200"/>
          </a:xfrm>
          <a:prstGeom prst="rect">
            <a:avLst/>
          </a:prstGeom>
          <a:solidFill>
            <a:srgbClr val="FFFFFF"/>
          </a:solidFill>
          <a:ln w="12700">
            <a:solidFill>
              <a:srgbClr val="DDDDDD"/>
            </a:solidFill>
            <a:prstDash val="solid"/>
          </a:ln>
        </p:spPr>
        <p:txBody>
          <a:bodyPr/>
          <a:lstStyle/>
          <a:p>
            <a:endParaRPr lang="en-US"/>
          </a:p>
        </p:txBody>
      </p:sp>
      <p:sp>
        <p:nvSpPr>
          <p:cNvPr id="14" name="Text 12"/>
          <p:cNvSpPr/>
          <p:nvPr/>
        </p:nvSpPr>
        <p:spPr>
          <a:xfrm>
            <a:off x="1097280" y="2377440"/>
            <a:ext cx="4023360" cy="22860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Data Bus</a:t>
            </a:r>
            <a:endParaRPr lang="en-US" sz="1200" dirty="0"/>
          </a:p>
        </p:txBody>
      </p:sp>
      <p:sp>
        <p:nvSpPr>
          <p:cNvPr id="15" name="Text 13"/>
          <p:cNvSpPr/>
          <p:nvPr/>
        </p:nvSpPr>
        <p:spPr>
          <a:xfrm>
            <a:off x="1097280" y="2606040"/>
            <a:ext cx="4023360" cy="201168"/>
          </a:xfrm>
          <a:prstGeom prst="rect">
            <a:avLst/>
          </a:prstGeom>
          <a:noFill/>
          <a:ln/>
        </p:spPr>
        <p:txBody>
          <a:bodyPr wrap="square" lIns="0" tIns="0" rIns="0" bIns="0" rtlCol="0" anchor="ctr"/>
          <a:lstStyle/>
          <a:p>
            <a:pPr marL="0" indent="0">
              <a:buNone/>
            </a:pPr>
            <a:r>
              <a:rPr lang="en-US" sz="1000" dirty="0">
                <a:solidFill>
                  <a:srgbClr val="5D6D7E"/>
                </a:solidFill>
                <a:latin typeface="Calibri" pitchFamily="34" charset="0"/>
                <a:ea typeface="Calibri" pitchFamily="34" charset="-122"/>
                <a:cs typeface="Calibri" pitchFamily="34" charset="-120"/>
              </a:rPr>
              <a:t>Data_bus0..7  —  Reg Bank → MUXes → ALU → Reg Bank</a:t>
            </a:r>
            <a:endParaRPr lang="en-US" sz="1000" dirty="0"/>
          </a:p>
        </p:txBody>
      </p:sp>
      <p:sp>
        <p:nvSpPr>
          <p:cNvPr id="16" name="Shape 14"/>
          <p:cNvSpPr/>
          <p:nvPr/>
        </p:nvSpPr>
        <p:spPr>
          <a:xfrm>
            <a:off x="274320" y="3154680"/>
            <a:ext cx="640080" cy="640080"/>
          </a:xfrm>
          <a:prstGeom prst="rect">
            <a:avLst/>
          </a:prstGeom>
          <a:solidFill>
            <a:srgbClr val="D35400"/>
          </a:solidFill>
          <a:ln w="12700">
            <a:solidFill>
              <a:srgbClr val="D35400"/>
            </a:solidFill>
            <a:prstDash val="solid"/>
          </a:ln>
        </p:spPr>
        <p:txBody>
          <a:bodyPr/>
          <a:lstStyle/>
          <a:p>
            <a:endParaRPr lang="en-US"/>
          </a:p>
        </p:txBody>
      </p:sp>
      <p:sp>
        <p:nvSpPr>
          <p:cNvPr id="17" name="Text 15"/>
          <p:cNvSpPr/>
          <p:nvPr/>
        </p:nvSpPr>
        <p:spPr>
          <a:xfrm>
            <a:off x="274320" y="3154680"/>
            <a:ext cx="640080" cy="6400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3-bit</a:t>
            </a:r>
            <a:endParaRPr lang="en-US" sz="1000" dirty="0"/>
          </a:p>
        </p:txBody>
      </p:sp>
      <p:sp>
        <p:nvSpPr>
          <p:cNvPr id="18" name="Shape 16"/>
          <p:cNvSpPr/>
          <p:nvPr/>
        </p:nvSpPr>
        <p:spPr>
          <a:xfrm>
            <a:off x="1005840" y="3246120"/>
            <a:ext cx="4114800" cy="457200"/>
          </a:xfrm>
          <a:prstGeom prst="rect">
            <a:avLst/>
          </a:prstGeom>
          <a:solidFill>
            <a:srgbClr val="FFFFFF"/>
          </a:solidFill>
          <a:ln w="12700">
            <a:solidFill>
              <a:srgbClr val="DDDDDD"/>
            </a:solidFill>
            <a:prstDash val="solid"/>
          </a:ln>
        </p:spPr>
        <p:txBody>
          <a:bodyPr/>
          <a:lstStyle/>
          <a:p>
            <a:endParaRPr lang="en-US"/>
          </a:p>
        </p:txBody>
      </p:sp>
      <p:sp>
        <p:nvSpPr>
          <p:cNvPr id="19" name="Text 17"/>
          <p:cNvSpPr/>
          <p:nvPr/>
        </p:nvSpPr>
        <p:spPr>
          <a:xfrm>
            <a:off x="1097280" y="3246120"/>
            <a:ext cx="4023360" cy="22860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Address Bus</a:t>
            </a:r>
            <a:endParaRPr lang="en-US" sz="1200" dirty="0"/>
          </a:p>
        </p:txBody>
      </p:sp>
      <p:sp>
        <p:nvSpPr>
          <p:cNvPr id="20" name="Text 18"/>
          <p:cNvSpPr/>
          <p:nvPr/>
        </p:nvSpPr>
        <p:spPr>
          <a:xfrm>
            <a:off x="1097280" y="3474720"/>
            <a:ext cx="4023360" cy="201168"/>
          </a:xfrm>
          <a:prstGeom prst="rect">
            <a:avLst/>
          </a:prstGeom>
          <a:noFill/>
          <a:ln/>
        </p:spPr>
        <p:txBody>
          <a:bodyPr wrap="square" lIns="0" tIns="0" rIns="0" bIns="0" rtlCol="0" anchor="ctr"/>
          <a:lstStyle/>
          <a:p>
            <a:pPr marL="0" indent="0">
              <a:buNone/>
            </a:pPr>
            <a:r>
              <a:rPr lang="en-US" sz="1000" dirty="0">
                <a:solidFill>
                  <a:srgbClr val="5D6D7E"/>
                </a:solidFill>
                <a:latin typeface="Calibri" pitchFamily="34" charset="0"/>
                <a:ea typeface="Calibri" pitchFamily="34" charset="-122"/>
                <a:cs typeface="Calibri" pitchFamily="34" charset="-120"/>
              </a:rPr>
              <a:t>Mem_Bus  —  PC → ROM address</a:t>
            </a:r>
            <a:endParaRPr lang="en-US" sz="1000" dirty="0"/>
          </a:p>
        </p:txBody>
      </p:sp>
      <p:sp>
        <p:nvSpPr>
          <p:cNvPr id="21" name="Shape 19"/>
          <p:cNvSpPr/>
          <p:nvPr/>
        </p:nvSpPr>
        <p:spPr>
          <a:xfrm>
            <a:off x="274320" y="4023360"/>
            <a:ext cx="640080" cy="640080"/>
          </a:xfrm>
          <a:prstGeom prst="rect">
            <a:avLst/>
          </a:prstGeom>
          <a:solidFill>
            <a:srgbClr val="6C3483"/>
          </a:solidFill>
          <a:ln w="12700">
            <a:solidFill>
              <a:srgbClr val="6C3483"/>
            </a:solidFill>
            <a:prstDash val="solid"/>
          </a:ln>
        </p:spPr>
        <p:txBody>
          <a:bodyPr/>
          <a:lstStyle/>
          <a:p>
            <a:endParaRPr lang="en-US"/>
          </a:p>
        </p:txBody>
      </p:sp>
      <p:sp>
        <p:nvSpPr>
          <p:cNvPr id="22" name="Text 20"/>
          <p:cNvSpPr/>
          <p:nvPr/>
        </p:nvSpPr>
        <p:spPr>
          <a:xfrm>
            <a:off x="274320" y="4023360"/>
            <a:ext cx="640080" cy="6400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3-bit</a:t>
            </a:r>
            <a:endParaRPr lang="en-US" sz="1000" dirty="0"/>
          </a:p>
        </p:txBody>
      </p:sp>
      <p:sp>
        <p:nvSpPr>
          <p:cNvPr id="23" name="Shape 21"/>
          <p:cNvSpPr/>
          <p:nvPr/>
        </p:nvSpPr>
        <p:spPr>
          <a:xfrm>
            <a:off x="1005840" y="4114800"/>
            <a:ext cx="4114800" cy="457200"/>
          </a:xfrm>
          <a:prstGeom prst="rect">
            <a:avLst/>
          </a:prstGeom>
          <a:solidFill>
            <a:srgbClr val="FFFFFF"/>
          </a:solidFill>
          <a:ln w="12700">
            <a:solidFill>
              <a:srgbClr val="DDDDDD"/>
            </a:solidFill>
            <a:prstDash val="solid"/>
          </a:ln>
        </p:spPr>
        <p:txBody>
          <a:bodyPr/>
          <a:lstStyle/>
          <a:p>
            <a:endParaRPr lang="en-US"/>
          </a:p>
        </p:txBody>
      </p:sp>
      <p:sp>
        <p:nvSpPr>
          <p:cNvPr id="24" name="Text 22"/>
          <p:cNvSpPr/>
          <p:nvPr/>
        </p:nvSpPr>
        <p:spPr>
          <a:xfrm>
            <a:off x="1097280" y="4114800"/>
            <a:ext cx="4023360" cy="22860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PC Next Bus</a:t>
            </a:r>
            <a:endParaRPr lang="en-US" sz="1200" dirty="0"/>
          </a:p>
        </p:txBody>
      </p:sp>
      <p:sp>
        <p:nvSpPr>
          <p:cNvPr id="25" name="Text 23"/>
          <p:cNvSpPr/>
          <p:nvPr/>
        </p:nvSpPr>
        <p:spPr>
          <a:xfrm>
            <a:off x="1097280" y="4343400"/>
            <a:ext cx="4023360" cy="201168"/>
          </a:xfrm>
          <a:prstGeom prst="rect">
            <a:avLst/>
          </a:prstGeom>
          <a:noFill/>
          <a:ln/>
        </p:spPr>
        <p:txBody>
          <a:bodyPr wrap="square" lIns="0" tIns="0" rIns="0" bIns="0" rtlCol="0" anchor="ctr"/>
          <a:lstStyle/>
          <a:p>
            <a:pPr marL="0" indent="0">
              <a:buNone/>
            </a:pPr>
            <a:r>
              <a:rPr lang="en-US" sz="1000" dirty="0">
                <a:solidFill>
                  <a:srgbClr val="5D6D7E"/>
                </a:solidFill>
                <a:latin typeface="Calibri" pitchFamily="34" charset="0"/>
                <a:ea typeface="Calibri" pitchFamily="34" charset="-122"/>
                <a:cs typeface="Calibri" pitchFamily="34" charset="-120"/>
              </a:rPr>
              <a:t>Count_Mux_to_PC  —  MUX_3 → Program Counter D</a:t>
            </a:r>
            <a:endParaRPr lang="en-US" sz="1000" dirty="0"/>
          </a:p>
        </p:txBody>
      </p:sp>
      <p:sp>
        <p:nvSpPr>
          <p:cNvPr id="26" name="Shape 24"/>
          <p:cNvSpPr/>
          <p:nvPr/>
        </p:nvSpPr>
        <p:spPr>
          <a:xfrm>
            <a:off x="5303520" y="1874520"/>
            <a:ext cx="3566160" cy="2240280"/>
          </a:xfrm>
          <a:prstGeom prst="rect">
            <a:avLst/>
          </a:prstGeom>
          <a:solidFill>
            <a:schemeClr val="accent1"/>
          </a:solidFill>
          <a:ln w="12700">
            <a:solidFill>
              <a:srgbClr val="1B4F72"/>
            </a:solidFill>
            <a:prstDash val="solid"/>
          </a:ln>
          <a:effectLst>
            <a:outerShdw blurRad="101600" dist="38100" dir="8100000" algn="bl" rotWithShape="0">
              <a:srgbClr val="000000">
                <a:alpha val="18000"/>
              </a:srgbClr>
            </a:outerShdw>
          </a:effectLst>
        </p:spPr>
        <p:txBody>
          <a:bodyPr/>
          <a:lstStyle/>
          <a:p>
            <a:endParaRPr lang="en-US"/>
          </a:p>
        </p:txBody>
      </p:sp>
      <p:sp>
        <p:nvSpPr>
          <p:cNvPr id="27" name="Text 25"/>
          <p:cNvSpPr/>
          <p:nvPr/>
        </p:nvSpPr>
        <p:spPr>
          <a:xfrm>
            <a:off x="5440680" y="1992075"/>
            <a:ext cx="329184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Why Buses?</a:t>
            </a:r>
            <a:endParaRPr lang="en-US" sz="1600" dirty="0"/>
          </a:p>
        </p:txBody>
      </p:sp>
      <p:sp>
        <p:nvSpPr>
          <p:cNvPr id="28" name="Text 26"/>
          <p:cNvSpPr/>
          <p:nvPr/>
        </p:nvSpPr>
        <p:spPr>
          <a:xfrm>
            <a:off x="5486400" y="1508760"/>
            <a:ext cx="3246120" cy="3291840"/>
          </a:xfrm>
          <a:prstGeom prst="rect">
            <a:avLst/>
          </a:prstGeom>
          <a:noFill/>
          <a:ln/>
        </p:spPr>
        <p:txBody>
          <a:bodyPr wrap="square" rtlCol="0" anchor="ctr"/>
          <a:lstStyle/>
          <a:p>
            <a:pPr marL="342900" indent="-342900">
              <a:buSzPct val="100000"/>
              <a:buChar char="•"/>
            </a:pPr>
            <a:r>
              <a:rPr lang="en-US" sz="1200" dirty="0">
                <a:solidFill>
                  <a:srgbClr val="1A252F"/>
                </a:solidFill>
                <a:latin typeface="Calibri" pitchFamily="34" charset="0"/>
                <a:ea typeface="Calibri" pitchFamily="34" charset="-122"/>
                <a:cs typeface="Calibri" pitchFamily="34" charset="-120"/>
              </a:rPr>
              <a:t>Without buses: 8 regs × 4 bits × 2 MUXes = 64 individual wires</a:t>
            </a:r>
            <a:endParaRPr lang="en-US" sz="1200" dirty="0"/>
          </a:p>
          <a:p>
            <a:pPr marL="342900" indent="-342900">
              <a:buSzPct val="100000"/>
              <a:buChar char="•"/>
            </a:pPr>
            <a:r>
              <a:rPr lang="en-US" sz="1200" dirty="0">
                <a:solidFill>
                  <a:srgbClr val="1A252F"/>
                </a:solidFill>
                <a:latin typeface="Calibri" pitchFamily="34" charset="0"/>
                <a:ea typeface="Calibri" pitchFamily="34" charset="-122"/>
                <a:cs typeface="Calibri" pitchFamily="34" charset="-120"/>
              </a:rPr>
              <a:t>With 4-bit data bus: 8 STD_LOGIC_VECTOR(3 downto 0) signals</a:t>
            </a:r>
            <a:endParaRPr lang="en-US" sz="1200" dirty="0"/>
          </a:p>
          <a:p>
            <a:pPr marL="342900" indent="-342900">
              <a:buSzPct val="100000"/>
              <a:buChar char="•"/>
            </a:pPr>
            <a:r>
              <a:rPr lang="en-US" sz="1200" dirty="0">
                <a:solidFill>
                  <a:srgbClr val="1A252F"/>
                </a:solidFill>
                <a:latin typeface="Calibri" pitchFamily="34" charset="0"/>
                <a:ea typeface="Calibri" pitchFamily="34" charset="-122"/>
                <a:cs typeface="Calibri" pitchFamily="34" charset="-120"/>
              </a:rPr>
              <a:t>Reduces wiring complexity drastically</a:t>
            </a:r>
            <a:endParaRPr lang="en-US" sz="1200" dirty="0"/>
          </a:p>
          <a:p>
            <a:pPr marL="342900" indent="-342900">
              <a:buSzPct val="100000"/>
              <a:buChar char="•"/>
            </a:pPr>
            <a:r>
              <a:rPr lang="en-US" sz="1200" dirty="0">
                <a:solidFill>
                  <a:srgbClr val="1A252F"/>
                </a:solidFill>
                <a:latin typeface="Calibri" pitchFamily="34" charset="0"/>
                <a:ea typeface="Calibri" pitchFamily="34" charset="-122"/>
                <a:cs typeface="Calibri" pitchFamily="34" charset="-120"/>
              </a:rPr>
              <a:t>Makes VHDL top-level readable and maintainable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4F72"/>
        </a:solidFill>
        <a:effectLst/>
      </p:bgPr>
    </p:bg>
    <p:spTree>
      <p:nvGrpSpPr>
        <p:cNvPr id="1" name=""/>
        <p:cNvGrpSpPr/>
        <p:nvPr/>
      </p:nvGrpSpPr>
      <p:grpSpPr>
        <a:xfrm>
          <a:off x="0" y="0"/>
          <a:ext cx="0" cy="0"/>
          <a:chOff x="0" y="0"/>
          <a:chExt cx="0" cy="0"/>
        </a:xfrm>
      </p:grpSpPr>
      <p:sp>
        <p:nvSpPr>
          <p:cNvPr id="2" name="Shape 0"/>
          <p:cNvSpPr/>
          <p:nvPr/>
        </p:nvSpPr>
        <p:spPr>
          <a:xfrm>
            <a:off x="0" y="2011680"/>
            <a:ext cx="9144000" cy="1188720"/>
          </a:xfrm>
          <a:prstGeom prst="rect">
            <a:avLst/>
          </a:prstGeom>
          <a:solidFill>
            <a:srgbClr val="2E86C1"/>
          </a:solidFill>
          <a:ln w="12700">
            <a:solidFill>
              <a:srgbClr val="2E86C1"/>
            </a:solidFill>
            <a:prstDash val="solid"/>
          </a:ln>
        </p:spPr>
        <p:txBody>
          <a:bodyPr/>
          <a:lstStyle/>
          <a:p>
            <a:endParaRPr lang="en-US"/>
          </a:p>
        </p:txBody>
      </p:sp>
      <p:sp>
        <p:nvSpPr>
          <p:cNvPr id="3" name="Text 1"/>
          <p:cNvSpPr/>
          <p:nvPr/>
        </p:nvSpPr>
        <p:spPr>
          <a:xfrm>
            <a:off x="365760" y="548640"/>
            <a:ext cx="1828800" cy="1463040"/>
          </a:xfrm>
          <a:prstGeom prst="rect">
            <a:avLst/>
          </a:prstGeom>
          <a:noFill/>
          <a:ln/>
        </p:spPr>
        <p:txBody>
          <a:bodyPr wrap="square" rtlCol="0" anchor="ctr"/>
          <a:lstStyle/>
          <a:p>
            <a:pPr marL="0" indent="0" algn="l">
              <a:buNone/>
            </a:pPr>
            <a:r>
              <a:rPr lang="en-US" sz="8000" b="1" dirty="0">
                <a:solidFill>
                  <a:srgbClr val="AED6F1"/>
                </a:solidFill>
                <a:latin typeface="Calibri" pitchFamily="34" charset="0"/>
                <a:ea typeface="Calibri" pitchFamily="34" charset="-122"/>
                <a:cs typeface="Calibri" pitchFamily="34" charset="-120"/>
              </a:rPr>
              <a:t>04</a:t>
            </a:r>
            <a:endParaRPr lang="en-US" sz="8000" dirty="0"/>
          </a:p>
        </p:txBody>
      </p:sp>
      <p:sp>
        <p:nvSpPr>
          <p:cNvPr id="4" name="Text 2"/>
          <p:cNvSpPr/>
          <p:nvPr/>
        </p:nvSpPr>
        <p:spPr>
          <a:xfrm>
            <a:off x="365760" y="2103120"/>
            <a:ext cx="8412480" cy="1005840"/>
          </a:xfrm>
          <a:prstGeom prst="rect">
            <a:avLst/>
          </a:prstGeom>
          <a:noFill/>
          <a:ln/>
        </p:spPr>
        <p:txBody>
          <a:bodyPr wrap="square" rtlCol="0" anchor="ctr"/>
          <a:lstStyle/>
          <a:p>
            <a:pPr marL="0" indent="0" algn="l">
              <a:buNone/>
            </a:pPr>
            <a:r>
              <a:rPr lang="en-US" sz="3400" b="1" dirty="0">
                <a:solidFill>
                  <a:srgbClr val="FFFFFF"/>
                </a:solidFill>
                <a:latin typeface="Calibri" pitchFamily="34" charset="0"/>
                <a:ea typeface="Calibri" pitchFamily="34" charset="-122"/>
                <a:cs typeface="Calibri" pitchFamily="34" charset="-120"/>
              </a:rPr>
              <a:t>Component Deep Dive</a:t>
            </a:r>
            <a:endParaRPr lang="en-US" sz="3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E86C1"/>
          </a:solidFill>
          <a:ln w="12700">
            <a:solidFill>
              <a:srgbClr val="2E86C1"/>
            </a:solidFill>
            <a:prstDash val="solid"/>
          </a:ln>
        </p:spPr>
        <p:txBody>
          <a:bodyPr/>
          <a:lstStyle/>
          <a:p>
            <a:endParaRPr lang="en-US"/>
          </a:p>
        </p:txBody>
      </p:sp>
      <p:sp>
        <p:nvSpPr>
          <p:cNvPr id="3" name="Shape 1"/>
          <p:cNvSpPr/>
          <p:nvPr/>
        </p:nvSpPr>
        <p:spPr>
          <a:xfrm>
            <a:off x="0" y="0"/>
            <a:ext cx="9144000" cy="713232"/>
          </a:xfrm>
          <a:prstGeom prst="rect">
            <a:avLst/>
          </a:prstGeom>
          <a:solidFill>
            <a:srgbClr val="0D1B2A"/>
          </a:solidFill>
          <a:ln w="12700">
            <a:solidFill>
              <a:srgbClr val="0D1B2A"/>
            </a:solidFill>
            <a:prstDash val="solid"/>
          </a:ln>
        </p:spPr>
        <p:txBody>
          <a:bodyPr/>
          <a:lstStyle/>
          <a:p>
            <a:endParaRPr lang="en-US"/>
          </a:p>
        </p:txBody>
      </p:sp>
      <p:sp>
        <p:nvSpPr>
          <p:cNvPr id="4" name="Text 2"/>
          <p:cNvSpPr/>
          <p:nvPr/>
        </p:nvSpPr>
        <p:spPr>
          <a:xfrm>
            <a:off x="274320" y="73152"/>
            <a:ext cx="8595360"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All Components at a Glance</a:t>
            </a:r>
            <a:endParaRPr lang="en-US" sz="2200" dirty="0"/>
          </a:p>
        </p:txBody>
      </p:sp>
      <p:sp>
        <p:nvSpPr>
          <p:cNvPr id="5" name="Shape 3"/>
          <p:cNvSpPr/>
          <p:nvPr/>
        </p:nvSpPr>
        <p:spPr>
          <a:xfrm>
            <a:off x="228600" y="914400"/>
            <a:ext cx="2788920" cy="914400"/>
          </a:xfrm>
          <a:prstGeom prst="rect">
            <a:avLst/>
          </a:prstGeom>
          <a:solidFill>
            <a:srgbClr val="FFFFFF"/>
          </a:solidFill>
          <a:ln w="12700">
            <a:solidFill>
              <a:srgbClr val="DDDDDD"/>
            </a:solidFill>
            <a:prstDash val="solid"/>
          </a:ln>
          <a:effectLst>
            <a:outerShdw blurRad="101600" dist="38100" dir="8100000" algn="bl" rotWithShape="0">
              <a:srgbClr val="000000">
                <a:alpha val="18000"/>
              </a:srgbClr>
            </a:outerShdw>
          </a:effectLst>
        </p:spPr>
        <p:txBody>
          <a:bodyPr/>
          <a:lstStyle/>
          <a:p>
            <a:endParaRPr lang="en-US"/>
          </a:p>
        </p:txBody>
      </p:sp>
      <p:sp>
        <p:nvSpPr>
          <p:cNvPr id="6" name="Shape 4"/>
          <p:cNvSpPr/>
          <p:nvPr/>
        </p:nvSpPr>
        <p:spPr>
          <a:xfrm>
            <a:off x="228600" y="914400"/>
            <a:ext cx="109728" cy="914400"/>
          </a:xfrm>
          <a:prstGeom prst="rect">
            <a:avLst/>
          </a:prstGeom>
          <a:solidFill>
            <a:srgbClr val="2E86C1"/>
          </a:solidFill>
          <a:ln w="12700">
            <a:solidFill>
              <a:srgbClr val="2E86C1"/>
            </a:solidFill>
            <a:prstDash val="solid"/>
          </a:ln>
        </p:spPr>
        <p:txBody>
          <a:bodyPr/>
          <a:lstStyle/>
          <a:p>
            <a:endParaRPr lang="en-US"/>
          </a:p>
        </p:txBody>
      </p:sp>
      <p:sp>
        <p:nvSpPr>
          <p:cNvPr id="7" name="Text 5"/>
          <p:cNvSpPr/>
          <p:nvPr/>
        </p:nvSpPr>
        <p:spPr>
          <a:xfrm>
            <a:off x="411480" y="960120"/>
            <a:ext cx="2560320" cy="34747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HA / FA</a:t>
            </a:r>
            <a:endParaRPr lang="en-US" sz="1200" dirty="0"/>
          </a:p>
        </p:txBody>
      </p:sp>
      <p:sp>
        <p:nvSpPr>
          <p:cNvPr id="8" name="Text 6"/>
          <p:cNvSpPr/>
          <p:nvPr/>
        </p:nvSpPr>
        <p:spPr>
          <a:xfrm>
            <a:off x="411480" y="1335024"/>
            <a:ext cx="2560320" cy="411480"/>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Building blocks for all adders</a:t>
            </a:r>
            <a:endParaRPr lang="en-US" sz="1050" dirty="0"/>
          </a:p>
        </p:txBody>
      </p:sp>
      <p:sp>
        <p:nvSpPr>
          <p:cNvPr id="9" name="Shape 7"/>
          <p:cNvSpPr/>
          <p:nvPr/>
        </p:nvSpPr>
        <p:spPr>
          <a:xfrm>
            <a:off x="3172968" y="914400"/>
            <a:ext cx="2788920" cy="914400"/>
          </a:xfrm>
          <a:prstGeom prst="rect">
            <a:avLst/>
          </a:prstGeom>
          <a:solidFill>
            <a:srgbClr val="FFFFFF"/>
          </a:solidFill>
          <a:ln w="12700">
            <a:solidFill>
              <a:srgbClr val="DDDDDD"/>
            </a:solidFill>
            <a:prstDash val="solid"/>
          </a:ln>
          <a:effectLst>
            <a:outerShdw blurRad="101600" dist="38100" dir="8100000" algn="bl" rotWithShape="0">
              <a:srgbClr val="000000">
                <a:alpha val="18000"/>
              </a:srgbClr>
            </a:outerShdw>
          </a:effectLst>
        </p:spPr>
        <p:txBody>
          <a:bodyPr/>
          <a:lstStyle/>
          <a:p>
            <a:endParaRPr lang="en-US"/>
          </a:p>
        </p:txBody>
      </p:sp>
      <p:sp>
        <p:nvSpPr>
          <p:cNvPr id="10" name="Shape 8"/>
          <p:cNvSpPr/>
          <p:nvPr/>
        </p:nvSpPr>
        <p:spPr>
          <a:xfrm>
            <a:off x="3172968" y="914400"/>
            <a:ext cx="109728" cy="914400"/>
          </a:xfrm>
          <a:prstGeom prst="rect">
            <a:avLst/>
          </a:prstGeom>
          <a:solidFill>
            <a:srgbClr val="2E86C1"/>
          </a:solidFill>
          <a:ln w="12700">
            <a:solidFill>
              <a:srgbClr val="2E86C1"/>
            </a:solidFill>
            <a:prstDash val="solid"/>
          </a:ln>
        </p:spPr>
        <p:txBody>
          <a:bodyPr/>
          <a:lstStyle/>
          <a:p>
            <a:endParaRPr lang="en-US"/>
          </a:p>
        </p:txBody>
      </p:sp>
      <p:sp>
        <p:nvSpPr>
          <p:cNvPr id="11" name="Text 9"/>
          <p:cNvSpPr/>
          <p:nvPr/>
        </p:nvSpPr>
        <p:spPr>
          <a:xfrm>
            <a:off x="3355848" y="960120"/>
            <a:ext cx="2560320" cy="34747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Adder_3_Bit</a:t>
            </a:r>
            <a:endParaRPr lang="en-US" sz="1200" dirty="0"/>
          </a:p>
        </p:txBody>
      </p:sp>
      <p:sp>
        <p:nvSpPr>
          <p:cNvPr id="12" name="Text 10"/>
          <p:cNvSpPr/>
          <p:nvPr/>
        </p:nvSpPr>
        <p:spPr>
          <a:xfrm>
            <a:off x="3355848" y="1335024"/>
            <a:ext cx="2560320" cy="411480"/>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Increments PC by 1 each cycle</a:t>
            </a:r>
            <a:endParaRPr lang="en-US" sz="1050" dirty="0"/>
          </a:p>
        </p:txBody>
      </p:sp>
      <p:sp>
        <p:nvSpPr>
          <p:cNvPr id="13" name="Shape 11"/>
          <p:cNvSpPr/>
          <p:nvPr/>
        </p:nvSpPr>
        <p:spPr>
          <a:xfrm>
            <a:off x="6117336" y="914400"/>
            <a:ext cx="2788920" cy="914400"/>
          </a:xfrm>
          <a:prstGeom prst="rect">
            <a:avLst/>
          </a:prstGeom>
          <a:solidFill>
            <a:srgbClr val="FFFFFF"/>
          </a:solidFill>
          <a:ln w="12700">
            <a:solidFill>
              <a:srgbClr val="DDDDDD"/>
            </a:solidFill>
            <a:prstDash val="solid"/>
          </a:ln>
          <a:effectLst>
            <a:outerShdw blurRad="101600" dist="38100" dir="8100000" algn="bl" rotWithShape="0">
              <a:srgbClr val="000000">
                <a:alpha val="18000"/>
              </a:srgbClr>
            </a:outerShdw>
          </a:effectLst>
        </p:spPr>
        <p:txBody>
          <a:bodyPr/>
          <a:lstStyle/>
          <a:p>
            <a:endParaRPr lang="en-US" dirty="0"/>
          </a:p>
        </p:txBody>
      </p:sp>
      <p:sp>
        <p:nvSpPr>
          <p:cNvPr id="14" name="Shape 12"/>
          <p:cNvSpPr/>
          <p:nvPr/>
        </p:nvSpPr>
        <p:spPr>
          <a:xfrm>
            <a:off x="6117336" y="914400"/>
            <a:ext cx="109728" cy="914400"/>
          </a:xfrm>
          <a:prstGeom prst="rect">
            <a:avLst/>
          </a:prstGeom>
          <a:solidFill>
            <a:srgbClr val="2E86C1"/>
          </a:solidFill>
          <a:ln w="12700">
            <a:solidFill>
              <a:srgbClr val="2E86C1"/>
            </a:solidFill>
            <a:prstDash val="solid"/>
          </a:ln>
        </p:spPr>
        <p:txBody>
          <a:bodyPr/>
          <a:lstStyle/>
          <a:p>
            <a:endParaRPr lang="en-US"/>
          </a:p>
        </p:txBody>
      </p:sp>
      <p:sp>
        <p:nvSpPr>
          <p:cNvPr id="15" name="Text 13"/>
          <p:cNvSpPr/>
          <p:nvPr/>
        </p:nvSpPr>
        <p:spPr>
          <a:xfrm>
            <a:off x="6300216" y="960120"/>
            <a:ext cx="2560320" cy="34747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Add_Sub_Unit</a:t>
            </a:r>
            <a:endParaRPr lang="en-US" sz="1200" dirty="0"/>
          </a:p>
        </p:txBody>
      </p:sp>
      <p:sp>
        <p:nvSpPr>
          <p:cNvPr id="16" name="Text 14"/>
          <p:cNvSpPr/>
          <p:nvPr/>
        </p:nvSpPr>
        <p:spPr>
          <a:xfrm>
            <a:off x="6300216" y="1335024"/>
            <a:ext cx="2560320" cy="411480"/>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4-bit add/subtract with flags using two’s complement.</a:t>
            </a:r>
            <a:endParaRPr lang="en-US" sz="1050" dirty="0"/>
          </a:p>
        </p:txBody>
      </p:sp>
      <p:sp>
        <p:nvSpPr>
          <p:cNvPr id="17" name="Shape 15"/>
          <p:cNvSpPr/>
          <p:nvPr/>
        </p:nvSpPr>
        <p:spPr>
          <a:xfrm>
            <a:off x="228600" y="1965960"/>
            <a:ext cx="2788920" cy="914400"/>
          </a:xfrm>
          <a:prstGeom prst="rect">
            <a:avLst/>
          </a:prstGeom>
          <a:solidFill>
            <a:srgbClr val="FFFFFF"/>
          </a:solidFill>
          <a:ln w="12700">
            <a:solidFill>
              <a:srgbClr val="DDDDDD"/>
            </a:solidFill>
            <a:prstDash val="solid"/>
          </a:ln>
          <a:effectLst>
            <a:outerShdw blurRad="101600" dist="38100" dir="8100000" algn="bl" rotWithShape="0">
              <a:srgbClr val="000000">
                <a:alpha val="18000"/>
              </a:srgbClr>
            </a:outerShdw>
          </a:effectLst>
        </p:spPr>
        <p:txBody>
          <a:bodyPr/>
          <a:lstStyle/>
          <a:p>
            <a:endParaRPr lang="en-US"/>
          </a:p>
        </p:txBody>
      </p:sp>
      <p:sp>
        <p:nvSpPr>
          <p:cNvPr id="18" name="Shape 16"/>
          <p:cNvSpPr/>
          <p:nvPr/>
        </p:nvSpPr>
        <p:spPr>
          <a:xfrm>
            <a:off x="228600" y="1965960"/>
            <a:ext cx="109728" cy="914400"/>
          </a:xfrm>
          <a:prstGeom prst="rect">
            <a:avLst/>
          </a:prstGeom>
          <a:solidFill>
            <a:srgbClr val="1E8449"/>
          </a:solidFill>
          <a:ln w="12700">
            <a:solidFill>
              <a:srgbClr val="1E8449"/>
            </a:solidFill>
            <a:prstDash val="solid"/>
          </a:ln>
        </p:spPr>
        <p:txBody>
          <a:bodyPr/>
          <a:lstStyle/>
          <a:p>
            <a:endParaRPr lang="en-US"/>
          </a:p>
        </p:txBody>
      </p:sp>
      <p:sp>
        <p:nvSpPr>
          <p:cNvPr id="19" name="Text 17"/>
          <p:cNvSpPr/>
          <p:nvPr/>
        </p:nvSpPr>
        <p:spPr>
          <a:xfrm>
            <a:off x="411480" y="2011680"/>
            <a:ext cx="2560320" cy="34747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Decoder_3_to_8</a:t>
            </a:r>
            <a:endParaRPr lang="en-US" sz="1200" dirty="0"/>
          </a:p>
        </p:txBody>
      </p:sp>
      <p:sp>
        <p:nvSpPr>
          <p:cNvPr id="20" name="Text 18"/>
          <p:cNvSpPr/>
          <p:nvPr/>
        </p:nvSpPr>
        <p:spPr>
          <a:xfrm>
            <a:off x="411480" y="2386584"/>
            <a:ext cx="2560320" cy="411480"/>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One-hot enable for register select</a:t>
            </a:r>
            <a:endParaRPr lang="en-US" sz="1050" dirty="0"/>
          </a:p>
        </p:txBody>
      </p:sp>
      <p:sp>
        <p:nvSpPr>
          <p:cNvPr id="21" name="Shape 19"/>
          <p:cNvSpPr/>
          <p:nvPr/>
        </p:nvSpPr>
        <p:spPr>
          <a:xfrm>
            <a:off x="3172968" y="1965960"/>
            <a:ext cx="2788920" cy="914400"/>
          </a:xfrm>
          <a:prstGeom prst="rect">
            <a:avLst/>
          </a:prstGeom>
          <a:solidFill>
            <a:srgbClr val="FFFFFF"/>
          </a:solidFill>
          <a:ln w="12700">
            <a:solidFill>
              <a:srgbClr val="DDDDDD"/>
            </a:solidFill>
            <a:prstDash val="solid"/>
          </a:ln>
          <a:effectLst>
            <a:outerShdw blurRad="101600" dist="38100" dir="8100000" algn="bl" rotWithShape="0">
              <a:srgbClr val="000000">
                <a:alpha val="18000"/>
              </a:srgbClr>
            </a:outerShdw>
          </a:effectLst>
        </p:spPr>
        <p:txBody>
          <a:bodyPr/>
          <a:lstStyle/>
          <a:p>
            <a:endParaRPr lang="en-US"/>
          </a:p>
        </p:txBody>
      </p:sp>
      <p:sp>
        <p:nvSpPr>
          <p:cNvPr id="22" name="Shape 20"/>
          <p:cNvSpPr/>
          <p:nvPr/>
        </p:nvSpPr>
        <p:spPr>
          <a:xfrm>
            <a:off x="3172968" y="1965960"/>
            <a:ext cx="109728" cy="914400"/>
          </a:xfrm>
          <a:prstGeom prst="rect">
            <a:avLst/>
          </a:prstGeom>
          <a:solidFill>
            <a:srgbClr val="1E8449"/>
          </a:solidFill>
          <a:ln w="12700">
            <a:solidFill>
              <a:srgbClr val="1E8449"/>
            </a:solidFill>
            <a:prstDash val="solid"/>
          </a:ln>
        </p:spPr>
        <p:txBody>
          <a:bodyPr/>
          <a:lstStyle/>
          <a:p>
            <a:endParaRPr lang="en-US"/>
          </a:p>
        </p:txBody>
      </p:sp>
      <p:sp>
        <p:nvSpPr>
          <p:cNvPr id="23" name="Text 21"/>
          <p:cNvSpPr/>
          <p:nvPr/>
        </p:nvSpPr>
        <p:spPr>
          <a:xfrm>
            <a:off x="3355848" y="2011680"/>
            <a:ext cx="2560320" cy="34747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Reg / Register_Bank</a:t>
            </a:r>
            <a:endParaRPr lang="en-US" sz="1200" dirty="0"/>
          </a:p>
        </p:txBody>
      </p:sp>
      <p:sp>
        <p:nvSpPr>
          <p:cNvPr id="24" name="Text 22"/>
          <p:cNvSpPr/>
          <p:nvPr/>
        </p:nvSpPr>
        <p:spPr>
          <a:xfrm>
            <a:off x="3355848" y="2386584"/>
            <a:ext cx="2560320" cy="411480"/>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8 × 4-bit registers, R0 hardwired 0</a:t>
            </a:r>
            <a:endParaRPr lang="en-US" sz="1050" dirty="0"/>
          </a:p>
        </p:txBody>
      </p:sp>
      <p:sp>
        <p:nvSpPr>
          <p:cNvPr id="25" name="Shape 23"/>
          <p:cNvSpPr/>
          <p:nvPr/>
        </p:nvSpPr>
        <p:spPr>
          <a:xfrm>
            <a:off x="6117336" y="1965960"/>
            <a:ext cx="2788920" cy="914400"/>
          </a:xfrm>
          <a:prstGeom prst="rect">
            <a:avLst/>
          </a:prstGeom>
          <a:solidFill>
            <a:srgbClr val="FFFFFF"/>
          </a:solidFill>
          <a:ln w="12700">
            <a:solidFill>
              <a:srgbClr val="DDDDDD"/>
            </a:solidFill>
            <a:prstDash val="solid"/>
          </a:ln>
          <a:effectLst>
            <a:outerShdw blurRad="101600" dist="38100" dir="8100000" algn="bl" rotWithShape="0">
              <a:srgbClr val="000000">
                <a:alpha val="18000"/>
              </a:srgbClr>
            </a:outerShdw>
          </a:effectLst>
        </p:spPr>
        <p:txBody>
          <a:bodyPr/>
          <a:lstStyle/>
          <a:p>
            <a:endParaRPr lang="en-US"/>
          </a:p>
        </p:txBody>
      </p:sp>
      <p:sp>
        <p:nvSpPr>
          <p:cNvPr id="26" name="Shape 24"/>
          <p:cNvSpPr/>
          <p:nvPr/>
        </p:nvSpPr>
        <p:spPr>
          <a:xfrm>
            <a:off x="6117336" y="1965960"/>
            <a:ext cx="109728" cy="914400"/>
          </a:xfrm>
          <a:prstGeom prst="rect">
            <a:avLst/>
          </a:prstGeom>
          <a:solidFill>
            <a:srgbClr val="D35400"/>
          </a:solidFill>
          <a:ln w="12700">
            <a:solidFill>
              <a:srgbClr val="D35400"/>
            </a:solidFill>
            <a:prstDash val="solid"/>
          </a:ln>
        </p:spPr>
        <p:txBody>
          <a:bodyPr/>
          <a:lstStyle/>
          <a:p>
            <a:endParaRPr lang="en-US"/>
          </a:p>
        </p:txBody>
      </p:sp>
      <p:sp>
        <p:nvSpPr>
          <p:cNvPr id="27" name="Text 25"/>
          <p:cNvSpPr/>
          <p:nvPr/>
        </p:nvSpPr>
        <p:spPr>
          <a:xfrm>
            <a:off x="6300216" y="2011680"/>
            <a:ext cx="2560320" cy="34747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Program_Counter</a:t>
            </a:r>
            <a:endParaRPr lang="en-US" sz="1200" dirty="0"/>
          </a:p>
        </p:txBody>
      </p:sp>
      <p:sp>
        <p:nvSpPr>
          <p:cNvPr id="28" name="Text 26"/>
          <p:cNvSpPr/>
          <p:nvPr/>
        </p:nvSpPr>
        <p:spPr>
          <a:xfrm>
            <a:off x="6300216" y="2386584"/>
            <a:ext cx="2560320" cy="411480"/>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3-bit PC with synchronous reset</a:t>
            </a:r>
            <a:endParaRPr lang="en-US" sz="1050" dirty="0"/>
          </a:p>
        </p:txBody>
      </p:sp>
      <p:sp>
        <p:nvSpPr>
          <p:cNvPr id="29" name="Shape 27"/>
          <p:cNvSpPr/>
          <p:nvPr/>
        </p:nvSpPr>
        <p:spPr>
          <a:xfrm>
            <a:off x="228600" y="3017520"/>
            <a:ext cx="2788920" cy="914400"/>
          </a:xfrm>
          <a:prstGeom prst="rect">
            <a:avLst/>
          </a:prstGeom>
          <a:solidFill>
            <a:srgbClr val="FFFFFF"/>
          </a:solidFill>
          <a:ln w="12700">
            <a:solidFill>
              <a:srgbClr val="DDDDDD"/>
            </a:solidFill>
            <a:prstDash val="solid"/>
          </a:ln>
          <a:effectLst>
            <a:outerShdw blurRad="101600" dist="38100" dir="8100000" algn="bl" rotWithShape="0">
              <a:srgbClr val="000000">
                <a:alpha val="18000"/>
              </a:srgbClr>
            </a:outerShdw>
          </a:effectLst>
        </p:spPr>
        <p:txBody>
          <a:bodyPr/>
          <a:lstStyle/>
          <a:p>
            <a:endParaRPr lang="en-US"/>
          </a:p>
        </p:txBody>
      </p:sp>
      <p:sp>
        <p:nvSpPr>
          <p:cNvPr id="30" name="Shape 28"/>
          <p:cNvSpPr/>
          <p:nvPr/>
        </p:nvSpPr>
        <p:spPr>
          <a:xfrm>
            <a:off x="228600" y="3017520"/>
            <a:ext cx="109728" cy="914400"/>
          </a:xfrm>
          <a:prstGeom prst="rect">
            <a:avLst/>
          </a:prstGeom>
          <a:solidFill>
            <a:srgbClr val="D35400"/>
          </a:solidFill>
          <a:ln w="12700">
            <a:solidFill>
              <a:srgbClr val="D35400"/>
            </a:solidFill>
            <a:prstDash val="solid"/>
          </a:ln>
        </p:spPr>
        <p:txBody>
          <a:bodyPr/>
          <a:lstStyle/>
          <a:p>
            <a:endParaRPr lang="en-US"/>
          </a:p>
        </p:txBody>
      </p:sp>
      <p:sp>
        <p:nvSpPr>
          <p:cNvPr id="31" name="Text 29"/>
          <p:cNvSpPr/>
          <p:nvPr/>
        </p:nvSpPr>
        <p:spPr>
          <a:xfrm>
            <a:off x="411480" y="3063240"/>
            <a:ext cx="2560320" cy="34747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Program_ROM</a:t>
            </a:r>
            <a:endParaRPr lang="en-US" sz="1200" dirty="0"/>
          </a:p>
        </p:txBody>
      </p:sp>
      <p:sp>
        <p:nvSpPr>
          <p:cNvPr id="32" name="Text 30"/>
          <p:cNvSpPr/>
          <p:nvPr/>
        </p:nvSpPr>
        <p:spPr>
          <a:xfrm>
            <a:off x="411480" y="3438144"/>
            <a:ext cx="2560320" cy="411480"/>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8 × 12-bit hardcoded instruction store</a:t>
            </a:r>
            <a:endParaRPr lang="en-US" sz="1050" dirty="0"/>
          </a:p>
        </p:txBody>
      </p:sp>
      <p:sp>
        <p:nvSpPr>
          <p:cNvPr id="33" name="Shape 31"/>
          <p:cNvSpPr/>
          <p:nvPr/>
        </p:nvSpPr>
        <p:spPr>
          <a:xfrm>
            <a:off x="3172968" y="3017520"/>
            <a:ext cx="2788920" cy="914400"/>
          </a:xfrm>
          <a:prstGeom prst="rect">
            <a:avLst/>
          </a:prstGeom>
          <a:solidFill>
            <a:srgbClr val="FFFFFF"/>
          </a:solidFill>
          <a:ln w="12700">
            <a:solidFill>
              <a:srgbClr val="DDDDDD"/>
            </a:solidFill>
            <a:prstDash val="solid"/>
          </a:ln>
          <a:effectLst>
            <a:outerShdw blurRad="101600" dist="38100" dir="8100000" algn="bl" rotWithShape="0">
              <a:srgbClr val="000000">
                <a:alpha val="18000"/>
              </a:srgbClr>
            </a:outerShdw>
          </a:effectLst>
        </p:spPr>
        <p:txBody>
          <a:bodyPr/>
          <a:lstStyle/>
          <a:p>
            <a:endParaRPr lang="en-US"/>
          </a:p>
        </p:txBody>
      </p:sp>
      <p:sp>
        <p:nvSpPr>
          <p:cNvPr id="34" name="Shape 32"/>
          <p:cNvSpPr/>
          <p:nvPr/>
        </p:nvSpPr>
        <p:spPr>
          <a:xfrm>
            <a:off x="3172968" y="3017520"/>
            <a:ext cx="109728" cy="914400"/>
          </a:xfrm>
          <a:prstGeom prst="rect">
            <a:avLst/>
          </a:prstGeom>
          <a:solidFill>
            <a:srgbClr val="6C3483"/>
          </a:solidFill>
          <a:ln w="12700">
            <a:solidFill>
              <a:srgbClr val="6C3483"/>
            </a:solidFill>
            <a:prstDash val="solid"/>
          </a:ln>
        </p:spPr>
        <p:txBody>
          <a:bodyPr/>
          <a:lstStyle/>
          <a:p>
            <a:endParaRPr lang="en-US"/>
          </a:p>
        </p:txBody>
      </p:sp>
      <p:sp>
        <p:nvSpPr>
          <p:cNvPr id="35" name="Text 33"/>
          <p:cNvSpPr/>
          <p:nvPr/>
        </p:nvSpPr>
        <p:spPr>
          <a:xfrm>
            <a:off x="3355848" y="3063240"/>
            <a:ext cx="2560320" cy="34747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Instruction_Decoder</a:t>
            </a:r>
            <a:endParaRPr lang="en-US" sz="1200" dirty="0"/>
          </a:p>
        </p:txBody>
      </p:sp>
      <p:sp>
        <p:nvSpPr>
          <p:cNvPr id="36" name="Text 34"/>
          <p:cNvSpPr/>
          <p:nvPr/>
        </p:nvSpPr>
        <p:spPr>
          <a:xfrm>
            <a:off x="3355848" y="3438144"/>
            <a:ext cx="2560320" cy="411480"/>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Generates all control signals from opcode</a:t>
            </a:r>
            <a:endParaRPr lang="en-US" sz="1050" dirty="0"/>
          </a:p>
        </p:txBody>
      </p:sp>
      <p:sp>
        <p:nvSpPr>
          <p:cNvPr id="37" name="Shape 35"/>
          <p:cNvSpPr/>
          <p:nvPr/>
        </p:nvSpPr>
        <p:spPr>
          <a:xfrm>
            <a:off x="6117336" y="3017520"/>
            <a:ext cx="2788920" cy="914400"/>
          </a:xfrm>
          <a:prstGeom prst="rect">
            <a:avLst/>
          </a:prstGeom>
          <a:solidFill>
            <a:srgbClr val="FFFFFF"/>
          </a:solidFill>
          <a:ln w="12700">
            <a:solidFill>
              <a:srgbClr val="DDDDDD"/>
            </a:solidFill>
            <a:prstDash val="solid"/>
          </a:ln>
          <a:effectLst>
            <a:outerShdw blurRad="101600" dist="38100" dir="8100000" algn="bl" rotWithShape="0">
              <a:srgbClr val="000000">
                <a:alpha val="18000"/>
              </a:srgbClr>
            </a:outerShdw>
          </a:effectLst>
        </p:spPr>
        <p:txBody>
          <a:bodyPr/>
          <a:lstStyle/>
          <a:p>
            <a:endParaRPr lang="en-US"/>
          </a:p>
        </p:txBody>
      </p:sp>
      <p:sp>
        <p:nvSpPr>
          <p:cNvPr id="38" name="Shape 36"/>
          <p:cNvSpPr/>
          <p:nvPr/>
        </p:nvSpPr>
        <p:spPr>
          <a:xfrm>
            <a:off x="6117336" y="3017520"/>
            <a:ext cx="109728" cy="914400"/>
          </a:xfrm>
          <a:prstGeom prst="rect">
            <a:avLst/>
          </a:prstGeom>
          <a:solidFill>
            <a:srgbClr val="6C3483"/>
          </a:solidFill>
          <a:ln w="12700">
            <a:solidFill>
              <a:srgbClr val="6C3483"/>
            </a:solidFill>
            <a:prstDash val="solid"/>
          </a:ln>
        </p:spPr>
        <p:txBody>
          <a:bodyPr/>
          <a:lstStyle/>
          <a:p>
            <a:endParaRPr lang="en-US"/>
          </a:p>
        </p:txBody>
      </p:sp>
      <p:sp>
        <p:nvSpPr>
          <p:cNvPr id="39" name="Text 37"/>
          <p:cNvSpPr/>
          <p:nvPr/>
        </p:nvSpPr>
        <p:spPr>
          <a:xfrm>
            <a:off x="6300216" y="3063240"/>
            <a:ext cx="2560320" cy="34747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MUX_8_way_4_Bit</a:t>
            </a:r>
            <a:endParaRPr lang="en-US" sz="1200" dirty="0"/>
          </a:p>
        </p:txBody>
      </p:sp>
      <p:sp>
        <p:nvSpPr>
          <p:cNvPr id="40" name="Text 38"/>
          <p:cNvSpPr/>
          <p:nvPr/>
        </p:nvSpPr>
        <p:spPr>
          <a:xfrm>
            <a:off x="6300216" y="3438144"/>
            <a:ext cx="2560320" cy="411480"/>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Selects ALU operands from registers (×2)</a:t>
            </a:r>
            <a:endParaRPr lang="en-US" sz="1050" dirty="0"/>
          </a:p>
        </p:txBody>
      </p:sp>
      <p:sp>
        <p:nvSpPr>
          <p:cNvPr id="41" name="Shape 39"/>
          <p:cNvSpPr/>
          <p:nvPr/>
        </p:nvSpPr>
        <p:spPr>
          <a:xfrm>
            <a:off x="228600" y="4069080"/>
            <a:ext cx="2788920" cy="914400"/>
          </a:xfrm>
          <a:prstGeom prst="rect">
            <a:avLst/>
          </a:prstGeom>
          <a:solidFill>
            <a:srgbClr val="FFFFFF"/>
          </a:solidFill>
          <a:ln w="12700">
            <a:solidFill>
              <a:srgbClr val="DDDDDD"/>
            </a:solidFill>
            <a:prstDash val="solid"/>
          </a:ln>
          <a:effectLst>
            <a:outerShdw blurRad="101600" dist="38100" dir="8100000" algn="bl" rotWithShape="0">
              <a:srgbClr val="000000">
                <a:alpha val="18000"/>
              </a:srgbClr>
            </a:outerShdw>
          </a:effectLst>
        </p:spPr>
        <p:txBody>
          <a:bodyPr/>
          <a:lstStyle/>
          <a:p>
            <a:endParaRPr lang="en-US"/>
          </a:p>
        </p:txBody>
      </p:sp>
      <p:sp>
        <p:nvSpPr>
          <p:cNvPr id="42" name="Shape 40"/>
          <p:cNvSpPr/>
          <p:nvPr/>
        </p:nvSpPr>
        <p:spPr>
          <a:xfrm>
            <a:off x="228600" y="4069080"/>
            <a:ext cx="109728" cy="914400"/>
          </a:xfrm>
          <a:prstGeom prst="rect">
            <a:avLst/>
          </a:prstGeom>
          <a:solidFill>
            <a:srgbClr val="117A65"/>
          </a:solidFill>
          <a:ln w="12700">
            <a:solidFill>
              <a:srgbClr val="117A65"/>
            </a:solidFill>
            <a:prstDash val="solid"/>
          </a:ln>
        </p:spPr>
        <p:txBody>
          <a:bodyPr/>
          <a:lstStyle/>
          <a:p>
            <a:endParaRPr lang="en-US"/>
          </a:p>
        </p:txBody>
      </p:sp>
      <p:sp>
        <p:nvSpPr>
          <p:cNvPr id="43" name="Text 41"/>
          <p:cNvSpPr/>
          <p:nvPr/>
        </p:nvSpPr>
        <p:spPr>
          <a:xfrm>
            <a:off x="411480" y="4114800"/>
            <a:ext cx="2560320" cy="34747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MUX_2_way_4_Bit</a:t>
            </a:r>
            <a:endParaRPr lang="en-US" sz="1200" dirty="0"/>
          </a:p>
        </p:txBody>
      </p:sp>
      <p:sp>
        <p:nvSpPr>
          <p:cNvPr id="44" name="Text 42"/>
          <p:cNvSpPr/>
          <p:nvPr/>
        </p:nvSpPr>
        <p:spPr>
          <a:xfrm>
            <a:off x="411480" y="4489704"/>
            <a:ext cx="2560320" cy="411480"/>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ALU result vs immediate value → Writing register bank</a:t>
            </a:r>
            <a:endParaRPr lang="en-US" sz="1050" dirty="0"/>
          </a:p>
        </p:txBody>
      </p:sp>
      <p:sp>
        <p:nvSpPr>
          <p:cNvPr id="45" name="Shape 43"/>
          <p:cNvSpPr/>
          <p:nvPr/>
        </p:nvSpPr>
        <p:spPr>
          <a:xfrm>
            <a:off x="3172968" y="4069080"/>
            <a:ext cx="2788920" cy="914400"/>
          </a:xfrm>
          <a:prstGeom prst="rect">
            <a:avLst/>
          </a:prstGeom>
          <a:solidFill>
            <a:srgbClr val="FFFFFF"/>
          </a:solidFill>
          <a:ln w="12700">
            <a:solidFill>
              <a:srgbClr val="DDDDDD"/>
            </a:solidFill>
            <a:prstDash val="solid"/>
          </a:ln>
          <a:effectLst>
            <a:outerShdw blurRad="101600" dist="38100" dir="8100000" algn="bl" rotWithShape="0">
              <a:srgbClr val="000000">
                <a:alpha val="18000"/>
              </a:srgbClr>
            </a:outerShdw>
          </a:effectLst>
        </p:spPr>
        <p:txBody>
          <a:bodyPr/>
          <a:lstStyle/>
          <a:p>
            <a:endParaRPr lang="en-US"/>
          </a:p>
        </p:txBody>
      </p:sp>
      <p:sp>
        <p:nvSpPr>
          <p:cNvPr id="46" name="Shape 44"/>
          <p:cNvSpPr/>
          <p:nvPr/>
        </p:nvSpPr>
        <p:spPr>
          <a:xfrm>
            <a:off x="3172968" y="4069080"/>
            <a:ext cx="109728" cy="914400"/>
          </a:xfrm>
          <a:prstGeom prst="rect">
            <a:avLst/>
          </a:prstGeom>
          <a:solidFill>
            <a:srgbClr val="117A65"/>
          </a:solidFill>
          <a:ln w="12700">
            <a:solidFill>
              <a:srgbClr val="117A65"/>
            </a:solidFill>
            <a:prstDash val="solid"/>
          </a:ln>
        </p:spPr>
        <p:txBody>
          <a:bodyPr/>
          <a:lstStyle/>
          <a:p>
            <a:endParaRPr lang="en-US"/>
          </a:p>
        </p:txBody>
      </p:sp>
      <p:sp>
        <p:nvSpPr>
          <p:cNvPr id="47" name="Text 45"/>
          <p:cNvSpPr/>
          <p:nvPr/>
        </p:nvSpPr>
        <p:spPr>
          <a:xfrm>
            <a:off x="3355848" y="4114800"/>
            <a:ext cx="2560320" cy="34747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MUX_2_way_3_Bit</a:t>
            </a:r>
            <a:endParaRPr lang="en-US" sz="1200" dirty="0"/>
          </a:p>
        </p:txBody>
      </p:sp>
      <p:sp>
        <p:nvSpPr>
          <p:cNvPr id="48" name="Text 46"/>
          <p:cNvSpPr/>
          <p:nvPr/>
        </p:nvSpPr>
        <p:spPr>
          <a:xfrm>
            <a:off x="3355848" y="4489704"/>
            <a:ext cx="2560320" cy="411480"/>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PC+1 vs jump address → select the next program counter</a:t>
            </a:r>
            <a:endParaRPr lang="en-US" sz="1050" dirty="0"/>
          </a:p>
        </p:txBody>
      </p:sp>
      <p:sp>
        <p:nvSpPr>
          <p:cNvPr id="49" name="Shape 47"/>
          <p:cNvSpPr/>
          <p:nvPr/>
        </p:nvSpPr>
        <p:spPr>
          <a:xfrm>
            <a:off x="6117336" y="4069080"/>
            <a:ext cx="2788920" cy="914400"/>
          </a:xfrm>
          <a:prstGeom prst="rect">
            <a:avLst/>
          </a:prstGeom>
          <a:solidFill>
            <a:srgbClr val="FFFFFF"/>
          </a:solidFill>
          <a:ln w="12700">
            <a:solidFill>
              <a:srgbClr val="DDDDDD"/>
            </a:solidFill>
            <a:prstDash val="solid"/>
          </a:ln>
          <a:effectLst>
            <a:outerShdw blurRad="101600" dist="38100" dir="8100000" algn="bl" rotWithShape="0">
              <a:srgbClr val="000000">
                <a:alpha val="18000"/>
              </a:srgbClr>
            </a:outerShdw>
          </a:effectLst>
        </p:spPr>
        <p:txBody>
          <a:bodyPr/>
          <a:lstStyle/>
          <a:p>
            <a:endParaRPr lang="en-US"/>
          </a:p>
        </p:txBody>
      </p:sp>
      <p:sp>
        <p:nvSpPr>
          <p:cNvPr id="50" name="Shape 48"/>
          <p:cNvSpPr/>
          <p:nvPr/>
        </p:nvSpPr>
        <p:spPr>
          <a:xfrm>
            <a:off x="6117336" y="4069080"/>
            <a:ext cx="109728" cy="914400"/>
          </a:xfrm>
          <a:prstGeom prst="rect">
            <a:avLst/>
          </a:prstGeom>
          <a:solidFill>
            <a:srgbClr val="5D6D7E"/>
          </a:solidFill>
          <a:ln w="12700">
            <a:solidFill>
              <a:srgbClr val="5D6D7E"/>
            </a:solidFill>
            <a:prstDash val="solid"/>
          </a:ln>
        </p:spPr>
        <p:txBody>
          <a:bodyPr/>
          <a:lstStyle/>
          <a:p>
            <a:endParaRPr lang="en-US"/>
          </a:p>
        </p:txBody>
      </p:sp>
      <p:sp>
        <p:nvSpPr>
          <p:cNvPr id="51" name="Text 49"/>
          <p:cNvSpPr/>
          <p:nvPr/>
        </p:nvSpPr>
        <p:spPr>
          <a:xfrm>
            <a:off x="6300216" y="4114800"/>
            <a:ext cx="2560320" cy="34747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LUT_16_7 / Slow_Clk</a:t>
            </a:r>
            <a:endParaRPr lang="en-US" sz="1200" dirty="0"/>
          </a:p>
        </p:txBody>
      </p:sp>
      <p:sp>
        <p:nvSpPr>
          <p:cNvPr id="52" name="Text 50"/>
          <p:cNvSpPr/>
          <p:nvPr/>
        </p:nvSpPr>
        <p:spPr>
          <a:xfrm>
            <a:off x="6300216" y="4489704"/>
            <a:ext cx="2560320" cy="411480"/>
          </a:xfrm>
          <a:prstGeom prst="rect">
            <a:avLst/>
          </a:prstGeom>
          <a:noFill/>
          <a:ln/>
        </p:spPr>
        <p:txBody>
          <a:bodyPr wrap="square" lIns="0" tIns="0" rIns="0" bIns="0" rtlCol="0" anchor="ctr"/>
          <a:lstStyle/>
          <a:p>
            <a:pPr marL="0" indent="0">
              <a:buNone/>
            </a:pPr>
            <a:r>
              <a:rPr lang="en-US" sz="1050" dirty="0">
                <a:solidFill>
                  <a:srgbClr val="5D6D7E"/>
                </a:solidFill>
                <a:latin typeface="Calibri" pitchFamily="34" charset="0"/>
                <a:ea typeface="Calibri" pitchFamily="34" charset="-122"/>
                <a:cs typeface="Calibri" pitchFamily="34" charset="-120"/>
              </a:rPr>
              <a:t>7-seg display driver / clock divider</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name="Slide 1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E86C1"/>
          </a:solidFill>
          <a:ln w="12700">
            <a:solidFill>
              <a:srgbClr val="2E86C1"/>
            </a:solidFill>
            <a:prstDash val="solid"/>
          </a:ln>
        </p:spPr>
        <p:txBody>
          <a:bodyPr/>
          <a:lstStyle/>
          <a:p>
            <a:endParaRPr lang="en-US"/>
          </a:p>
        </p:txBody>
      </p:sp>
      <p:sp>
        <p:nvSpPr>
          <p:cNvPr id="3" name="Shape 1"/>
          <p:cNvSpPr/>
          <p:nvPr/>
        </p:nvSpPr>
        <p:spPr>
          <a:xfrm>
            <a:off x="0" y="0"/>
            <a:ext cx="9144000" cy="713232"/>
          </a:xfrm>
          <a:prstGeom prst="rect">
            <a:avLst/>
          </a:prstGeom>
          <a:solidFill>
            <a:srgbClr val="0D1B2A"/>
          </a:solidFill>
          <a:ln w="12700">
            <a:solidFill>
              <a:srgbClr val="0D1B2A"/>
            </a:solidFill>
            <a:prstDash val="solid"/>
          </a:ln>
        </p:spPr>
        <p:txBody>
          <a:bodyPr/>
          <a:lstStyle/>
          <a:p>
            <a:endParaRPr lang="en-US"/>
          </a:p>
        </p:txBody>
      </p:sp>
      <p:sp>
        <p:nvSpPr>
          <p:cNvPr id="4" name="Text 2"/>
          <p:cNvSpPr/>
          <p:nvPr/>
        </p:nvSpPr>
        <p:spPr>
          <a:xfrm>
            <a:off x="274320" y="73152"/>
            <a:ext cx="8595360"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Instruction Decoder — Brain of the Processor</a:t>
            </a:r>
            <a:endParaRPr lang="en-US" sz="2200" dirty="0"/>
          </a:p>
        </p:txBody>
      </p:sp>
      <p:sp>
        <p:nvSpPr>
          <p:cNvPr id="5" name="Text 3"/>
          <p:cNvSpPr/>
          <p:nvPr/>
        </p:nvSpPr>
        <p:spPr>
          <a:xfrm>
            <a:off x="274320" y="914400"/>
            <a:ext cx="8595360" cy="411480"/>
          </a:xfrm>
          <a:prstGeom prst="rect">
            <a:avLst/>
          </a:prstGeom>
          <a:noFill/>
          <a:ln/>
        </p:spPr>
        <p:txBody>
          <a:bodyPr wrap="square" rtlCol="0" anchor="ctr"/>
          <a:lstStyle/>
          <a:p>
            <a:pPr marL="0" indent="0">
              <a:buNone/>
            </a:pPr>
            <a:r>
              <a:rPr lang="en-US" sz="1300" i="1" dirty="0">
                <a:solidFill>
                  <a:srgbClr val="1A252F"/>
                </a:solidFill>
                <a:latin typeface="Calibri" pitchFamily="34" charset="0"/>
                <a:ea typeface="Calibri" pitchFamily="34" charset="-122"/>
                <a:cs typeface="Calibri" pitchFamily="34" charset="-120"/>
              </a:rPr>
              <a:t>The Instruction Decoder translates a 12-bit binary instruction into every control signal in the system.</a:t>
            </a:r>
            <a:endParaRPr lang="en-US" sz="1300" dirty="0"/>
          </a:p>
        </p:txBody>
      </p:sp>
      <p:sp>
        <p:nvSpPr>
          <p:cNvPr id="6" name="Shape 4"/>
          <p:cNvSpPr/>
          <p:nvPr/>
        </p:nvSpPr>
        <p:spPr>
          <a:xfrm>
            <a:off x="228600" y="1417320"/>
            <a:ext cx="2057400" cy="384048"/>
          </a:xfrm>
          <a:prstGeom prst="rect">
            <a:avLst/>
          </a:prstGeom>
          <a:solidFill>
            <a:srgbClr val="2E86C1"/>
          </a:solidFill>
          <a:ln w="12700">
            <a:solidFill>
              <a:srgbClr val="2E86C1"/>
            </a:solidFill>
            <a:prstDash val="solid"/>
          </a:ln>
        </p:spPr>
        <p:txBody>
          <a:bodyPr/>
          <a:lstStyle/>
          <a:p>
            <a:endParaRPr lang="en-US"/>
          </a:p>
        </p:txBody>
      </p:sp>
      <p:sp>
        <p:nvSpPr>
          <p:cNvPr id="7" name="Text 5"/>
          <p:cNvSpPr/>
          <p:nvPr/>
        </p:nvSpPr>
        <p:spPr>
          <a:xfrm>
            <a:off x="283464" y="1435608"/>
            <a:ext cx="19476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MOVI (10)</a:t>
            </a:r>
            <a:endParaRPr lang="en-US" sz="1300" dirty="0"/>
          </a:p>
        </p:txBody>
      </p:sp>
      <p:sp>
        <p:nvSpPr>
          <p:cNvPr id="8" name="Shape 6"/>
          <p:cNvSpPr/>
          <p:nvPr/>
        </p:nvSpPr>
        <p:spPr>
          <a:xfrm>
            <a:off x="228600" y="1828800"/>
            <a:ext cx="2057400" cy="3017520"/>
          </a:xfrm>
          <a:prstGeom prst="rect">
            <a:avLst/>
          </a:prstGeom>
          <a:solidFill>
            <a:srgbClr val="FFFFFF"/>
          </a:solidFill>
          <a:ln w="12700">
            <a:solidFill>
              <a:srgbClr val="DDDDDD"/>
            </a:solidFill>
            <a:prstDash val="solid"/>
          </a:ln>
          <a:effectLst>
            <a:outerShdw blurRad="101600" dist="38100" dir="8100000" algn="bl" rotWithShape="0">
              <a:srgbClr val="000000">
                <a:alpha val="18000"/>
              </a:srgbClr>
            </a:outerShdw>
          </a:effectLst>
        </p:spPr>
        <p:txBody>
          <a:bodyPr/>
          <a:lstStyle/>
          <a:p>
            <a:endParaRPr lang="en-US"/>
          </a:p>
        </p:txBody>
      </p:sp>
      <p:sp>
        <p:nvSpPr>
          <p:cNvPr id="9" name="Text 7"/>
          <p:cNvSpPr/>
          <p:nvPr/>
        </p:nvSpPr>
        <p:spPr>
          <a:xfrm>
            <a:off x="320040" y="1920240"/>
            <a:ext cx="1874520" cy="502920"/>
          </a:xfrm>
          <a:prstGeom prst="rect">
            <a:avLst/>
          </a:prstGeom>
          <a:noFill/>
          <a:ln/>
        </p:spPr>
        <p:txBody>
          <a:bodyPr wrap="square" lIns="0" tIns="0" rIns="0" bIns="0" rtlCol="0" anchor="ctr"/>
          <a:lstStyle/>
          <a:p>
            <a:pPr marL="0" indent="0">
              <a:buNone/>
            </a:pPr>
            <a:r>
              <a:rPr lang="en-US" sz="1050" dirty="0">
                <a:solidFill>
                  <a:srgbClr val="1A252F"/>
                </a:solidFill>
                <a:latin typeface="Courier New" pitchFamily="34" charset="0"/>
                <a:ea typeface="Courier New" pitchFamily="34" charset="-122"/>
                <a:cs typeface="Courier New" pitchFamily="34" charset="-120"/>
              </a:rPr>
              <a:t>Reg_en ← inst[9:7]</a:t>
            </a:r>
            <a:endParaRPr lang="en-US" sz="1050" dirty="0"/>
          </a:p>
        </p:txBody>
      </p:sp>
      <p:sp>
        <p:nvSpPr>
          <p:cNvPr id="10" name="Text 8"/>
          <p:cNvSpPr/>
          <p:nvPr/>
        </p:nvSpPr>
        <p:spPr>
          <a:xfrm>
            <a:off x="320040" y="2468880"/>
            <a:ext cx="1874520" cy="502920"/>
          </a:xfrm>
          <a:prstGeom prst="rect">
            <a:avLst/>
          </a:prstGeom>
          <a:noFill/>
          <a:ln/>
        </p:spPr>
        <p:txBody>
          <a:bodyPr wrap="square" lIns="0" tIns="0" rIns="0" bIns="0" rtlCol="0" anchor="ctr"/>
          <a:lstStyle/>
          <a:p>
            <a:pPr marL="0" indent="0">
              <a:buNone/>
            </a:pPr>
            <a:r>
              <a:rPr lang="en-US" sz="1050" dirty="0">
                <a:solidFill>
                  <a:srgbClr val="1A252F"/>
                </a:solidFill>
                <a:latin typeface="Courier New" pitchFamily="34" charset="0"/>
                <a:ea typeface="Courier New" pitchFamily="34" charset="-122"/>
                <a:cs typeface="Courier New" pitchFamily="34" charset="-120"/>
              </a:rPr>
              <a:t>Load_sel ← '1'</a:t>
            </a:r>
            <a:endParaRPr lang="en-US" sz="1050" dirty="0"/>
          </a:p>
        </p:txBody>
      </p:sp>
      <p:sp>
        <p:nvSpPr>
          <p:cNvPr id="11" name="Text 9"/>
          <p:cNvSpPr/>
          <p:nvPr/>
        </p:nvSpPr>
        <p:spPr>
          <a:xfrm>
            <a:off x="320040" y="3017520"/>
            <a:ext cx="1874520" cy="502920"/>
          </a:xfrm>
          <a:prstGeom prst="rect">
            <a:avLst/>
          </a:prstGeom>
          <a:noFill/>
          <a:ln/>
        </p:spPr>
        <p:txBody>
          <a:bodyPr wrap="square" lIns="0" tIns="0" rIns="0" bIns="0" rtlCol="0" anchor="ctr"/>
          <a:lstStyle/>
          <a:p>
            <a:pPr marL="0" indent="0">
              <a:buNone/>
            </a:pPr>
            <a:r>
              <a:rPr lang="en-US" sz="1050" dirty="0">
                <a:solidFill>
                  <a:srgbClr val="1A252F"/>
                </a:solidFill>
                <a:latin typeface="Courier New" pitchFamily="34" charset="0"/>
                <a:ea typeface="Courier New" pitchFamily="34" charset="-122"/>
                <a:cs typeface="Courier New" pitchFamily="34" charset="-120"/>
              </a:rPr>
              <a:t>Imd_Val ← inst[3:0]</a:t>
            </a:r>
            <a:endParaRPr lang="en-US" sz="1050" dirty="0"/>
          </a:p>
        </p:txBody>
      </p:sp>
      <p:sp>
        <p:nvSpPr>
          <p:cNvPr id="12" name="Text 10"/>
          <p:cNvSpPr/>
          <p:nvPr/>
        </p:nvSpPr>
        <p:spPr>
          <a:xfrm>
            <a:off x="320040" y="3566160"/>
            <a:ext cx="1874520" cy="502920"/>
          </a:xfrm>
          <a:prstGeom prst="rect">
            <a:avLst/>
          </a:prstGeom>
          <a:noFill/>
          <a:ln/>
        </p:spPr>
        <p:txBody>
          <a:bodyPr wrap="square" lIns="0" tIns="0" rIns="0" bIns="0" rtlCol="0" anchor="ctr"/>
          <a:lstStyle/>
          <a:p>
            <a:pPr marL="0" indent="0">
              <a:buNone/>
            </a:pPr>
            <a:r>
              <a:rPr lang="en-US" sz="1050" b="1" dirty="0">
                <a:solidFill>
                  <a:srgbClr val="2E86C1"/>
                </a:solidFill>
                <a:latin typeface="Courier New" pitchFamily="34" charset="0"/>
                <a:ea typeface="Courier New" pitchFamily="34" charset="-122"/>
                <a:cs typeface="Courier New" pitchFamily="34" charset="-120"/>
              </a:rPr>
              <a:t>→ MUX passes immediate</a:t>
            </a:r>
            <a:endParaRPr lang="en-US" sz="1050" dirty="0"/>
          </a:p>
        </p:txBody>
      </p:sp>
      <p:sp>
        <p:nvSpPr>
          <p:cNvPr id="13" name="Text 11"/>
          <p:cNvSpPr/>
          <p:nvPr/>
        </p:nvSpPr>
        <p:spPr>
          <a:xfrm>
            <a:off x="320040" y="4114800"/>
            <a:ext cx="1874520" cy="502920"/>
          </a:xfrm>
          <a:prstGeom prst="rect">
            <a:avLst/>
          </a:prstGeom>
          <a:noFill/>
          <a:ln/>
        </p:spPr>
        <p:txBody>
          <a:bodyPr wrap="square" lIns="0" tIns="0" rIns="0" bIns="0" rtlCol="0" anchor="ctr"/>
          <a:lstStyle/>
          <a:p>
            <a:pPr marL="0" indent="0">
              <a:buNone/>
            </a:pPr>
            <a:r>
              <a:rPr lang="en-US" sz="1050" dirty="0">
                <a:solidFill>
                  <a:srgbClr val="1A252F"/>
                </a:solidFill>
                <a:latin typeface="Courier New" pitchFamily="34" charset="0"/>
                <a:ea typeface="Courier New" pitchFamily="34" charset="-122"/>
                <a:cs typeface="Courier New" pitchFamily="34" charset="-120"/>
              </a:rPr>
              <a:t>  to register, bypasses ALU</a:t>
            </a:r>
            <a:endParaRPr lang="en-US" sz="1050" dirty="0"/>
          </a:p>
        </p:txBody>
      </p:sp>
      <p:sp>
        <p:nvSpPr>
          <p:cNvPr id="14" name="Shape 12"/>
          <p:cNvSpPr/>
          <p:nvPr/>
        </p:nvSpPr>
        <p:spPr>
          <a:xfrm>
            <a:off x="2423160" y="1417320"/>
            <a:ext cx="2057400" cy="384048"/>
          </a:xfrm>
          <a:prstGeom prst="rect">
            <a:avLst/>
          </a:prstGeom>
          <a:solidFill>
            <a:srgbClr val="1E8449"/>
          </a:solidFill>
          <a:ln w="12700">
            <a:solidFill>
              <a:srgbClr val="1E8449"/>
            </a:solidFill>
            <a:prstDash val="solid"/>
          </a:ln>
        </p:spPr>
        <p:txBody>
          <a:bodyPr/>
          <a:lstStyle/>
          <a:p>
            <a:endParaRPr lang="en-US"/>
          </a:p>
        </p:txBody>
      </p:sp>
      <p:sp>
        <p:nvSpPr>
          <p:cNvPr id="15" name="Text 13"/>
          <p:cNvSpPr/>
          <p:nvPr/>
        </p:nvSpPr>
        <p:spPr>
          <a:xfrm>
            <a:off x="2478024" y="1435608"/>
            <a:ext cx="19476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ADD (00)</a:t>
            </a:r>
            <a:endParaRPr lang="en-US" sz="1300" dirty="0"/>
          </a:p>
        </p:txBody>
      </p:sp>
      <p:sp>
        <p:nvSpPr>
          <p:cNvPr id="16" name="Shape 14"/>
          <p:cNvSpPr/>
          <p:nvPr/>
        </p:nvSpPr>
        <p:spPr>
          <a:xfrm>
            <a:off x="2423160" y="1828800"/>
            <a:ext cx="2057400" cy="3017520"/>
          </a:xfrm>
          <a:prstGeom prst="rect">
            <a:avLst/>
          </a:prstGeom>
          <a:solidFill>
            <a:srgbClr val="FFFFFF"/>
          </a:solidFill>
          <a:ln w="12700">
            <a:solidFill>
              <a:srgbClr val="DDDDDD"/>
            </a:solidFill>
            <a:prstDash val="solid"/>
          </a:ln>
          <a:effectLst>
            <a:outerShdw blurRad="101600" dist="38100" dir="8100000" algn="bl" rotWithShape="0">
              <a:srgbClr val="000000">
                <a:alpha val="18000"/>
              </a:srgbClr>
            </a:outerShdw>
          </a:effectLst>
        </p:spPr>
        <p:txBody>
          <a:bodyPr/>
          <a:lstStyle/>
          <a:p>
            <a:endParaRPr lang="en-US"/>
          </a:p>
        </p:txBody>
      </p:sp>
      <p:sp>
        <p:nvSpPr>
          <p:cNvPr id="17" name="Text 15"/>
          <p:cNvSpPr/>
          <p:nvPr/>
        </p:nvSpPr>
        <p:spPr>
          <a:xfrm>
            <a:off x="2514600" y="1920240"/>
            <a:ext cx="1874520" cy="502920"/>
          </a:xfrm>
          <a:prstGeom prst="rect">
            <a:avLst/>
          </a:prstGeom>
          <a:noFill/>
          <a:ln/>
        </p:spPr>
        <p:txBody>
          <a:bodyPr wrap="square" lIns="0" tIns="0" rIns="0" bIns="0" rtlCol="0" anchor="ctr"/>
          <a:lstStyle/>
          <a:p>
            <a:pPr marL="0" indent="0">
              <a:buNone/>
            </a:pPr>
            <a:r>
              <a:rPr lang="en-US" sz="1050" dirty="0">
                <a:solidFill>
                  <a:srgbClr val="1A252F"/>
                </a:solidFill>
                <a:latin typeface="Courier New" pitchFamily="34" charset="0"/>
                <a:ea typeface="Courier New" pitchFamily="34" charset="-122"/>
                <a:cs typeface="Courier New" pitchFamily="34" charset="-120"/>
              </a:rPr>
              <a:t>Reg_en ← inst[9:7]</a:t>
            </a:r>
            <a:endParaRPr lang="en-US" sz="1050" dirty="0"/>
          </a:p>
        </p:txBody>
      </p:sp>
      <p:sp>
        <p:nvSpPr>
          <p:cNvPr id="18" name="Text 16"/>
          <p:cNvSpPr/>
          <p:nvPr/>
        </p:nvSpPr>
        <p:spPr>
          <a:xfrm>
            <a:off x="2514600" y="2468880"/>
            <a:ext cx="1874520" cy="502920"/>
          </a:xfrm>
          <a:prstGeom prst="rect">
            <a:avLst/>
          </a:prstGeom>
          <a:noFill/>
          <a:ln/>
        </p:spPr>
        <p:txBody>
          <a:bodyPr wrap="square" lIns="0" tIns="0" rIns="0" bIns="0" rtlCol="0" anchor="ctr"/>
          <a:lstStyle/>
          <a:p>
            <a:pPr marL="0" indent="0">
              <a:buNone/>
            </a:pPr>
            <a:r>
              <a:rPr lang="en-US" sz="1050" dirty="0">
                <a:solidFill>
                  <a:srgbClr val="1A252F"/>
                </a:solidFill>
                <a:latin typeface="Courier New" pitchFamily="34" charset="0"/>
                <a:ea typeface="Courier New" pitchFamily="34" charset="-122"/>
                <a:cs typeface="Courier New" pitchFamily="34" charset="-120"/>
              </a:rPr>
              <a:t>Load_sel ← '0'</a:t>
            </a:r>
            <a:endParaRPr lang="en-US" sz="1050" dirty="0"/>
          </a:p>
        </p:txBody>
      </p:sp>
      <p:sp>
        <p:nvSpPr>
          <p:cNvPr id="19" name="Text 17"/>
          <p:cNvSpPr/>
          <p:nvPr/>
        </p:nvSpPr>
        <p:spPr>
          <a:xfrm>
            <a:off x="2514600" y="3017520"/>
            <a:ext cx="1874520" cy="502920"/>
          </a:xfrm>
          <a:prstGeom prst="rect">
            <a:avLst/>
          </a:prstGeom>
          <a:noFill/>
          <a:ln/>
        </p:spPr>
        <p:txBody>
          <a:bodyPr wrap="square" lIns="0" tIns="0" rIns="0" bIns="0" rtlCol="0" anchor="ctr"/>
          <a:lstStyle/>
          <a:p>
            <a:pPr marL="0" indent="0">
              <a:buNone/>
            </a:pPr>
            <a:r>
              <a:rPr lang="en-US" sz="1050" dirty="0">
                <a:solidFill>
                  <a:srgbClr val="1A252F"/>
                </a:solidFill>
                <a:latin typeface="Courier New" pitchFamily="34" charset="0"/>
                <a:ea typeface="Courier New" pitchFamily="34" charset="-122"/>
                <a:cs typeface="Courier New" pitchFamily="34" charset="-120"/>
              </a:rPr>
              <a:t>Reg_Sel_A ← inst[9:7]</a:t>
            </a:r>
            <a:endParaRPr lang="en-US" sz="1050" dirty="0"/>
          </a:p>
        </p:txBody>
      </p:sp>
      <p:sp>
        <p:nvSpPr>
          <p:cNvPr id="20" name="Text 18"/>
          <p:cNvSpPr/>
          <p:nvPr/>
        </p:nvSpPr>
        <p:spPr>
          <a:xfrm>
            <a:off x="2514600" y="3566160"/>
            <a:ext cx="1874520" cy="502920"/>
          </a:xfrm>
          <a:prstGeom prst="rect">
            <a:avLst/>
          </a:prstGeom>
          <a:noFill/>
          <a:ln/>
        </p:spPr>
        <p:txBody>
          <a:bodyPr wrap="square" lIns="0" tIns="0" rIns="0" bIns="0" rtlCol="0" anchor="ctr"/>
          <a:lstStyle/>
          <a:p>
            <a:pPr marL="0" indent="0">
              <a:buNone/>
            </a:pPr>
            <a:r>
              <a:rPr lang="en-US" sz="1050" dirty="0">
                <a:solidFill>
                  <a:srgbClr val="1A252F"/>
                </a:solidFill>
                <a:latin typeface="Courier New" pitchFamily="34" charset="0"/>
                <a:ea typeface="Courier New" pitchFamily="34" charset="-122"/>
                <a:cs typeface="Courier New" pitchFamily="34" charset="-120"/>
              </a:rPr>
              <a:t>Reg_Sel_B ← inst[6:4]</a:t>
            </a:r>
            <a:endParaRPr lang="en-US" sz="1050" dirty="0"/>
          </a:p>
        </p:txBody>
      </p:sp>
      <p:sp>
        <p:nvSpPr>
          <p:cNvPr id="21" name="Text 19"/>
          <p:cNvSpPr/>
          <p:nvPr/>
        </p:nvSpPr>
        <p:spPr>
          <a:xfrm>
            <a:off x="2514600" y="4114800"/>
            <a:ext cx="1874520" cy="502920"/>
          </a:xfrm>
          <a:prstGeom prst="rect">
            <a:avLst/>
          </a:prstGeom>
          <a:noFill/>
          <a:ln/>
        </p:spPr>
        <p:txBody>
          <a:bodyPr wrap="square" lIns="0" tIns="0" rIns="0" bIns="0" rtlCol="0" anchor="ctr"/>
          <a:lstStyle/>
          <a:p>
            <a:pPr marL="0" indent="0">
              <a:buNone/>
            </a:pPr>
            <a:r>
              <a:rPr lang="en-US" sz="1050" b="1" dirty="0">
                <a:solidFill>
                  <a:srgbClr val="1E8449"/>
                </a:solidFill>
                <a:latin typeface="Courier New" pitchFamily="34" charset="0"/>
                <a:ea typeface="Courier New" pitchFamily="34" charset="-122"/>
                <a:cs typeface="Courier New" pitchFamily="34" charset="-120"/>
              </a:rPr>
              <a:t>→ MUX passes ALU result</a:t>
            </a:r>
            <a:endParaRPr lang="en-US" sz="1050" dirty="0"/>
          </a:p>
        </p:txBody>
      </p:sp>
      <p:sp>
        <p:nvSpPr>
          <p:cNvPr id="22" name="Shape 20"/>
          <p:cNvSpPr/>
          <p:nvPr/>
        </p:nvSpPr>
        <p:spPr>
          <a:xfrm>
            <a:off x="4617720" y="1417320"/>
            <a:ext cx="2057400" cy="384048"/>
          </a:xfrm>
          <a:prstGeom prst="rect">
            <a:avLst/>
          </a:prstGeom>
          <a:solidFill>
            <a:srgbClr val="D35400"/>
          </a:solidFill>
          <a:ln w="12700">
            <a:solidFill>
              <a:srgbClr val="D35400"/>
            </a:solidFill>
            <a:prstDash val="solid"/>
          </a:ln>
        </p:spPr>
        <p:txBody>
          <a:bodyPr/>
          <a:lstStyle/>
          <a:p>
            <a:endParaRPr lang="en-US"/>
          </a:p>
        </p:txBody>
      </p:sp>
      <p:sp>
        <p:nvSpPr>
          <p:cNvPr id="23" name="Text 21"/>
          <p:cNvSpPr/>
          <p:nvPr/>
        </p:nvSpPr>
        <p:spPr>
          <a:xfrm>
            <a:off x="4672584" y="1435608"/>
            <a:ext cx="19476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NEG (01)</a:t>
            </a:r>
            <a:endParaRPr lang="en-US" sz="1300" dirty="0"/>
          </a:p>
        </p:txBody>
      </p:sp>
      <p:sp>
        <p:nvSpPr>
          <p:cNvPr id="24" name="Shape 22"/>
          <p:cNvSpPr/>
          <p:nvPr/>
        </p:nvSpPr>
        <p:spPr>
          <a:xfrm>
            <a:off x="4617720" y="1828800"/>
            <a:ext cx="2057400" cy="3017520"/>
          </a:xfrm>
          <a:prstGeom prst="rect">
            <a:avLst/>
          </a:prstGeom>
          <a:solidFill>
            <a:srgbClr val="FFFFFF"/>
          </a:solidFill>
          <a:ln w="12700">
            <a:solidFill>
              <a:srgbClr val="DDDDDD"/>
            </a:solidFill>
            <a:prstDash val="solid"/>
          </a:ln>
          <a:effectLst>
            <a:outerShdw blurRad="101600" dist="38100" dir="8100000" algn="bl" rotWithShape="0">
              <a:srgbClr val="000000">
                <a:alpha val="18000"/>
              </a:srgbClr>
            </a:outerShdw>
          </a:effectLst>
        </p:spPr>
        <p:txBody>
          <a:bodyPr/>
          <a:lstStyle/>
          <a:p>
            <a:endParaRPr lang="en-US"/>
          </a:p>
        </p:txBody>
      </p:sp>
      <p:sp>
        <p:nvSpPr>
          <p:cNvPr id="25" name="Text 23"/>
          <p:cNvSpPr/>
          <p:nvPr/>
        </p:nvSpPr>
        <p:spPr>
          <a:xfrm>
            <a:off x="4709160" y="1920240"/>
            <a:ext cx="1874520" cy="502920"/>
          </a:xfrm>
          <a:prstGeom prst="rect">
            <a:avLst/>
          </a:prstGeom>
          <a:noFill/>
          <a:ln/>
        </p:spPr>
        <p:txBody>
          <a:bodyPr wrap="square" lIns="0" tIns="0" rIns="0" bIns="0" rtlCol="0" anchor="ctr"/>
          <a:lstStyle/>
          <a:p>
            <a:pPr marL="0" indent="0">
              <a:buNone/>
            </a:pPr>
            <a:r>
              <a:rPr lang="en-US" sz="1050" dirty="0">
                <a:solidFill>
                  <a:srgbClr val="1A252F"/>
                </a:solidFill>
                <a:latin typeface="Courier New" pitchFamily="34" charset="0"/>
                <a:ea typeface="Courier New" pitchFamily="34" charset="-122"/>
                <a:cs typeface="Courier New" pitchFamily="34" charset="-120"/>
              </a:rPr>
              <a:t>Reg_en ← inst[9:7]</a:t>
            </a:r>
            <a:endParaRPr lang="en-US" sz="1050" dirty="0"/>
          </a:p>
        </p:txBody>
      </p:sp>
      <p:sp>
        <p:nvSpPr>
          <p:cNvPr id="26" name="Text 24"/>
          <p:cNvSpPr/>
          <p:nvPr/>
        </p:nvSpPr>
        <p:spPr>
          <a:xfrm>
            <a:off x="4709160" y="2468880"/>
            <a:ext cx="1874520" cy="502920"/>
          </a:xfrm>
          <a:prstGeom prst="rect">
            <a:avLst/>
          </a:prstGeom>
          <a:noFill/>
          <a:ln/>
        </p:spPr>
        <p:txBody>
          <a:bodyPr wrap="square" lIns="0" tIns="0" rIns="0" bIns="0" rtlCol="0" anchor="ctr"/>
          <a:lstStyle/>
          <a:p>
            <a:pPr marL="0" indent="0">
              <a:buNone/>
            </a:pPr>
            <a:r>
              <a:rPr lang="en-US" sz="1050" dirty="0">
                <a:solidFill>
                  <a:srgbClr val="1A252F"/>
                </a:solidFill>
                <a:latin typeface="Courier New" pitchFamily="34" charset="0"/>
                <a:ea typeface="Courier New" pitchFamily="34" charset="-122"/>
                <a:cs typeface="Courier New" pitchFamily="34" charset="-120"/>
              </a:rPr>
              <a:t>Load_sel ← '0'</a:t>
            </a:r>
            <a:endParaRPr lang="en-US" sz="1050" dirty="0"/>
          </a:p>
        </p:txBody>
      </p:sp>
      <p:sp>
        <p:nvSpPr>
          <p:cNvPr id="27" name="Text 25"/>
          <p:cNvSpPr/>
          <p:nvPr/>
        </p:nvSpPr>
        <p:spPr>
          <a:xfrm>
            <a:off x="4709160" y="3017520"/>
            <a:ext cx="1874520" cy="502920"/>
          </a:xfrm>
          <a:prstGeom prst="rect">
            <a:avLst/>
          </a:prstGeom>
          <a:noFill/>
          <a:ln/>
        </p:spPr>
        <p:txBody>
          <a:bodyPr wrap="square" lIns="0" tIns="0" rIns="0" bIns="0" rtlCol="0" anchor="ctr"/>
          <a:lstStyle/>
          <a:p>
            <a:pPr marL="0" indent="0">
              <a:buNone/>
            </a:pPr>
            <a:r>
              <a:rPr lang="en-US" sz="1050" dirty="0">
                <a:solidFill>
                  <a:srgbClr val="1A252F"/>
                </a:solidFill>
                <a:latin typeface="Courier New" pitchFamily="34" charset="0"/>
                <a:ea typeface="Courier New" pitchFamily="34" charset="-122"/>
                <a:cs typeface="Courier New" pitchFamily="34" charset="-120"/>
              </a:rPr>
              <a:t>Reg_Sel_A ← "000" (R0=0)</a:t>
            </a:r>
            <a:endParaRPr lang="en-US" sz="1050" dirty="0"/>
          </a:p>
        </p:txBody>
      </p:sp>
      <p:sp>
        <p:nvSpPr>
          <p:cNvPr id="28" name="Text 26"/>
          <p:cNvSpPr/>
          <p:nvPr/>
        </p:nvSpPr>
        <p:spPr>
          <a:xfrm>
            <a:off x="4709160" y="3566160"/>
            <a:ext cx="1874520" cy="502920"/>
          </a:xfrm>
          <a:prstGeom prst="rect">
            <a:avLst/>
          </a:prstGeom>
          <a:noFill/>
          <a:ln/>
        </p:spPr>
        <p:txBody>
          <a:bodyPr wrap="square" lIns="0" tIns="0" rIns="0" bIns="0" rtlCol="0" anchor="ctr"/>
          <a:lstStyle/>
          <a:p>
            <a:pPr marL="0" indent="0">
              <a:buNone/>
            </a:pPr>
            <a:r>
              <a:rPr lang="en-US" sz="1050" dirty="0">
                <a:solidFill>
                  <a:srgbClr val="1A252F"/>
                </a:solidFill>
                <a:latin typeface="Courier New" pitchFamily="34" charset="0"/>
                <a:ea typeface="Courier New" pitchFamily="34" charset="-122"/>
                <a:cs typeface="Courier New" pitchFamily="34" charset="-120"/>
              </a:rPr>
              <a:t>Add_Sub_Sel ← '1'</a:t>
            </a:r>
            <a:endParaRPr lang="en-US" sz="1050" dirty="0"/>
          </a:p>
        </p:txBody>
      </p:sp>
      <p:sp>
        <p:nvSpPr>
          <p:cNvPr id="29" name="Text 27"/>
          <p:cNvSpPr/>
          <p:nvPr/>
        </p:nvSpPr>
        <p:spPr>
          <a:xfrm>
            <a:off x="4709160" y="4114800"/>
            <a:ext cx="1874520" cy="502920"/>
          </a:xfrm>
          <a:prstGeom prst="rect">
            <a:avLst/>
          </a:prstGeom>
          <a:noFill/>
          <a:ln/>
        </p:spPr>
        <p:txBody>
          <a:bodyPr wrap="square" lIns="0" tIns="0" rIns="0" bIns="0" rtlCol="0" anchor="ctr"/>
          <a:lstStyle/>
          <a:p>
            <a:pPr marL="0" indent="0">
              <a:buNone/>
            </a:pPr>
            <a:r>
              <a:rPr lang="en-US" sz="1050" b="1" dirty="0">
                <a:solidFill>
                  <a:srgbClr val="D35400"/>
                </a:solidFill>
                <a:latin typeface="Courier New" pitchFamily="34" charset="0"/>
                <a:ea typeface="Courier New" pitchFamily="34" charset="-122"/>
                <a:cs typeface="Courier New" pitchFamily="34" charset="-120"/>
              </a:rPr>
              <a:t>→ ALU: 0 − R = −R</a:t>
            </a:r>
            <a:endParaRPr lang="en-US" sz="1050" dirty="0"/>
          </a:p>
        </p:txBody>
      </p:sp>
      <p:sp>
        <p:nvSpPr>
          <p:cNvPr id="30" name="Shape 28"/>
          <p:cNvSpPr/>
          <p:nvPr/>
        </p:nvSpPr>
        <p:spPr>
          <a:xfrm>
            <a:off x="6812280" y="1417320"/>
            <a:ext cx="2057400" cy="384048"/>
          </a:xfrm>
          <a:prstGeom prst="rect">
            <a:avLst/>
          </a:prstGeom>
          <a:solidFill>
            <a:srgbClr val="6C3483"/>
          </a:solidFill>
          <a:ln w="12700">
            <a:solidFill>
              <a:srgbClr val="6C3483"/>
            </a:solidFill>
            <a:prstDash val="solid"/>
          </a:ln>
        </p:spPr>
        <p:txBody>
          <a:bodyPr/>
          <a:lstStyle/>
          <a:p>
            <a:endParaRPr lang="en-US"/>
          </a:p>
        </p:txBody>
      </p:sp>
      <p:sp>
        <p:nvSpPr>
          <p:cNvPr id="31" name="Text 29"/>
          <p:cNvSpPr/>
          <p:nvPr/>
        </p:nvSpPr>
        <p:spPr>
          <a:xfrm>
            <a:off x="6867144" y="1435608"/>
            <a:ext cx="19476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JZR (11)</a:t>
            </a:r>
            <a:endParaRPr lang="en-US" sz="1300" dirty="0"/>
          </a:p>
        </p:txBody>
      </p:sp>
      <p:sp>
        <p:nvSpPr>
          <p:cNvPr id="32" name="Shape 30"/>
          <p:cNvSpPr/>
          <p:nvPr/>
        </p:nvSpPr>
        <p:spPr>
          <a:xfrm>
            <a:off x="6812280" y="1828800"/>
            <a:ext cx="2057400" cy="3017520"/>
          </a:xfrm>
          <a:prstGeom prst="rect">
            <a:avLst/>
          </a:prstGeom>
          <a:solidFill>
            <a:srgbClr val="FFFFFF"/>
          </a:solidFill>
          <a:ln w="12700">
            <a:solidFill>
              <a:srgbClr val="DDDDDD"/>
            </a:solidFill>
            <a:prstDash val="solid"/>
          </a:ln>
          <a:effectLst>
            <a:outerShdw blurRad="101600" dist="38100" dir="8100000" algn="bl" rotWithShape="0">
              <a:srgbClr val="000000">
                <a:alpha val="18000"/>
              </a:srgbClr>
            </a:outerShdw>
          </a:effectLst>
        </p:spPr>
        <p:txBody>
          <a:bodyPr/>
          <a:lstStyle/>
          <a:p>
            <a:endParaRPr lang="en-US"/>
          </a:p>
        </p:txBody>
      </p:sp>
      <p:sp>
        <p:nvSpPr>
          <p:cNvPr id="33" name="Text 31"/>
          <p:cNvSpPr/>
          <p:nvPr/>
        </p:nvSpPr>
        <p:spPr>
          <a:xfrm>
            <a:off x="6903720" y="1920240"/>
            <a:ext cx="1874520" cy="502920"/>
          </a:xfrm>
          <a:prstGeom prst="rect">
            <a:avLst/>
          </a:prstGeom>
          <a:noFill/>
          <a:ln/>
        </p:spPr>
        <p:txBody>
          <a:bodyPr wrap="square" lIns="0" tIns="0" rIns="0" bIns="0" rtlCol="0" anchor="ctr"/>
          <a:lstStyle/>
          <a:p>
            <a:pPr marL="0" indent="0">
              <a:buNone/>
            </a:pPr>
            <a:r>
              <a:rPr lang="en-US" sz="1050" dirty="0">
                <a:solidFill>
                  <a:srgbClr val="1A252F"/>
                </a:solidFill>
                <a:latin typeface="Courier New" pitchFamily="34" charset="0"/>
                <a:ea typeface="Courier New" pitchFamily="34" charset="-122"/>
                <a:cs typeface="Courier New" pitchFamily="34" charset="-120"/>
              </a:rPr>
              <a:t>Reg_Sel_A ← inst[9:7]</a:t>
            </a:r>
            <a:endParaRPr lang="en-US" sz="1050" dirty="0"/>
          </a:p>
        </p:txBody>
      </p:sp>
      <p:sp>
        <p:nvSpPr>
          <p:cNvPr id="34" name="Text 32"/>
          <p:cNvSpPr/>
          <p:nvPr/>
        </p:nvSpPr>
        <p:spPr>
          <a:xfrm>
            <a:off x="6903720" y="2468880"/>
            <a:ext cx="1874520" cy="502920"/>
          </a:xfrm>
          <a:prstGeom prst="rect">
            <a:avLst/>
          </a:prstGeom>
          <a:noFill/>
          <a:ln/>
        </p:spPr>
        <p:txBody>
          <a:bodyPr wrap="square" lIns="0" tIns="0" rIns="0" bIns="0" rtlCol="0" anchor="ctr"/>
          <a:lstStyle/>
          <a:p>
            <a:pPr marL="0" indent="0">
              <a:buNone/>
            </a:pPr>
            <a:r>
              <a:rPr lang="en-US" sz="1050" dirty="0">
                <a:solidFill>
                  <a:srgbClr val="1A252F"/>
                </a:solidFill>
                <a:latin typeface="Courier New" pitchFamily="34" charset="0"/>
                <a:ea typeface="Courier New" pitchFamily="34" charset="-122"/>
                <a:cs typeface="Courier New" pitchFamily="34" charset="-120"/>
              </a:rPr>
              <a:t>Jump_address ← inst[2:0]</a:t>
            </a:r>
            <a:endParaRPr lang="en-US" sz="1050" dirty="0"/>
          </a:p>
        </p:txBody>
      </p:sp>
      <p:sp>
        <p:nvSpPr>
          <p:cNvPr id="35" name="Text 33"/>
          <p:cNvSpPr/>
          <p:nvPr/>
        </p:nvSpPr>
        <p:spPr>
          <a:xfrm>
            <a:off x="6903720" y="3017520"/>
            <a:ext cx="1874520" cy="502920"/>
          </a:xfrm>
          <a:prstGeom prst="rect">
            <a:avLst/>
          </a:prstGeom>
          <a:noFill/>
          <a:ln/>
        </p:spPr>
        <p:txBody>
          <a:bodyPr wrap="square" lIns="0" tIns="0" rIns="0" bIns="0" rtlCol="0" anchor="ctr"/>
          <a:lstStyle/>
          <a:p>
            <a:pPr marL="0" indent="0">
              <a:buNone/>
            </a:pPr>
            <a:r>
              <a:rPr lang="en-US" sz="1050" dirty="0">
                <a:solidFill>
                  <a:srgbClr val="1A252F"/>
                </a:solidFill>
                <a:latin typeface="Courier New" pitchFamily="34" charset="0"/>
                <a:ea typeface="Courier New" pitchFamily="34" charset="-122"/>
                <a:cs typeface="Courier New" pitchFamily="34" charset="-120"/>
              </a:rPr>
              <a:t>Reg_Check_Jmp ← Mux_A_out</a:t>
            </a:r>
            <a:endParaRPr lang="en-US" sz="1050" dirty="0"/>
          </a:p>
        </p:txBody>
      </p:sp>
      <p:sp>
        <p:nvSpPr>
          <p:cNvPr id="36" name="Text 34"/>
          <p:cNvSpPr/>
          <p:nvPr/>
        </p:nvSpPr>
        <p:spPr>
          <a:xfrm>
            <a:off x="6903720" y="3566160"/>
            <a:ext cx="1874520" cy="502920"/>
          </a:xfrm>
          <a:prstGeom prst="rect">
            <a:avLst/>
          </a:prstGeom>
          <a:noFill/>
          <a:ln/>
        </p:spPr>
        <p:txBody>
          <a:bodyPr wrap="square" lIns="0" tIns="0" rIns="0" bIns="0" rtlCol="0" anchor="ctr"/>
          <a:lstStyle/>
          <a:p>
            <a:pPr marL="0" indent="0">
              <a:buNone/>
            </a:pPr>
            <a:r>
              <a:rPr lang="en-US" sz="1050" dirty="0">
                <a:solidFill>
                  <a:srgbClr val="1A252F"/>
                </a:solidFill>
                <a:latin typeface="Courier New" pitchFamily="34" charset="0"/>
                <a:ea typeface="Courier New" pitchFamily="34" charset="-122"/>
                <a:cs typeface="Courier New" pitchFamily="34" charset="-120"/>
              </a:rPr>
              <a:t>If Mux_A_out=0000:</a:t>
            </a:r>
            <a:endParaRPr lang="en-US" sz="1050" dirty="0"/>
          </a:p>
        </p:txBody>
      </p:sp>
      <p:sp>
        <p:nvSpPr>
          <p:cNvPr id="37" name="Text 35"/>
          <p:cNvSpPr/>
          <p:nvPr/>
        </p:nvSpPr>
        <p:spPr>
          <a:xfrm>
            <a:off x="6903720" y="4114800"/>
            <a:ext cx="1874520" cy="502920"/>
          </a:xfrm>
          <a:prstGeom prst="rect">
            <a:avLst/>
          </a:prstGeom>
          <a:noFill/>
          <a:ln/>
        </p:spPr>
        <p:txBody>
          <a:bodyPr wrap="square" lIns="0" tIns="0" rIns="0" bIns="0" rtlCol="0" anchor="ctr"/>
          <a:lstStyle/>
          <a:p>
            <a:pPr marL="0" indent="0">
              <a:buNone/>
            </a:pPr>
            <a:r>
              <a:rPr lang="en-US" sz="1050" dirty="0">
                <a:solidFill>
                  <a:srgbClr val="1A252F"/>
                </a:solidFill>
                <a:latin typeface="Courier New" pitchFamily="34" charset="0"/>
                <a:ea typeface="Courier New" pitchFamily="34" charset="-122"/>
                <a:cs typeface="Courier New" pitchFamily="34" charset="-120"/>
              </a:rPr>
              <a:t>   Jump_flag ← '1'</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name="Slide 1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E86C1"/>
          </a:solidFill>
          <a:ln w="12700">
            <a:solidFill>
              <a:srgbClr val="2E86C1"/>
            </a:solidFill>
            <a:prstDash val="solid"/>
          </a:ln>
        </p:spPr>
        <p:txBody>
          <a:bodyPr/>
          <a:lstStyle/>
          <a:p>
            <a:endParaRPr lang="en-US"/>
          </a:p>
        </p:txBody>
      </p:sp>
      <p:sp>
        <p:nvSpPr>
          <p:cNvPr id="3" name="Shape 1"/>
          <p:cNvSpPr/>
          <p:nvPr/>
        </p:nvSpPr>
        <p:spPr>
          <a:xfrm>
            <a:off x="0" y="0"/>
            <a:ext cx="9144000" cy="713232"/>
          </a:xfrm>
          <a:prstGeom prst="rect">
            <a:avLst/>
          </a:prstGeom>
          <a:solidFill>
            <a:srgbClr val="0D1B2A"/>
          </a:solidFill>
          <a:ln w="12700">
            <a:solidFill>
              <a:srgbClr val="0D1B2A"/>
            </a:solidFill>
            <a:prstDash val="solid"/>
          </a:ln>
        </p:spPr>
        <p:txBody>
          <a:bodyPr/>
          <a:lstStyle/>
          <a:p>
            <a:endParaRPr lang="en-US"/>
          </a:p>
        </p:txBody>
      </p:sp>
      <p:sp>
        <p:nvSpPr>
          <p:cNvPr id="4" name="Text 2"/>
          <p:cNvSpPr/>
          <p:nvPr/>
        </p:nvSpPr>
        <p:spPr>
          <a:xfrm>
            <a:off x="274320" y="73152"/>
            <a:ext cx="8595360"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Key Components — Implementation Highlights</a:t>
            </a:r>
            <a:endParaRPr lang="en-US" sz="2200" dirty="0"/>
          </a:p>
        </p:txBody>
      </p:sp>
      <p:sp>
        <p:nvSpPr>
          <p:cNvPr id="5" name="Shape 3"/>
          <p:cNvSpPr/>
          <p:nvPr/>
        </p:nvSpPr>
        <p:spPr>
          <a:xfrm>
            <a:off x="228600" y="914400"/>
            <a:ext cx="4160520" cy="1828800"/>
          </a:xfrm>
          <a:prstGeom prst="rect">
            <a:avLst/>
          </a:prstGeom>
          <a:solidFill>
            <a:srgbClr val="FFFFFF"/>
          </a:solidFill>
          <a:ln w="12700">
            <a:solidFill>
              <a:srgbClr val="DDDDDD"/>
            </a:solidFill>
            <a:prstDash val="solid"/>
          </a:ln>
          <a:effectLst>
            <a:outerShdw blurRad="101600" dist="38100" dir="8100000" algn="bl" rotWithShape="0">
              <a:srgbClr val="000000">
                <a:alpha val="18000"/>
              </a:srgbClr>
            </a:outerShdw>
          </a:effectLst>
        </p:spPr>
        <p:txBody>
          <a:bodyPr/>
          <a:lstStyle/>
          <a:p>
            <a:endParaRPr lang="en-US"/>
          </a:p>
        </p:txBody>
      </p:sp>
      <p:sp>
        <p:nvSpPr>
          <p:cNvPr id="6" name="Shape 4"/>
          <p:cNvSpPr/>
          <p:nvPr/>
        </p:nvSpPr>
        <p:spPr>
          <a:xfrm>
            <a:off x="228600" y="914400"/>
            <a:ext cx="4160520" cy="347472"/>
          </a:xfrm>
          <a:prstGeom prst="rect">
            <a:avLst/>
          </a:prstGeom>
          <a:solidFill>
            <a:srgbClr val="2E86C1"/>
          </a:solidFill>
          <a:ln w="12700">
            <a:solidFill>
              <a:srgbClr val="2E86C1"/>
            </a:solidFill>
            <a:prstDash val="solid"/>
          </a:ln>
        </p:spPr>
        <p:txBody>
          <a:bodyPr/>
          <a:lstStyle/>
          <a:p>
            <a:endParaRPr lang="en-US"/>
          </a:p>
        </p:txBody>
      </p:sp>
      <p:sp>
        <p:nvSpPr>
          <p:cNvPr id="7" name="Text 5"/>
          <p:cNvSpPr/>
          <p:nvPr/>
        </p:nvSpPr>
        <p:spPr>
          <a:xfrm>
            <a:off x="320040" y="932688"/>
            <a:ext cx="3977640" cy="31089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Add/Subtract Unit — 2's Complement Trick</a:t>
            </a:r>
            <a:endParaRPr lang="en-US" sz="1200" dirty="0"/>
          </a:p>
        </p:txBody>
      </p:sp>
      <p:sp>
        <p:nvSpPr>
          <p:cNvPr id="8" name="Text 6"/>
          <p:cNvSpPr/>
          <p:nvPr/>
        </p:nvSpPr>
        <p:spPr>
          <a:xfrm>
            <a:off x="320040" y="1316736"/>
            <a:ext cx="3977640" cy="1325880"/>
          </a:xfrm>
          <a:prstGeom prst="rect">
            <a:avLst/>
          </a:prstGeom>
          <a:noFill/>
          <a:ln/>
        </p:spPr>
        <p:txBody>
          <a:bodyPr wrap="square" rtlCol="0" anchor="ctr"/>
          <a:lstStyle/>
          <a:p>
            <a:pPr marL="0" indent="0">
              <a:buNone/>
            </a:pPr>
            <a:r>
              <a:rPr lang="en-US" sz="1100" b="1" dirty="0">
                <a:solidFill>
                  <a:srgbClr val="2E86C1"/>
                </a:solidFill>
                <a:latin typeface="Courier New" pitchFamily="34" charset="0"/>
                <a:ea typeface="Courier New" pitchFamily="34" charset="-122"/>
                <a:cs typeface="Courier New" pitchFamily="34" charset="-120"/>
              </a:rPr>
              <a:t>B_eff(i) &lt;= B(i) XOR Sel;</a:t>
            </a:r>
            <a:endParaRPr lang="en-US" sz="1100" dirty="0"/>
          </a:p>
          <a:p>
            <a:pPr marL="0" indent="0">
              <a:buNone/>
            </a:pPr>
            <a:r>
              <a:rPr lang="en-US" sz="1100" b="1" dirty="0">
                <a:solidFill>
                  <a:srgbClr val="2E86C1"/>
                </a:solidFill>
                <a:latin typeface="Courier New" pitchFamily="34" charset="0"/>
                <a:ea typeface="Courier New" pitchFamily="34" charset="-122"/>
                <a:cs typeface="Courier New" pitchFamily="34" charset="-120"/>
              </a:rPr>
              <a:t>carry(0) &lt;= Sel;</a:t>
            </a:r>
            <a:endParaRPr lang="en-US" sz="1100" dirty="0"/>
          </a:p>
          <a:p>
            <a:pPr marL="0" indent="0">
              <a:buNone/>
            </a:pPr>
            <a:r>
              <a:rPr lang="en-US" sz="1100" b="1" dirty="0">
                <a:solidFill>
                  <a:srgbClr val="2E86C1"/>
                </a:solidFill>
                <a:latin typeface="Courier New" pitchFamily="34" charset="0"/>
                <a:ea typeface="Courier New" pitchFamily="34" charset="-122"/>
                <a:cs typeface="Courier New" pitchFamily="34" charset="-120"/>
              </a:rPr>
              <a:t>-- Sel=0: A+B (addition)</a:t>
            </a:r>
            <a:endParaRPr lang="en-US" sz="1100" dirty="0"/>
          </a:p>
          <a:p>
            <a:pPr marL="0" indent="0">
              <a:buNone/>
            </a:pPr>
            <a:r>
              <a:rPr lang="en-US" sz="1100" b="1" dirty="0">
                <a:solidFill>
                  <a:srgbClr val="2E86C1"/>
                </a:solidFill>
                <a:latin typeface="Courier New" pitchFamily="34" charset="0"/>
                <a:ea typeface="Courier New" pitchFamily="34" charset="-122"/>
                <a:cs typeface="Courier New" pitchFamily="34" charset="-120"/>
              </a:rPr>
              <a:t>-- Sel=1: A+NOT(B)+1 = A-B</a:t>
            </a:r>
            <a:endParaRPr lang="en-US" sz="1100" dirty="0"/>
          </a:p>
        </p:txBody>
      </p:sp>
      <p:sp>
        <p:nvSpPr>
          <p:cNvPr id="9" name="Shape 7"/>
          <p:cNvSpPr/>
          <p:nvPr/>
        </p:nvSpPr>
        <p:spPr>
          <a:xfrm>
            <a:off x="228600" y="2834640"/>
            <a:ext cx="4160520" cy="2148840"/>
          </a:xfrm>
          <a:prstGeom prst="rect">
            <a:avLst/>
          </a:prstGeom>
          <a:solidFill>
            <a:srgbClr val="FFFFFF"/>
          </a:solidFill>
          <a:ln w="12700">
            <a:solidFill>
              <a:srgbClr val="DDDDDD"/>
            </a:solidFill>
            <a:prstDash val="solid"/>
          </a:ln>
          <a:effectLst>
            <a:outerShdw blurRad="101600" dist="38100" dir="8100000" algn="bl" rotWithShape="0">
              <a:srgbClr val="000000">
                <a:alpha val="18000"/>
              </a:srgbClr>
            </a:outerShdw>
          </a:effectLst>
        </p:spPr>
        <p:txBody>
          <a:bodyPr/>
          <a:lstStyle/>
          <a:p>
            <a:endParaRPr lang="en-US"/>
          </a:p>
        </p:txBody>
      </p:sp>
      <p:sp>
        <p:nvSpPr>
          <p:cNvPr id="10" name="Shape 8"/>
          <p:cNvSpPr/>
          <p:nvPr/>
        </p:nvSpPr>
        <p:spPr>
          <a:xfrm>
            <a:off x="228600" y="2834640"/>
            <a:ext cx="4160520" cy="347472"/>
          </a:xfrm>
          <a:prstGeom prst="rect">
            <a:avLst/>
          </a:prstGeom>
          <a:solidFill>
            <a:srgbClr val="1E8449"/>
          </a:solidFill>
          <a:ln w="12700">
            <a:solidFill>
              <a:srgbClr val="1E8449"/>
            </a:solidFill>
            <a:prstDash val="solid"/>
          </a:ln>
        </p:spPr>
        <p:txBody>
          <a:bodyPr/>
          <a:lstStyle/>
          <a:p>
            <a:endParaRPr lang="en-US"/>
          </a:p>
        </p:txBody>
      </p:sp>
      <p:sp>
        <p:nvSpPr>
          <p:cNvPr id="11" name="Text 9"/>
          <p:cNvSpPr/>
          <p:nvPr/>
        </p:nvSpPr>
        <p:spPr>
          <a:xfrm>
            <a:off x="320040" y="2852928"/>
            <a:ext cx="3977640" cy="31089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Program ROM — Hardcoded Instructions</a:t>
            </a:r>
            <a:endParaRPr lang="en-US" sz="1200" dirty="0"/>
          </a:p>
        </p:txBody>
      </p:sp>
      <p:sp>
        <p:nvSpPr>
          <p:cNvPr id="12" name="Text 10"/>
          <p:cNvSpPr/>
          <p:nvPr/>
        </p:nvSpPr>
        <p:spPr>
          <a:xfrm>
            <a:off x="320040" y="3246120"/>
            <a:ext cx="3977640" cy="1600200"/>
          </a:xfrm>
          <a:prstGeom prst="rect">
            <a:avLst/>
          </a:prstGeom>
          <a:noFill/>
          <a:ln/>
        </p:spPr>
        <p:txBody>
          <a:bodyPr wrap="square" rtlCol="0" anchor="ctr"/>
          <a:lstStyle/>
          <a:p>
            <a:pPr marL="0" indent="0">
              <a:buNone/>
            </a:pPr>
            <a:r>
              <a:rPr lang="en-US" sz="1100" b="1" dirty="0">
                <a:solidFill>
                  <a:srgbClr val="2E86C1"/>
                </a:solidFill>
                <a:latin typeface="Courier New" pitchFamily="34" charset="0"/>
                <a:ea typeface="Courier New" pitchFamily="34" charset="-122"/>
                <a:cs typeface="Courier New" pitchFamily="34" charset="-120"/>
              </a:rPr>
              <a:t>ROM_DATA : rom_type := (</a:t>
            </a:r>
            <a:endParaRPr lang="en-US" sz="1100" dirty="0"/>
          </a:p>
          <a:p>
            <a:pPr marL="0" indent="0">
              <a:buNone/>
            </a:pPr>
            <a:r>
              <a:rPr lang="en-US" sz="1100" b="1" dirty="0">
                <a:solidFill>
                  <a:srgbClr val="2E86C1"/>
                </a:solidFill>
                <a:latin typeface="Courier New" pitchFamily="34" charset="0"/>
                <a:ea typeface="Courier New" pitchFamily="34" charset="-122"/>
                <a:cs typeface="Courier New" pitchFamily="34" charset="-120"/>
              </a:rPr>
              <a:t>  0=&gt;"101110000001", -- MOVI R7,1</a:t>
            </a:r>
            <a:endParaRPr lang="en-US" sz="1100" dirty="0"/>
          </a:p>
          <a:p>
            <a:pPr marL="0" indent="0">
              <a:buNone/>
            </a:pPr>
            <a:r>
              <a:rPr lang="en-US" sz="1100" b="1" dirty="0">
                <a:solidFill>
                  <a:srgbClr val="2E86C1"/>
                </a:solidFill>
                <a:latin typeface="Courier New" pitchFamily="34" charset="0"/>
                <a:ea typeface="Courier New" pitchFamily="34" charset="-122"/>
                <a:cs typeface="Courier New" pitchFamily="34" charset="-120"/>
              </a:rPr>
              <a:t>  3=&gt;"001111010000", -- ADD R7,R5</a:t>
            </a:r>
            <a:endParaRPr lang="en-US" sz="1100" dirty="0"/>
          </a:p>
          <a:p>
            <a:pPr marL="0" indent="0">
              <a:buNone/>
            </a:pPr>
            <a:r>
              <a:rPr lang="en-US" sz="1100" b="1" dirty="0">
                <a:solidFill>
                  <a:srgbClr val="2E86C1"/>
                </a:solidFill>
                <a:latin typeface="Courier New" pitchFamily="34" charset="0"/>
                <a:ea typeface="Courier New" pitchFamily="34" charset="-122"/>
                <a:cs typeface="Courier New" pitchFamily="34" charset="-120"/>
              </a:rPr>
              <a:t>  4=&gt;"001111000000", -- ADD R7,R4</a:t>
            </a:r>
            <a:endParaRPr lang="en-US" sz="1100" dirty="0"/>
          </a:p>
          <a:p>
            <a:pPr marL="0" indent="0">
              <a:buNone/>
            </a:pPr>
            <a:r>
              <a:rPr lang="en-US" sz="1100" b="1" dirty="0">
                <a:solidFill>
                  <a:srgbClr val="2E86C1"/>
                </a:solidFill>
                <a:latin typeface="Courier New" pitchFamily="34" charset="0"/>
                <a:ea typeface="Courier New" pitchFamily="34" charset="-122"/>
                <a:cs typeface="Courier New" pitchFamily="34" charset="-120"/>
              </a:rPr>
              <a:t>);</a:t>
            </a:r>
            <a:endParaRPr lang="en-US" sz="1100" dirty="0"/>
          </a:p>
        </p:txBody>
      </p:sp>
      <p:sp>
        <p:nvSpPr>
          <p:cNvPr id="13" name="Shape 11"/>
          <p:cNvSpPr/>
          <p:nvPr/>
        </p:nvSpPr>
        <p:spPr>
          <a:xfrm>
            <a:off x="4663440" y="914400"/>
            <a:ext cx="4206240" cy="1828800"/>
          </a:xfrm>
          <a:prstGeom prst="rect">
            <a:avLst/>
          </a:prstGeom>
          <a:solidFill>
            <a:srgbClr val="FFFFFF"/>
          </a:solidFill>
          <a:ln w="12700">
            <a:solidFill>
              <a:srgbClr val="DDDDDD"/>
            </a:solidFill>
            <a:prstDash val="solid"/>
          </a:ln>
          <a:effectLst>
            <a:outerShdw blurRad="101600" dist="38100" dir="8100000" algn="bl" rotWithShape="0">
              <a:srgbClr val="000000">
                <a:alpha val="18000"/>
              </a:srgbClr>
            </a:outerShdw>
          </a:effectLst>
        </p:spPr>
        <p:txBody>
          <a:bodyPr/>
          <a:lstStyle/>
          <a:p>
            <a:endParaRPr lang="en-US"/>
          </a:p>
        </p:txBody>
      </p:sp>
      <p:sp>
        <p:nvSpPr>
          <p:cNvPr id="14" name="Shape 12"/>
          <p:cNvSpPr/>
          <p:nvPr/>
        </p:nvSpPr>
        <p:spPr>
          <a:xfrm>
            <a:off x="4663440" y="914400"/>
            <a:ext cx="4206240" cy="347472"/>
          </a:xfrm>
          <a:prstGeom prst="rect">
            <a:avLst/>
          </a:prstGeom>
          <a:solidFill>
            <a:srgbClr val="D35400"/>
          </a:solidFill>
          <a:ln w="12700">
            <a:solidFill>
              <a:srgbClr val="D35400"/>
            </a:solidFill>
            <a:prstDash val="solid"/>
          </a:ln>
        </p:spPr>
        <p:txBody>
          <a:bodyPr/>
          <a:lstStyle/>
          <a:p>
            <a:endParaRPr lang="en-US"/>
          </a:p>
        </p:txBody>
      </p:sp>
      <p:sp>
        <p:nvSpPr>
          <p:cNvPr id="15" name="Text 13"/>
          <p:cNvSpPr/>
          <p:nvPr/>
        </p:nvSpPr>
        <p:spPr>
          <a:xfrm>
            <a:off x="4754880" y="932688"/>
            <a:ext cx="4023360" cy="31089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Slow Clock — count(1) vs count(25)</a:t>
            </a:r>
            <a:endParaRPr lang="en-US" sz="1200" dirty="0"/>
          </a:p>
        </p:txBody>
      </p:sp>
      <p:sp>
        <p:nvSpPr>
          <p:cNvPr id="16" name="Text 14"/>
          <p:cNvSpPr/>
          <p:nvPr/>
        </p:nvSpPr>
        <p:spPr>
          <a:xfrm>
            <a:off x="4754880" y="1325880"/>
            <a:ext cx="4023360" cy="1325880"/>
          </a:xfrm>
          <a:prstGeom prst="rect">
            <a:avLst/>
          </a:prstGeom>
          <a:noFill/>
          <a:ln/>
        </p:spPr>
        <p:txBody>
          <a:bodyPr wrap="square" rtlCol="0" anchor="ctr"/>
          <a:lstStyle/>
          <a:p>
            <a:pPr marL="0" indent="0">
              <a:buNone/>
            </a:pPr>
            <a:r>
              <a:rPr lang="en-US" sz="1200" dirty="0">
                <a:solidFill>
                  <a:srgbClr val="1A252F"/>
                </a:solidFill>
                <a:latin typeface="Courier New" pitchFamily="34" charset="0"/>
                <a:ea typeface="Courier New" pitchFamily="34" charset="-122"/>
                <a:cs typeface="Courier New" pitchFamily="34" charset="-120"/>
              </a:rPr>
              <a:t>count(1)  → period = 40 ns   → simulation</a:t>
            </a:r>
            <a:endParaRPr lang="en-US" sz="1200" dirty="0"/>
          </a:p>
          <a:p>
            <a:pPr marL="0" indent="0">
              <a:buNone/>
            </a:pPr>
            <a:r>
              <a:rPr lang="en-US" sz="1200" dirty="0">
                <a:solidFill>
                  <a:srgbClr val="1A252F"/>
                </a:solidFill>
                <a:latin typeface="Courier New" pitchFamily="34" charset="0"/>
                <a:ea typeface="Courier New" pitchFamily="34" charset="-122"/>
                <a:cs typeface="Courier New" pitchFamily="34" charset="-120"/>
              </a:rPr>
              <a:t>count(25) → period = 671 ms → BASYS3 board</a:t>
            </a:r>
            <a:endParaRPr lang="en-US" sz="1200" dirty="0"/>
          </a:p>
          <a:p>
            <a:pPr marL="0" indent="0">
              <a:buNone/>
            </a:pPr>
            <a:r>
              <a:rPr lang="en-US" sz="1200" dirty="0">
                <a:solidFill>
                  <a:srgbClr val="1A252F"/>
                </a:solidFill>
                <a:latin typeface="Courier New" pitchFamily="34" charset="0"/>
                <a:ea typeface="Courier New" pitchFamily="34" charset="-122"/>
                <a:cs typeface="Courier New" pitchFamily="34" charset="-120"/>
              </a:rPr>
              <a:t>Bit N toggles at 100 MHz ÷ 2^(N+1)</a:t>
            </a:r>
            <a:endParaRPr lang="en-US" sz="1200" dirty="0"/>
          </a:p>
        </p:txBody>
      </p:sp>
      <p:sp>
        <p:nvSpPr>
          <p:cNvPr id="17" name="Shape 15"/>
          <p:cNvSpPr/>
          <p:nvPr/>
        </p:nvSpPr>
        <p:spPr>
          <a:xfrm>
            <a:off x="4663440" y="2834640"/>
            <a:ext cx="4206240" cy="2148840"/>
          </a:xfrm>
          <a:prstGeom prst="rect">
            <a:avLst/>
          </a:prstGeom>
          <a:solidFill>
            <a:srgbClr val="FFFFFF"/>
          </a:solidFill>
          <a:ln w="12700">
            <a:solidFill>
              <a:srgbClr val="DDDDDD"/>
            </a:solidFill>
            <a:prstDash val="solid"/>
          </a:ln>
          <a:effectLst>
            <a:outerShdw blurRad="101600" dist="38100" dir="8100000" algn="bl" rotWithShape="0">
              <a:srgbClr val="000000">
                <a:alpha val="18000"/>
              </a:srgbClr>
            </a:outerShdw>
          </a:effectLst>
        </p:spPr>
        <p:txBody>
          <a:bodyPr/>
          <a:lstStyle/>
          <a:p>
            <a:endParaRPr lang="en-US"/>
          </a:p>
        </p:txBody>
      </p:sp>
      <p:sp>
        <p:nvSpPr>
          <p:cNvPr id="18" name="Shape 16"/>
          <p:cNvSpPr/>
          <p:nvPr/>
        </p:nvSpPr>
        <p:spPr>
          <a:xfrm>
            <a:off x="4663440" y="2834640"/>
            <a:ext cx="4206240" cy="347472"/>
          </a:xfrm>
          <a:prstGeom prst="rect">
            <a:avLst/>
          </a:prstGeom>
          <a:solidFill>
            <a:srgbClr val="6C3483"/>
          </a:solidFill>
          <a:ln w="12700">
            <a:solidFill>
              <a:srgbClr val="6C3483"/>
            </a:solidFill>
            <a:prstDash val="solid"/>
          </a:ln>
        </p:spPr>
        <p:txBody>
          <a:bodyPr/>
          <a:lstStyle/>
          <a:p>
            <a:endParaRPr lang="en-US"/>
          </a:p>
        </p:txBody>
      </p:sp>
      <p:sp>
        <p:nvSpPr>
          <p:cNvPr id="19" name="Text 17"/>
          <p:cNvSpPr/>
          <p:nvPr/>
        </p:nvSpPr>
        <p:spPr>
          <a:xfrm>
            <a:off x="4754880" y="2852928"/>
            <a:ext cx="4023360" cy="31089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MUX Optimisation — case-when</a:t>
            </a:r>
            <a:endParaRPr lang="en-US" sz="1200" dirty="0"/>
          </a:p>
        </p:txBody>
      </p:sp>
      <p:sp>
        <p:nvSpPr>
          <p:cNvPr id="20" name="Text 18"/>
          <p:cNvSpPr/>
          <p:nvPr/>
        </p:nvSpPr>
        <p:spPr>
          <a:xfrm>
            <a:off x="4754880" y="3246120"/>
            <a:ext cx="4023360" cy="1600200"/>
          </a:xfrm>
          <a:prstGeom prst="rect">
            <a:avLst/>
          </a:prstGeom>
          <a:noFill/>
          <a:ln/>
        </p:spPr>
        <p:txBody>
          <a:bodyPr wrap="square" rtlCol="0" anchor="ctr"/>
          <a:lstStyle/>
          <a:p>
            <a:pPr marL="342900" indent="-342900">
              <a:buSzPct val="100000"/>
              <a:buChar char="•"/>
            </a:pPr>
            <a:r>
              <a:rPr lang="en-US" sz="1100" dirty="0">
                <a:solidFill>
                  <a:srgbClr val="1A252F"/>
                </a:solidFill>
                <a:latin typeface="Calibri" pitchFamily="34" charset="0"/>
                <a:ea typeface="Calibri" pitchFamily="34" charset="-122"/>
                <a:cs typeface="Calibri" pitchFamily="34" charset="-120"/>
              </a:rPr>
              <a:t>if-elsif → priority encoder → cascaded logic → slower</a:t>
            </a:r>
            <a:endParaRPr lang="en-US" sz="1100" dirty="0"/>
          </a:p>
          <a:p>
            <a:pPr marL="342900" indent="-342900">
              <a:buSzPct val="100000"/>
              <a:buChar char="•"/>
            </a:pPr>
            <a:r>
              <a:rPr lang="en-US" sz="1100" dirty="0">
                <a:solidFill>
                  <a:srgbClr val="1A252F"/>
                </a:solidFill>
                <a:latin typeface="Calibri" pitchFamily="34" charset="0"/>
                <a:ea typeface="Calibri" pitchFamily="34" charset="-122"/>
                <a:cs typeface="Calibri" pitchFamily="34" charset="-120"/>
              </a:rPr>
              <a:t>case-when → balanced MUX tree → fewer LUT levels → faster</a:t>
            </a:r>
            <a:endParaRPr lang="en-US" sz="1100" dirty="0"/>
          </a:p>
          <a:p>
            <a:pPr marL="342900" indent="-342900">
              <a:buSzPct val="100000"/>
              <a:buChar char="•"/>
            </a:pPr>
            <a:r>
              <a:rPr lang="en-US" sz="1100" dirty="0">
                <a:solidFill>
                  <a:srgbClr val="1A252F"/>
                </a:solidFill>
                <a:latin typeface="Calibri" pitchFamily="34" charset="0"/>
                <a:ea typeface="Calibri" pitchFamily="34" charset="-122"/>
                <a:cs typeface="Calibri" pitchFamily="34" charset="-120"/>
              </a:rPr>
              <a:t>with-select for 2-way MUXes → zero latch risk</a:t>
            </a:r>
            <a:endParaRPr lang="en-US" sz="1100" dirty="0"/>
          </a:p>
          <a:p>
            <a:pPr marL="342900" indent="-342900">
              <a:buSzPct val="100000"/>
              <a:buChar char="•"/>
            </a:pPr>
            <a:r>
              <a:rPr lang="en-US" sz="1100" dirty="0">
                <a:solidFill>
                  <a:srgbClr val="1A252F"/>
                </a:solidFill>
                <a:latin typeface="Calibri" pitchFamily="34" charset="0"/>
                <a:ea typeface="Calibri" pitchFamily="34" charset="-122"/>
                <a:cs typeface="Calibri" pitchFamily="34" charset="-120"/>
              </a:rPr>
              <a:t>Result: MUX_8_way reduces to 1 LUT level</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E86C1"/>
          </a:solidFill>
          <a:ln w="12700">
            <a:solidFill>
              <a:srgbClr val="2E86C1"/>
            </a:solidFill>
            <a:prstDash val="solid"/>
          </a:ln>
        </p:spPr>
        <p:txBody>
          <a:bodyPr/>
          <a:lstStyle/>
          <a:p>
            <a:endParaRPr lang="en-US"/>
          </a:p>
        </p:txBody>
      </p:sp>
      <p:sp>
        <p:nvSpPr>
          <p:cNvPr id="3" name="Shape 1"/>
          <p:cNvSpPr/>
          <p:nvPr/>
        </p:nvSpPr>
        <p:spPr>
          <a:xfrm>
            <a:off x="0" y="0"/>
            <a:ext cx="9144000" cy="713232"/>
          </a:xfrm>
          <a:prstGeom prst="rect">
            <a:avLst/>
          </a:prstGeom>
          <a:solidFill>
            <a:srgbClr val="0D1B2A"/>
          </a:solidFill>
          <a:ln w="12700">
            <a:solidFill>
              <a:srgbClr val="0D1B2A"/>
            </a:solidFill>
            <a:prstDash val="solid"/>
          </a:ln>
        </p:spPr>
        <p:txBody>
          <a:bodyPr/>
          <a:lstStyle/>
          <a:p>
            <a:endParaRPr lang="en-US"/>
          </a:p>
        </p:txBody>
      </p:sp>
      <p:sp>
        <p:nvSpPr>
          <p:cNvPr id="4" name="Text 2"/>
          <p:cNvSpPr/>
          <p:nvPr/>
        </p:nvSpPr>
        <p:spPr>
          <a:xfrm>
            <a:off x="274320" y="73152"/>
            <a:ext cx="8595360"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RTL Synthesis Workflow &amp; XDC Constraints</a:t>
            </a:r>
            <a:endParaRPr lang="en-US" sz="2200" dirty="0"/>
          </a:p>
        </p:txBody>
      </p:sp>
      <p:sp>
        <p:nvSpPr>
          <p:cNvPr id="5" name="Shape 3"/>
          <p:cNvSpPr/>
          <p:nvPr/>
        </p:nvSpPr>
        <p:spPr>
          <a:xfrm>
            <a:off x="228600" y="960120"/>
            <a:ext cx="1600200" cy="438912"/>
          </a:xfrm>
          <a:prstGeom prst="rect">
            <a:avLst/>
          </a:prstGeom>
          <a:solidFill>
            <a:srgbClr val="2E86C1"/>
          </a:solidFill>
          <a:ln w="12700">
            <a:solidFill>
              <a:srgbClr val="2E86C1"/>
            </a:solidFill>
            <a:prstDash val="solid"/>
          </a:ln>
        </p:spPr>
        <p:txBody>
          <a:bodyPr/>
          <a:lstStyle/>
          <a:p>
            <a:endParaRPr lang="en-US"/>
          </a:p>
        </p:txBody>
      </p:sp>
      <p:sp>
        <p:nvSpPr>
          <p:cNvPr id="6" name="Text 4"/>
          <p:cNvSpPr/>
          <p:nvPr/>
        </p:nvSpPr>
        <p:spPr>
          <a:xfrm>
            <a:off x="274320" y="978408"/>
            <a:ext cx="1508760"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 Elaboration</a:t>
            </a:r>
            <a:endParaRPr lang="en-US" sz="1200" dirty="0"/>
          </a:p>
        </p:txBody>
      </p:sp>
      <p:sp>
        <p:nvSpPr>
          <p:cNvPr id="7" name="Shape 5"/>
          <p:cNvSpPr/>
          <p:nvPr/>
        </p:nvSpPr>
        <p:spPr>
          <a:xfrm>
            <a:off x="228600" y="1444752"/>
            <a:ext cx="1600200" cy="822960"/>
          </a:xfrm>
          <a:prstGeom prst="rect">
            <a:avLst/>
          </a:prstGeom>
          <a:solidFill>
            <a:srgbClr val="FFFFFF"/>
          </a:solidFill>
          <a:ln w="12700">
            <a:solidFill>
              <a:srgbClr val="DDDDDD"/>
            </a:solidFill>
            <a:prstDash val="solid"/>
          </a:ln>
        </p:spPr>
        <p:txBody>
          <a:bodyPr/>
          <a:lstStyle/>
          <a:p>
            <a:endParaRPr lang="en-US"/>
          </a:p>
        </p:txBody>
      </p:sp>
      <p:sp>
        <p:nvSpPr>
          <p:cNvPr id="8" name="Text 6"/>
          <p:cNvSpPr/>
          <p:nvPr/>
        </p:nvSpPr>
        <p:spPr>
          <a:xfrm>
            <a:off x="283464" y="1481328"/>
            <a:ext cx="1490472" cy="749808"/>
          </a:xfrm>
          <a:prstGeom prst="rect">
            <a:avLst/>
          </a:prstGeom>
          <a:noFill/>
          <a:ln/>
        </p:spPr>
        <p:txBody>
          <a:bodyPr wrap="square" rtlCol="0" anchor="ctr"/>
          <a:lstStyle/>
          <a:p>
            <a:pPr marL="0" indent="0" algn="ctr">
              <a:buNone/>
            </a:pPr>
            <a:r>
              <a:rPr lang="en-US" sz="1000" dirty="0">
                <a:solidFill>
                  <a:srgbClr val="1A252F"/>
                </a:solidFill>
                <a:latin typeface="Calibri" pitchFamily="34" charset="0"/>
                <a:ea typeface="Calibri" pitchFamily="34" charset="-122"/>
                <a:cs typeface="Calibri" pitchFamily="34" charset="-120"/>
              </a:rPr>
              <a:t>Parse VHDL hierarchy,</a:t>
            </a:r>
            <a:endParaRPr lang="en-US" sz="1000" dirty="0"/>
          </a:p>
          <a:p>
            <a:pPr marL="0" indent="0" algn="ctr">
              <a:buNone/>
            </a:pPr>
            <a:r>
              <a:rPr lang="en-US" sz="1000" dirty="0">
                <a:solidFill>
                  <a:srgbClr val="1A252F"/>
                </a:solidFill>
                <a:latin typeface="Calibri" pitchFamily="34" charset="0"/>
                <a:ea typeface="Calibri" pitchFamily="34" charset="-122"/>
                <a:cs typeface="Calibri" pitchFamily="34" charset="-120"/>
              </a:rPr>
              <a:t>resolve port connections</a:t>
            </a:r>
            <a:endParaRPr lang="en-US" sz="1000" dirty="0"/>
          </a:p>
        </p:txBody>
      </p:sp>
      <p:sp>
        <p:nvSpPr>
          <p:cNvPr id="9" name="Shape 7"/>
          <p:cNvSpPr/>
          <p:nvPr/>
        </p:nvSpPr>
        <p:spPr>
          <a:xfrm>
            <a:off x="1828800" y="1179576"/>
            <a:ext cx="155448" cy="0"/>
          </a:xfrm>
          <a:prstGeom prst="line">
            <a:avLst/>
          </a:prstGeom>
          <a:noFill/>
          <a:ln w="25400">
            <a:solidFill>
              <a:srgbClr val="999999"/>
            </a:solidFill>
            <a:prstDash val="solid"/>
          </a:ln>
        </p:spPr>
        <p:txBody>
          <a:bodyPr/>
          <a:lstStyle/>
          <a:p>
            <a:endParaRPr lang="en-US"/>
          </a:p>
        </p:txBody>
      </p:sp>
      <p:sp>
        <p:nvSpPr>
          <p:cNvPr id="10" name="Shape 8"/>
          <p:cNvSpPr/>
          <p:nvPr/>
        </p:nvSpPr>
        <p:spPr>
          <a:xfrm>
            <a:off x="1984248" y="960120"/>
            <a:ext cx="1600200" cy="438912"/>
          </a:xfrm>
          <a:prstGeom prst="rect">
            <a:avLst/>
          </a:prstGeom>
          <a:solidFill>
            <a:srgbClr val="2E86C1"/>
          </a:solidFill>
          <a:ln w="12700">
            <a:solidFill>
              <a:srgbClr val="2E86C1"/>
            </a:solidFill>
            <a:prstDash val="solid"/>
          </a:ln>
        </p:spPr>
        <p:txBody>
          <a:bodyPr/>
          <a:lstStyle/>
          <a:p>
            <a:endParaRPr lang="en-US"/>
          </a:p>
        </p:txBody>
      </p:sp>
      <p:sp>
        <p:nvSpPr>
          <p:cNvPr id="11" name="Text 9"/>
          <p:cNvSpPr/>
          <p:nvPr/>
        </p:nvSpPr>
        <p:spPr>
          <a:xfrm>
            <a:off x="2029968" y="978408"/>
            <a:ext cx="1508760"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 RTL Opt.</a:t>
            </a:r>
            <a:endParaRPr lang="en-US" sz="1200" dirty="0"/>
          </a:p>
        </p:txBody>
      </p:sp>
      <p:sp>
        <p:nvSpPr>
          <p:cNvPr id="12" name="Shape 10"/>
          <p:cNvSpPr/>
          <p:nvPr/>
        </p:nvSpPr>
        <p:spPr>
          <a:xfrm>
            <a:off x="1984248" y="1444752"/>
            <a:ext cx="1600200" cy="822960"/>
          </a:xfrm>
          <a:prstGeom prst="rect">
            <a:avLst/>
          </a:prstGeom>
          <a:solidFill>
            <a:srgbClr val="FFFFFF"/>
          </a:solidFill>
          <a:ln w="12700">
            <a:solidFill>
              <a:srgbClr val="DDDDDD"/>
            </a:solidFill>
            <a:prstDash val="solid"/>
          </a:ln>
        </p:spPr>
        <p:txBody>
          <a:bodyPr/>
          <a:lstStyle/>
          <a:p>
            <a:endParaRPr lang="en-US"/>
          </a:p>
        </p:txBody>
      </p:sp>
      <p:sp>
        <p:nvSpPr>
          <p:cNvPr id="13" name="Text 11"/>
          <p:cNvSpPr/>
          <p:nvPr/>
        </p:nvSpPr>
        <p:spPr>
          <a:xfrm>
            <a:off x="2039112" y="1481328"/>
            <a:ext cx="1490472" cy="749808"/>
          </a:xfrm>
          <a:prstGeom prst="rect">
            <a:avLst/>
          </a:prstGeom>
          <a:noFill/>
          <a:ln/>
        </p:spPr>
        <p:txBody>
          <a:bodyPr wrap="square" rtlCol="0" anchor="ctr"/>
          <a:lstStyle/>
          <a:p>
            <a:pPr marL="0" indent="0" algn="ctr">
              <a:buNone/>
            </a:pPr>
            <a:r>
              <a:rPr lang="en-US" sz="1000" dirty="0">
                <a:solidFill>
                  <a:srgbClr val="1A252F"/>
                </a:solidFill>
                <a:latin typeface="Calibri" pitchFamily="34" charset="0"/>
                <a:ea typeface="Calibri" pitchFamily="34" charset="-122"/>
                <a:cs typeface="Calibri" pitchFamily="34" charset="-120"/>
              </a:rPr>
              <a:t>Simplify logic,</a:t>
            </a:r>
            <a:endParaRPr lang="en-US" sz="1000" dirty="0"/>
          </a:p>
          <a:p>
            <a:pPr marL="0" indent="0" algn="ctr">
              <a:buNone/>
            </a:pPr>
            <a:r>
              <a:rPr lang="en-US" sz="1000" dirty="0">
                <a:solidFill>
                  <a:srgbClr val="1A252F"/>
                </a:solidFill>
                <a:latin typeface="Calibri" pitchFamily="34" charset="0"/>
                <a:ea typeface="Calibri" pitchFamily="34" charset="-122"/>
                <a:cs typeface="Calibri" pitchFamily="34" charset="-120"/>
              </a:rPr>
              <a:t>remove dead signals</a:t>
            </a:r>
            <a:endParaRPr lang="en-US" sz="1000" dirty="0"/>
          </a:p>
        </p:txBody>
      </p:sp>
      <p:sp>
        <p:nvSpPr>
          <p:cNvPr id="14" name="Shape 12"/>
          <p:cNvSpPr/>
          <p:nvPr/>
        </p:nvSpPr>
        <p:spPr>
          <a:xfrm>
            <a:off x="3584448" y="1179576"/>
            <a:ext cx="155448" cy="0"/>
          </a:xfrm>
          <a:prstGeom prst="line">
            <a:avLst/>
          </a:prstGeom>
          <a:noFill/>
          <a:ln w="25400">
            <a:solidFill>
              <a:srgbClr val="999999"/>
            </a:solidFill>
            <a:prstDash val="solid"/>
          </a:ln>
        </p:spPr>
        <p:txBody>
          <a:bodyPr/>
          <a:lstStyle/>
          <a:p>
            <a:endParaRPr lang="en-US"/>
          </a:p>
        </p:txBody>
      </p:sp>
      <p:sp>
        <p:nvSpPr>
          <p:cNvPr id="15" name="Shape 13"/>
          <p:cNvSpPr/>
          <p:nvPr/>
        </p:nvSpPr>
        <p:spPr>
          <a:xfrm>
            <a:off x="3739896" y="960120"/>
            <a:ext cx="1600200" cy="438912"/>
          </a:xfrm>
          <a:prstGeom prst="rect">
            <a:avLst/>
          </a:prstGeom>
          <a:solidFill>
            <a:srgbClr val="2E86C1"/>
          </a:solidFill>
          <a:ln w="12700">
            <a:solidFill>
              <a:srgbClr val="2E86C1"/>
            </a:solidFill>
            <a:prstDash val="solid"/>
          </a:ln>
        </p:spPr>
        <p:txBody>
          <a:bodyPr/>
          <a:lstStyle/>
          <a:p>
            <a:endParaRPr lang="en-US"/>
          </a:p>
        </p:txBody>
      </p:sp>
      <p:sp>
        <p:nvSpPr>
          <p:cNvPr id="16" name="Text 14"/>
          <p:cNvSpPr/>
          <p:nvPr/>
        </p:nvSpPr>
        <p:spPr>
          <a:xfrm>
            <a:off x="3785616" y="978408"/>
            <a:ext cx="1508760"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 Tech Map</a:t>
            </a:r>
            <a:endParaRPr lang="en-US" sz="1200" dirty="0"/>
          </a:p>
        </p:txBody>
      </p:sp>
      <p:sp>
        <p:nvSpPr>
          <p:cNvPr id="17" name="Shape 15"/>
          <p:cNvSpPr/>
          <p:nvPr/>
        </p:nvSpPr>
        <p:spPr>
          <a:xfrm>
            <a:off x="3739896" y="1444752"/>
            <a:ext cx="1600200" cy="822960"/>
          </a:xfrm>
          <a:prstGeom prst="rect">
            <a:avLst/>
          </a:prstGeom>
          <a:solidFill>
            <a:srgbClr val="FFFFFF"/>
          </a:solidFill>
          <a:ln w="12700">
            <a:solidFill>
              <a:srgbClr val="DDDDDD"/>
            </a:solidFill>
            <a:prstDash val="solid"/>
          </a:ln>
        </p:spPr>
        <p:txBody>
          <a:bodyPr/>
          <a:lstStyle/>
          <a:p>
            <a:endParaRPr lang="en-US"/>
          </a:p>
        </p:txBody>
      </p:sp>
      <p:sp>
        <p:nvSpPr>
          <p:cNvPr id="18" name="Text 16"/>
          <p:cNvSpPr/>
          <p:nvPr/>
        </p:nvSpPr>
        <p:spPr>
          <a:xfrm>
            <a:off x="3794760" y="1481328"/>
            <a:ext cx="1490472" cy="749808"/>
          </a:xfrm>
          <a:prstGeom prst="rect">
            <a:avLst/>
          </a:prstGeom>
          <a:noFill/>
          <a:ln/>
        </p:spPr>
        <p:txBody>
          <a:bodyPr wrap="square" rtlCol="0" anchor="ctr"/>
          <a:lstStyle/>
          <a:p>
            <a:pPr marL="0" indent="0" algn="ctr">
              <a:buNone/>
            </a:pPr>
            <a:r>
              <a:rPr lang="en-US" sz="1000" dirty="0">
                <a:solidFill>
                  <a:srgbClr val="1A252F"/>
                </a:solidFill>
                <a:latin typeface="Calibri" pitchFamily="34" charset="0"/>
                <a:ea typeface="Calibri" pitchFamily="34" charset="-122"/>
                <a:cs typeface="Calibri" pitchFamily="34" charset="-120"/>
              </a:rPr>
              <a:t>Map gates to LUT4/</a:t>
            </a:r>
            <a:endParaRPr lang="en-US" sz="1000" dirty="0"/>
          </a:p>
          <a:p>
            <a:pPr marL="0" indent="0" algn="ctr">
              <a:buNone/>
            </a:pPr>
            <a:r>
              <a:rPr lang="en-US" sz="1000" dirty="0">
                <a:solidFill>
                  <a:srgbClr val="1A252F"/>
                </a:solidFill>
                <a:latin typeface="Calibri" pitchFamily="34" charset="0"/>
                <a:ea typeface="Calibri" pitchFamily="34" charset="-122"/>
                <a:cs typeface="Calibri" pitchFamily="34" charset="-120"/>
              </a:rPr>
              <a:t>LUT6/FDRE/CARRY4</a:t>
            </a:r>
            <a:endParaRPr lang="en-US" sz="1000" dirty="0"/>
          </a:p>
        </p:txBody>
      </p:sp>
      <p:sp>
        <p:nvSpPr>
          <p:cNvPr id="19" name="Shape 17"/>
          <p:cNvSpPr/>
          <p:nvPr/>
        </p:nvSpPr>
        <p:spPr>
          <a:xfrm>
            <a:off x="5340096" y="1179576"/>
            <a:ext cx="155448" cy="0"/>
          </a:xfrm>
          <a:prstGeom prst="line">
            <a:avLst/>
          </a:prstGeom>
          <a:noFill/>
          <a:ln w="25400">
            <a:solidFill>
              <a:srgbClr val="999999"/>
            </a:solidFill>
            <a:prstDash val="solid"/>
          </a:ln>
        </p:spPr>
        <p:txBody>
          <a:bodyPr/>
          <a:lstStyle/>
          <a:p>
            <a:endParaRPr lang="en-US"/>
          </a:p>
        </p:txBody>
      </p:sp>
      <p:sp>
        <p:nvSpPr>
          <p:cNvPr id="20" name="Shape 18"/>
          <p:cNvSpPr/>
          <p:nvPr/>
        </p:nvSpPr>
        <p:spPr>
          <a:xfrm>
            <a:off x="5495544" y="960120"/>
            <a:ext cx="1600200" cy="438912"/>
          </a:xfrm>
          <a:prstGeom prst="rect">
            <a:avLst/>
          </a:prstGeom>
          <a:solidFill>
            <a:srgbClr val="2E86C1"/>
          </a:solidFill>
          <a:ln w="12700">
            <a:solidFill>
              <a:srgbClr val="2E86C1"/>
            </a:solidFill>
            <a:prstDash val="solid"/>
          </a:ln>
        </p:spPr>
        <p:txBody>
          <a:bodyPr/>
          <a:lstStyle/>
          <a:p>
            <a:endParaRPr lang="en-US"/>
          </a:p>
        </p:txBody>
      </p:sp>
      <p:sp>
        <p:nvSpPr>
          <p:cNvPr id="21" name="Text 19"/>
          <p:cNvSpPr/>
          <p:nvPr/>
        </p:nvSpPr>
        <p:spPr>
          <a:xfrm>
            <a:off x="5541264" y="978408"/>
            <a:ext cx="1508760"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 Place &amp; Route</a:t>
            </a:r>
            <a:endParaRPr lang="en-US" sz="1200" dirty="0"/>
          </a:p>
        </p:txBody>
      </p:sp>
      <p:sp>
        <p:nvSpPr>
          <p:cNvPr id="22" name="Shape 20"/>
          <p:cNvSpPr/>
          <p:nvPr/>
        </p:nvSpPr>
        <p:spPr>
          <a:xfrm>
            <a:off x="5495544" y="1444752"/>
            <a:ext cx="1600200" cy="822960"/>
          </a:xfrm>
          <a:prstGeom prst="rect">
            <a:avLst/>
          </a:prstGeom>
          <a:solidFill>
            <a:srgbClr val="FFFFFF"/>
          </a:solidFill>
          <a:ln w="12700">
            <a:solidFill>
              <a:srgbClr val="DDDDDD"/>
            </a:solidFill>
            <a:prstDash val="solid"/>
          </a:ln>
        </p:spPr>
        <p:txBody>
          <a:bodyPr/>
          <a:lstStyle/>
          <a:p>
            <a:endParaRPr lang="en-US"/>
          </a:p>
        </p:txBody>
      </p:sp>
      <p:sp>
        <p:nvSpPr>
          <p:cNvPr id="23" name="Text 21"/>
          <p:cNvSpPr/>
          <p:nvPr/>
        </p:nvSpPr>
        <p:spPr>
          <a:xfrm>
            <a:off x="5550408" y="1481328"/>
            <a:ext cx="1490472" cy="749808"/>
          </a:xfrm>
          <a:prstGeom prst="rect">
            <a:avLst/>
          </a:prstGeom>
          <a:noFill/>
          <a:ln/>
        </p:spPr>
        <p:txBody>
          <a:bodyPr wrap="square" rtlCol="0" anchor="ctr"/>
          <a:lstStyle/>
          <a:p>
            <a:pPr marL="0" indent="0" algn="ctr">
              <a:buNone/>
            </a:pPr>
            <a:r>
              <a:rPr lang="en-US" sz="1000" dirty="0">
                <a:solidFill>
                  <a:srgbClr val="1A252F"/>
                </a:solidFill>
                <a:latin typeface="Calibri" pitchFamily="34" charset="0"/>
                <a:ea typeface="Calibri" pitchFamily="34" charset="-122"/>
                <a:cs typeface="Calibri" pitchFamily="34" charset="-120"/>
              </a:rPr>
              <a:t>Assign physical</a:t>
            </a:r>
            <a:endParaRPr lang="en-US" sz="1000" dirty="0"/>
          </a:p>
          <a:p>
            <a:pPr marL="0" indent="0" algn="ctr">
              <a:buNone/>
            </a:pPr>
            <a:r>
              <a:rPr lang="en-US" sz="1000" dirty="0">
                <a:solidFill>
                  <a:srgbClr val="1A252F"/>
                </a:solidFill>
                <a:latin typeface="Calibri" pitchFamily="34" charset="0"/>
                <a:ea typeface="Calibri" pitchFamily="34" charset="-122"/>
                <a:cs typeface="Calibri" pitchFamily="34" charset="-120"/>
              </a:rPr>
              <a:t>locations &amp; routing</a:t>
            </a:r>
            <a:endParaRPr lang="en-US" sz="1000" dirty="0"/>
          </a:p>
        </p:txBody>
      </p:sp>
      <p:sp>
        <p:nvSpPr>
          <p:cNvPr id="24" name="Shape 22"/>
          <p:cNvSpPr/>
          <p:nvPr/>
        </p:nvSpPr>
        <p:spPr>
          <a:xfrm>
            <a:off x="7095744" y="1179576"/>
            <a:ext cx="155448" cy="0"/>
          </a:xfrm>
          <a:prstGeom prst="line">
            <a:avLst/>
          </a:prstGeom>
          <a:noFill/>
          <a:ln w="25400">
            <a:solidFill>
              <a:srgbClr val="999999"/>
            </a:solidFill>
            <a:prstDash val="solid"/>
          </a:ln>
        </p:spPr>
        <p:txBody>
          <a:bodyPr/>
          <a:lstStyle/>
          <a:p>
            <a:endParaRPr lang="en-US"/>
          </a:p>
        </p:txBody>
      </p:sp>
      <p:sp>
        <p:nvSpPr>
          <p:cNvPr id="25" name="Shape 23"/>
          <p:cNvSpPr/>
          <p:nvPr/>
        </p:nvSpPr>
        <p:spPr>
          <a:xfrm>
            <a:off x="7251192" y="960120"/>
            <a:ext cx="1600200" cy="438912"/>
          </a:xfrm>
          <a:prstGeom prst="rect">
            <a:avLst/>
          </a:prstGeom>
          <a:solidFill>
            <a:srgbClr val="2E86C1"/>
          </a:solidFill>
          <a:ln w="12700">
            <a:solidFill>
              <a:srgbClr val="2E86C1"/>
            </a:solidFill>
            <a:prstDash val="solid"/>
          </a:ln>
        </p:spPr>
        <p:txBody>
          <a:bodyPr/>
          <a:lstStyle/>
          <a:p>
            <a:endParaRPr lang="en-US"/>
          </a:p>
        </p:txBody>
      </p:sp>
      <p:sp>
        <p:nvSpPr>
          <p:cNvPr id="26" name="Text 24"/>
          <p:cNvSpPr/>
          <p:nvPr/>
        </p:nvSpPr>
        <p:spPr>
          <a:xfrm>
            <a:off x="7296912" y="978408"/>
            <a:ext cx="1508760"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 Bitstream</a:t>
            </a:r>
            <a:endParaRPr lang="en-US" sz="1200" dirty="0"/>
          </a:p>
        </p:txBody>
      </p:sp>
      <p:sp>
        <p:nvSpPr>
          <p:cNvPr id="27" name="Shape 25"/>
          <p:cNvSpPr/>
          <p:nvPr/>
        </p:nvSpPr>
        <p:spPr>
          <a:xfrm>
            <a:off x="7251192" y="1444752"/>
            <a:ext cx="1600200" cy="822960"/>
          </a:xfrm>
          <a:prstGeom prst="rect">
            <a:avLst/>
          </a:prstGeom>
          <a:solidFill>
            <a:srgbClr val="FFFFFF"/>
          </a:solidFill>
          <a:ln w="12700">
            <a:solidFill>
              <a:srgbClr val="DDDDDD"/>
            </a:solidFill>
            <a:prstDash val="solid"/>
          </a:ln>
        </p:spPr>
        <p:txBody>
          <a:bodyPr/>
          <a:lstStyle/>
          <a:p>
            <a:endParaRPr lang="en-US"/>
          </a:p>
        </p:txBody>
      </p:sp>
      <p:sp>
        <p:nvSpPr>
          <p:cNvPr id="28" name="Text 26"/>
          <p:cNvSpPr/>
          <p:nvPr/>
        </p:nvSpPr>
        <p:spPr>
          <a:xfrm>
            <a:off x="7306056" y="1481328"/>
            <a:ext cx="1490472" cy="749808"/>
          </a:xfrm>
          <a:prstGeom prst="rect">
            <a:avLst/>
          </a:prstGeom>
          <a:noFill/>
          <a:ln/>
        </p:spPr>
        <p:txBody>
          <a:bodyPr wrap="square" rtlCol="0" anchor="ctr"/>
          <a:lstStyle/>
          <a:p>
            <a:pPr marL="0" indent="0" algn="ctr">
              <a:buNone/>
            </a:pPr>
            <a:r>
              <a:rPr lang="en-US" sz="1000" dirty="0">
                <a:solidFill>
                  <a:srgbClr val="1A252F"/>
                </a:solidFill>
                <a:latin typeface="Calibri" pitchFamily="34" charset="0"/>
                <a:ea typeface="Calibri" pitchFamily="34" charset="-122"/>
                <a:cs typeface="Calibri" pitchFamily="34" charset="-120"/>
              </a:rPr>
              <a:t>Generate .bit file</a:t>
            </a:r>
            <a:endParaRPr lang="en-US" sz="1000" dirty="0"/>
          </a:p>
          <a:p>
            <a:pPr marL="0" indent="0" algn="ctr">
              <a:buNone/>
            </a:pPr>
            <a:r>
              <a:rPr lang="en-US" sz="1000" dirty="0">
                <a:solidFill>
                  <a:srgbClr val="1A252F"/>
                </a:solidFill>
                <a:latin typeface="Calibri" pitchFamily="34" charset="0"/>
                <a:ea typeface="Calibri" pitchFamily="34" charset="-122"/>
                <a:cs typeface="Calibri" pitchFamily="34" charset="-120"/>
              </a:rPr>
              <a:t>for FPGA programming</a:t>
            </a:r>
            <a:endParaRPr lang="en-US" sz="1000" dirty="0"/>
          </a:p>
        </p:txBody>
      </p:sp>
      <p:sp>
        <p:nvSpPr>
          <p:cNvPr id="29" name="Shape 27"/>
          <p:cNvSpPr/>
          <p:nvPr/>
        </p:nvSpPr>
        <p:spPr>
          <a:xfrm>
            <a:off x="228600" y="2423160"/>
            <a:ext cx="4206240" cy="2514600"/>
          </a:xfrm>
          <a:prstGeom prst="rect">
            <a:avLst/>
          </a:prstGeom>
          <a:solidFill>
            <a:srgbClr val="0D1B2A"/>
          </a:solidFill>
          <a:ln w="12700">
            <a:solidFill>
              <a:srgbClr val="0D1B2A"/>
            </a:solidFill>
            <a:prstDash val="solid"/>
          </a:ln>
          <a:effectLst>
            <a:outerShdw blurRad="101600" dist="38100" dir="8100000" algn="bl" rotWithShape="0">
              <a:srgbClr val="000000">
                <a:alpha val="18000"/>
              </a:srgbClr>
            </a:outerShdw>
          </a:effectLst>
        </p:spPr>
        <p:txBody>
          <a:bodyPr/>
          <a:lstStyle/>
          <a:p>
            <a:endParaRPr lang="en-US"/>
          </a:p>
        </p:txBody>
      </p:sp>
      <p:sp>
        <p:nvSpPr>
          <p:cNvPr id="30" name="Text 28"/>
          <p:cNvSpPr/>
          <p:nvPr/>
        </p:nvSpPr>
        <p:spPr>
          <a:xfrm>
            <a:off x="365760" y="2487168"/>
            <a:ext cx="3931920" cy="365760"/>
          </a:xfrm>
          <a:prstGeom prst="rect">
            <a:avLst/>
          </a:prstGeom>
          <a:noFill/>
          <a:ln/>
        </p:spPr>
        <p:txBody>
          <a:bodyPr wrap="square" rtlCol="0" anchor="ctr"/>
          <a:lstStyle/>
          <a:p>
            <a:pPr marL="0" indent="0">
              <a:buNone/>
            </a:pPr>
            <a:r>
              <a:rPr lang="en-US" sz="1400" b="1" dirty="0">
                <a:solidFill>
                  <a:srgbClr val="AED6F1"/>
                </a:solidFill>
                <a:latin typeface="Calibri" pitchFamily="34" charset="0"/>
                <a:ea typeface="Calibri" pitchFamily="34" charset="-122"/>
                <a:cs typeface="Calibri" pitchFamily="34" charset="-120"/>
              </a:rPr>
              <a:t>XDC Constraints File</a:t>
            </a:r>
            <a:endParaRPr lang="en-US" sz="1400" dirty="0"/>
          </a:p>
        </p:txBody>
      </p:sp>
      <p:sp>
        <p:nvSpPr>
          <p:cNvPr id="31" name="Text 29"/>
          <p:cNvSpPr/>
          <p:nvPr/>
        </p:nvSpPr>
        <p:spPr>
          <a:xfrm>
            <a:off x="365760" y="2907792"/>
            <a:ext cx="3931920" cy="1828800"/>
          </a:xfrm>
          <a:prstGeom prst="rect">
            <a:avLst/>
          </a:prstGeom>
          <a:noFill/>
          <a:ln/>
        </p:spPr>
        <p:txBody>
          <a:bodyPr wrap="square" rtlCol="0" anchor="ctr"/>
          <a:lstStyle/>
          <a:p>
            <a:pPr marL="0" indent="0">
              <a:buNone/>
            </a:pPr>
            <a:r>
              <a:rPr lang="en-US" sz="1100" b="1" dirty="0">
                <a:solidFill>
                  <a:srgbClr val="2E86C1"/>
                </a:solidFill>
                <a:latin typeface="Courier New" pitchFamily="34" charset="0"/>
                <a:ea typeface="Courier New" pitchFamily="34" charset="-122"/>
                <a:cs typeface="Courier New" pitchFamily="34" charset="-120"/>
              </a:rPr>
              <a:t>set_property PACKAGE_PIN W5 [get_ports Clk]</a:t>
            </a:r>
            <a:endParaRPr lang="en-US" sz="1100" dirty="0"/>
          </a:p>
          <a:p>
            <a:pPr marL="0" indent="0">
              <a:buNone/>
            </a:pPr>
            <a:r>
              <a:rPr lang="en-US" sz="1100" b="1" dirty="0">
                <a:solidFill>
                  <a:srgbClr val="2E86C1"/>
                </a:solidFill>
                <a:latin typeface="Courier New" pitchFamily="34" charset="0"/>
                <a:ea typeface="Courier New" pitchFamily="34" charset="-122"/>
                <a:cs typeface="Courier New" pitchFamily="34" charset="-120"/>
              </a:rPr>
              <a:t>set_property IOSTANDARD LVCMOS33 [get_ports Clk]</a:t>
            </a:r>
            <a:endParaRPr lang="en-US" sz="1100" dirty="0"/>
          </a:p>
          <a:p>
            <a:pPr marL="0" indent="0">
              <a:buNone/>
            </a:pPr>
            <a:r>
              <a:rPr lang="en-US" sz="1100" b="1" dirty="0">
                <a:solidFill>
                  <a:srgbClr val="2E86C1"/>
                </a:solidFill>
                <a:latin typeface="Courier New" pitchFamily="34" charset="0"/>
                <a:ea typeface="Courier New" pitchFamily="34" charset="-122"/>
                <a:cs typeface="Courier New" pitchFamily="34" charset="-120"/>
              </a:rPr>
              <a:t>create_clock -period 10.00 [get_ports Clk]</a:t>
            </a:r>
            <a:endParaRPr lang="en-US" sz="1100" dirty="0"/>
          </a:p>
          <a:p>
            <a:pPr marL="0" indent="0">
              <a:buNone/>
            </a:pPr>
            <a:r>
              <a:rPr lang="en-US" sz="1100" b="1" dirty="0">
                <a:solidFill>
                  <a:srgbClr val="2E86C1"/>
                </a:solidFill>
                <a:latin typeface="Courier New" pitchFamily="34" charset="0"/>
                <a:ea typeface="Courier New" pitchFamily="34" charset="-122"/>
                <a:cs typeface="Courier New" pitchFamily="34" charset="-120"/>
              </a:rPr>
              <a:t>set_property PACKAGE_PIN U18 [get_ports Reset]</a:t>
            </a:r>
            <a:endParaRPr lang="en-US" sz="1100" dirty="0"/>
          </a:p>
          <a:p>
            <a:pPr marL="0" indent="0">
              <a:buNone/>
            </a:pPr>
            <a:r>
              <a:rPr lang="en-US" sz="1100" b="1" dirty="0">
                <a:solidFill>
                  <a:srgbClr val="2E86C1"/>
                </a:solidFill>
                <a:latin typeface="Courier New" pitchFamily="34" charset="0"/>
                <a:ea typeface="Courier New" pitchFamily="34" charset="-122"/>
                <a:cs typeface="Courier New" pitchFamily="34" charset="-120"/>
              </a:rPr>
              <a:t>set_property PACKAGE_PIN U16 [get_ports {R7[0]}]</a:t>
            </a:r>
            <a:endParaRPr lang="en-US" sz="11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617720" y="2423160"/>
          <a:ext cx="4297680" cy="2487168"/>
        </p:xfrm>
        <a:graphic>
          <a:graphicData uri="http://schemas.openxmlformats.org/drawingml/2006/table">
            <a:tbl>
              <a:tblPr/>
              <a:tblGrid>
                <a:gridCol w="13716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Port</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2E86C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Pin</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2E86C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Board</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2E86C1"/>
                    </a:solidFill>
                  </a:tcPr>
                </a:tc>
                <a:extLst>
                  <a:ext uri="{0D108BD9-81ED-4DB2-BD59-A6C34878D82A}">
                    <a16:rowId xmlns:a16="http://schemas.microsoft.com/office/drawing/2014/main" val="10000"/>
                  </a:ext>
                </a:extLst>
              </a:tr>
              <a:tr h="310896">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Clk</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W5</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100 MHz oscillator</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Reset</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U18</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btnC — centre button</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R7[0..3]</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U16,E19,U19,V19</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LD0–LD3</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Zero</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V14</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LD14</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Overflow</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V3</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LD15</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Seg7[0..6]</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W7–U7</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7-seg segments</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Anode[0..3]</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U2,U4,V4,W4</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Digit selects</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4F72"/>
        </a:solidFill>
        <a:effectLst/>
      </p:bgPr>
    </p:bg>
    <p:spTree>
      <p:nvGrpSpPr>
        <p:cNvPr id="1" name=""/>
        <p:cNvGrpSpPr/>
        <p:nvPr/>
      </p:nvGrpSpPr>
      <p:grpSpPr>
        <a:xfrm>
          <a:off x="0" y="0"/>
          <a:ext cx="0" cy="0"/>
          <a:chOff x="0" y="0"/>
          <a:chExt cx="0" cy="0"/>
        </a:xfrm>
      </p:grpSpPr>
      <p:sp>
        <p:nvSpPr>
          <p:cNvPr id="2" name="Shape 0"/>
          <p:cNvSpPr/>
          <p:nvPr/>
        </p:nvSpPr>
        <p:spPr>
          <a:xfrm>
            <a:off x="0" y="2011680"/>
            <a:ext cx="9144000" cy="1188720"/>
          </a:xfrm>
          <a:prstGeom prst="rect">
            <a:avLst/>
          </a:prstGeom>
          <a:solidFill>
            <a:srgbClr val="2E86C1"/>
          </a:solidFill>
          <a:ln w="12700">
            <a:solidFill>
              <a:srgbClr val="2E86C1"/>
            </a:solidFill>
            <a:prstDash val="solid"/>
          </a:ln>
        </p:spPr>
        <p:txBody>
          <a:bodyPr/>
          <a:lstStyle/>
          <a:p>
            <a:endParaRPr lang="en-US"/>
          </a:p>
        </p:txBody>
      </p:sp>
      <p:sp>
        <p:nvSpPr>
          <p:cNvPr id="3" name="Text 1"/>
          <p:cNvSpPr/>
          <p:nvPr/>
        </p:nvSpPr>
        <p:spPr>
          <a:xfrm>
            <a:off x="365760" y="548640"/>
            <a:ext cx="1828800" cy="1463040"/>
          </a:xfrm>
          <a:prstGeom prst="rect">
            <a:avLst/>
          </a:prstGeom>
          <a:noFill/>
          <a:ln/>
        </p:spPr>
        <p:txBody>
          <a:bodyPr wrap="square" rtlCol="0" anchor="ctr"/>
          <a:lstStyle/>
          <a:p>
            <a:pPr marL="0" indent="0" algn="l">
              <a:buNone/>
            </a:pPr>
            <a:r>
              <a:rPr lang="en-US" sz="8000" b="1" dirty="0">
                <a:solidFill>
                  <a:srgbClr val="AED6F1"/>
                </a:solidFill>
                <a:latin typeface="Calibri" pitchFamily="34" charset="0"/>
                <a:ea typeface="Calibri" pitchFamily="34" charset="-122"/>
                <a:cs typeface="Calibri" pitchFamily="34" charset="-120"/>
              </a:rPr>
              <a:t>05</a:t>
            </a:r>
            <a:endParaRPr lang="en-US" sz="8000" dirty="0"/>
          </a:p>
        </p:txBody>
      </p:sp>
      <p:sp>
        <p:nvSpPr>
          <p:cNvPr id="4" name="Text 2"/>
          <p:cNvSpPr/>
          <p:nvPr/>
        </p:nvSpPr>
        <p:spPr>
          <a:xfrm>
            <a:off x="365760" y="2103120"/>
            <a:ext cx="8412480" cy="1005840"/>
          </a:xfrm>
          <a:prstGeom prst="rect">
            <a:avLst/>
          </a:prstGeom>
          <a:noFill/>
          <a:ln/>
        </p:spPr>
        <p:txBody>
          <a:bodyPr wrap="square" rtlCol="0" anchor="ctr"/>
          <a:lstStyle/>
          <a:p>
            <a:pPr marL="0" indent="0" algn="l">
              <a:buNone/>
            </a:pPr>
            <a:r>
              <a:rPr lang="en-US" sz="3400" b="1" dirty="0">
                <a:solidFill>
                  <a:srgbClr val="FFFFFF"/>
                </a:solidFill>
                <a:latin typeface="Calibri" pitchFamily="34" charset="0"/>
                <a:ea typeface="Calibri" pitchFamily="34" charset="-122"/>
                <a:cs typeface="Calibri" pitchFamily="34" charset="-120"/>
              </a:rPr>
              <a:t>Resource Utilisation</a:t>
            </a:r>
            <a:endParaRPr lang="en-US" sz="3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E86C1"/>
          </a:solidFill>
          <a:ln w="12700">
            <a:solidFill>
              <a:srgbClr val="2E86C1"/>
            </a:solidFill>
            <a:prstDash val="solid"/>
          </a:ln>
        </p:spPr>
        <p:txBody>
          <a:bodyPr/>
          <a:lstStyle/>
          <a:p>
            <a:endParaRPr lang="en-US"/>
          </a:p>
        </p:txBody>
      </p:sp>
      <p:sp>
        <p:nvSpPr>
          <p:cNvPr id="3" name="Shape 1"/>
          <p:cNvSpPr/>
          <p:nvPr/>
        </p:nvSpPr>
        <p:spPr>
          <a:xfrm>
            <a:off x="0" y="0"/>
            <a:ext cx="9144000" cy="713232"/>
          </a:xfrm>
          <a:prstGeom prst="rect">
            <a:avLst/>
          </a:prstGeom>
          <a:solidFill>
            <a:srgbClr val="0D1B2A"/>
          </a:solidFill>
          <a:ln w="12700">
            <a:solidFill>
              <a:srgbClr val="0D1B2A"/>
            </a:solidFill>
            <a:prstDash val="solid"/>
          </a:ln>
        </p:spPr>
        <p:txBody>
          <a:bodyPr/>
          <a:lstStyle/>
          <a:p>
            <a:endParaRPr lang="en-US"/>
          </a:p>
        </p:txBody>
      </p:sp>
      <p:sp>
        <p:nvSpPr>
          <p:cNvPr id="4" name="Text 2"/>
          <p:cNvSpPr/>
          <p:nvPr/>
        </p:nvSpPr>
        <p:spPr>
          <a:xfrm>
            <a:off x="274320" y="73152"/>
            <a:ext cx="8595360"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Resource Utilisation — xc7a35tcpg236-1 (BASYS3)</a:t>
            </a:r>
            <a:endParaRPr lang="en-US" sz="2200" dirty="0"/>
          </a:p>
        </p:txBody>
      </p:sp>
      <p:sp>
        <p:nvSpPr>
          <p:cNvPr id="5" name="Shape 3"/>
          <p:cNvSpPr/>
          <p:nvPr/>
        </p:nvSpPr>
        <p:spPr>
          <a:xfrm>
            <a:off x="228998" y="918972"/>
            <a:ext cx="2084832" cy="1417320"/>
          </a:xfrm>
          <a:prstGeom prst="rect">
            <a:avLst/>
          </a:prstGeom>
          <a:solidFill>
            <a:srgbClr val="2E86C1"/>
          </a:solidFill>
          <a:ln w="12700">
            <a:solidFill>
              <a:srgbClr val="2E86C1"/>
            </a:solidFill>
            <a:prstDash val="solid"/>
          </a:ln>
          <a:effectLst>
            <a:outerShdw blurRad="101600" dist="38100" dir="8100000" algn="bl" rotWithShape="0">
              <a:srgbClr val="000000">
                <a:alpha val="18000"/>
              </a:srgbClr>
            </a:outerShdw>
          </a:effectLst>
        </p:spPr>
        <p:txBody>
          <a:bodyPr/>
          <a:lstStyle/>
          <a:p>
            <a:endParaRPr lang="en-US"/>
          </a:p>
        </p:txBody>
      </p:sp>
      <p:sp>
        <p:nvSpPr>
          <p:cNvPr id="6" name="Text 4"/>
          <p:cNvSpPr/>
          <p:nvPr/>
        </p:nvSpPr>
        <p:spPr>
          <a:xfrm>
            <a:off x="274320" y="960120"/>
            <a:ext cx="1993392" cy="777240"/>
          </a:xfrm>
          <a:prstGeom prst="rect">
            <a:avLst/>
          </a:prstGeom>
          <a:noFill/>
          <a:ln/>
        </p:spPr>
        <p:txBody>
          <a:bodyPr wrap="square" lIns="0" tIns="0" rIns="0" bIns="0" rtlCol="0" anchor="ctr"/>
          <a:lstStyle/>
          <a:p>
            <a:pPr marL="0" indent="0" algn="ctr">
              <a:buNone/>
            </a:pPr>
            <a:r>
              <a:rPr lang="en-US" sz="5200" b="1" dirty="0">
                <a:solidFill>
                  <a:srgbClr val="FFFFFF"/>
                </a:solidFill>
                <a:latin typeface="Calibri" pitchFamily="34" charset="0"/>
                <a:ea typeface="Calibri" pitchFamily="34" charset="-122"/>
                <a:cs typeface="Calibri" pitchFamily="34" charset="-120"/>
              </a:rPr>
              <a:t>20</a:t>
            </a:r>
            <a:endParaRPr lang="en-US" sz="5200" dirty="0"/>
          </a:p>
        </p:txBody>
      </p:sp>
      <p:sp>
        <p:nvSpPr>
          <p:cNvPr id="7" name="Text 5"/>
          <p:cNvSpPr/>
          <p:nvPr/>
        </p:nvSpPr>
        <p:spPr>
          <a:xfrm>
            <a:off x="274320" y="1737360"/>
            <a:ext cx="1993392"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Slice LUTs</a:t>
            </a:r>
            <a:endParaRPr lang="en-US" sz="1300" dirty="0"/>
          </a:p>
        </p:txBody>
      </p:sp>
      <p:sp>
        <p:nvSpPr>
          <p:cNvPr id="8" name="Text 6"/>
          <p:cNvSpPr/>
          <p:nvPr/>
        </p:nvSpPr>
        <p:spPr>
          <a:xfrm>
            <a:off x="228998" y="2359152"/>
            <a:ext cx="2103120" cy="274320"/>
          </a:xfrm>
          <a:prstGeom prst="rect">
            <a:avLst/>
          </a:prstGeom>
          <a:noFill/>
          <a:ln/>
        </p:spPr>
        <p:txBody>
          <a:bodyPr wrap="square" rtlCol="0" anchor="ctr"/>
          <a:lstStyle/>
          <a:p>
            <a:pPr algn="ctr"/>
            <a:r>
              <a:rPr lang="en-US" sz="1000" dirty="0">
                <a:solidFill>
                  <a:srgbClr val="5D6D7E"/>
                </a:solidFill>
                <a:latin typeface="Calibri" pitchFamily="34" charset="0"/>
                <a:ea typeface="Calibri" pitchFamily="34" charset="-122"/>
                <a:cs typeface="Calibri" pitchFamily="34" charset="-120"/>
              </a:rPr>
              <a:t>of 20,800  (0.10% of FPGA resource)</a:t>
            </a:r>
            <a:endParaRPr lang="en-US" sz="1000" dirty="0"/>
          </a:p>
        </p:txBody>
      </p:sp>
      <p:sp>
        <p:nvSpPr>
          <p:cNvPr id="9" name="Shape 7"/>
          <p:cNvSpPr/>
          <p:nvPr/>
        </p:nvSpPr>
        <p:spPr>
          <a:xfrm>
            <a:off x="2450592" y="914400"/>
            <a:ext cx="2084832" cy="1417320"/>
          </a:xfrm>
          <a:prstGeom prst="rect">
            <a:avLst/>
          </a:prstGeom>
          <a:solidFill>
            <a:srgbClr val="1E8449"/>
          </a:solidFill>
          <a:ln w="12700">
            <a:solidFill>
              <a:srgbClr val="1E8449"/>
            </a:solidFill>
            <a:prstDash val="solid"/>
          </a:ln>
          <a:effectLst>
            <a:outerShdw blurRad="101600" dist="38100" dir="8100000" algn="bl" rotWithShape="0">
              <a:srgbClr val="000000">
                <a:alpha val="18000"/>
              </a:srgbClr>
            </a:outerShdw>
          </a:effectLst>
        </p:spPr>
        <p:txBody>
          <a:bodyPr/>
          <a:lstStyle/>
          <a:p>
            <a:endParaRPr lang="en-US"/>
          </a:p>
        </p:txBody>
      </p:sp>
      <p:sp>
        <p:nvSpPr>
          <p:cNvPr id="10" name="Text 8"/>
          <p:cNvSpPr/>
          <p:nvPr/>
        </p:nvSpPr>
        <p:spPr>
          <a:xfrm>
            <a:off x="2496312" y="960120"/>
            <a:ext cx="1993392" cy="777240"/>
          </a:xfrm>
          <a:prstGeom prst="rect">
            <a:avLst/>
          </a:prstGeom>
          <a:noFill/>
          <a:ln/>
        </p:spPr>
        <p:txBody>
          <a:bodyPr wrap="square" lIns="0" tIns="0" rIns="0" bIns="0" rtlCol="0" anchor="ctr"/>
          <a:lstStyle/>
          <a:p>
            <a:pPr marL="0" indent="0" algn="ctr">
              <a:buNone/>
            </a:pPr>
            <a:r>
              <a:rPr lang="en-US" sz="5200" b="1" dirty="0">
                <a:solidFill>
                  <a:srgbClr val="FFFFFF"/>
                </a:solidFill>
                <a:latin typeface="Calibri" pitchFamily="34" charset="0"/>
                <a:ea typeface="Calibri" pitchFamily="34" charset="-122"/>
                <a:cs typeface="Calibri" pitchFamily="34" charset="-120"/>
              </a:rPr>
              <a:t>41</a:t>
            </a:r>
            <a:endParaRPr lang="en-US" sz="5200" dirty="0"/>
          </a:p>
        </p:txBody>
      </p:sp>
      <p:sp>
        <p:nvSpPr>
          <p:cNvPr id="11" name="Text 9"/>
          <p:cNvSpPr/>
          <p:nvPr/>
        </p:nvSpPr>
        <p:spPr>
          <a:xfrm>
            <a:off x="2496312" y="1737360"/>
            <a:ext cx="1993392"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Flip-Flops</a:t>
            </a:r>
            <a:endParaRPr lang="en-US" sz="1300" dirty="0"/>
          </a:p>
        </p:txBody>
      </p:sp>
      <p:sp>
        <p:nvSpPr>
          <p:cNvPr id="12" name="Text 10"/>
          <p:cNvSpPr/>
          <p:nvPr/>
        </p:nvSpPr>
        <p:spPr>
          <a:xfrm>
            <a:off x="2496312" y="2359152"/>
            <a:ext cx="1993392" cy="274320"/>
          </a:xfrm>
          <a:prstGeom prst="rect">
            <a:avLst/>
          </a:prstGeom>
          <a:noFill/>
          <a:ln/>
        </p:spPr>
        <p:txBody>
          <a:bodyPr wrap="square" rtlCol="0" anchor="ctr"/>
          <a:lstStyle/>
          <a:p>
            <a:pPr marL="0" indent="0" algn="ctr">
              <a:buNone/>
            </a:pPr>
            <a:r>
              <a:rPr lang="en-US" sz="1000" dirty="0">
                <a:solidFill>
                  <a:srgbClr val="5D6D7E"/>
                </a:solidFill>
                <a:latin typeface="Calibri" pitchFamily="34" charset="0"/>
                <a:ea typeface="Calibri" pitchFamily="34" charset="-122"/>
                <a:cs typeface="Calibri" pitchFamily="34" charset="-120"/>
              </a:rPr>
              <a:t>FDRE  (0.10% of FPGA resource)</a:t>
            </a:r>
            <a:endParaRPr lang="en-US" sz="1000" dirty="0"/>
          </a:p>
        </p:txBody>
      </p:sp>
      <p:sp>
        <p:nvSpPr>
          <p:cNvPr id="13" name="Shape 11"/>
          <p:cNvSpPr/>
          <p:nvPr/>
        </p:nvSpPr>
        <p:spPr>
          <a:xfrm>
            <a:off x="4672584" y="914400"/>
            <a:ext cx="2084832" cy="1417320"/>
          </a:xfrm>
          <a:prstGeom prst="rect">
            <a:avLst/>
          </a:prstGeom>
          <a:solidFill>
            <a:srgbClr val="D35400"/>
          </a:solidFill>
          <a:ln w="12700">
            <a:solidFill>
              <a:srgbClr val="D35400"/>
            </a:solidFill>
            <a:prstDash val="solid"/>
          </a:ln>
          <a:effectLst>
            <a:outerShdw blurRad="101600" dist="38100" dir="8100000" algn="bl" rotWithShape="0">
              <a:srgbClr val="000000">
                <a:alpha val="18000"/>
              </a:srgbClr>
            </a:outerShdw>
          </a:effectLst>
        </p:spPr>
        <p:txBody>
          <a:bodyPr/>
          <a:lstStyle/>
          <a:p>
            <a:endParaRPr lang="en-US"/>
          </a:p>
        </p:txBody>
      </p:sp>
      <p:sp>
        <p:nvSpPr>
          <p:cNvPr id="14" name="Text 12"/>
          <p:cNvSpPr/>
          <p:nvPr/>
        </p:nvSpPr>
        <p:spPr>
          <a:xfrm>
            <a:off x="4718304" y="960120"/>
            <a:ext cx="1993392" cy="777240"/>
          </a:xfrm>
          <a:prstGeom prst="rect">
            <a:avLst/>
          </a:prstGeom>
          <a:noFill/>
          <a:ln/>
        </p:spPr>
        <p:txBody>
          <a:bodyPr wrap="square" lIns="0" tIns="0" rIns="0" bIns="0" rtlCol="0" anchor="ctr"/>
          <a:lstStyle/>
          <a:p>
            <a:pPr marL="0" indent="0" algn="ctr">
              <a:buNone/>
            </a:pPr>
            <a:r>
              <a:rPr lang="en-US" sz="5200" b="1" dirty="0">
                <a:solidFill>
                  <a:srgbClr val="FFFFFF"/>
                </a:solidFill>
                <a:latin typeface="Calibri" pitchFamily="34" charset="0"/>
                <a:ea typeface="Calibri" pitchFamily="34" charset="-122"/>
                <a:cs typeface="Calibri" pitchFamily="34" charset="-120"/>
              </a:rPr>
              <a:t>7</a:t>
            </a:r>
            <a:endParaRPr lang="en-US" sz="5200" dirty="0"/>
          </a:p>
        </p:txBody>
      </p:sp>
      <p:sp>
        <p:nvSpPr>
          <p:cNvPr id="15" name="Text 13"/>
          <p:cNvSpPr/>
          <p:nvPr/>
        </p:nvSpPr>
        <p:spPr>
          <a:xfrm>
            <a:off x="4718304" y="1737360"/>
            <a:ext cx="1993392"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CARRY4</a:t>
            </a:r>
            <a:endParaRPr lang="en-US" sz="1300" dirty="0"/>
          </a:p>
        </p:txBody>
      </p:sp>
      <p:sp>
        <p:nvSpPr>
          <p:cNvPr id="16" name="Text 14"/>
          <p:cNvSpPr/>
          <p:nvPr/>
        </p:nvSpPr>
        <p:spPr>
          <a:xfrm>
            <a:off x="4718304" y="2359152"/>
            <a:ext cx="1993392" cy="274320"/>
          </a:xfrm>
          <a:prstGeom prst="rect">
            <a:avLst/>
          </a:prstGeom>
          <a:noFill/>
          <a:ln/>
        </p:spPr>
        <p:txBody>
          <a:bodyPr wrap="square" rtlCol="0" anchor="ctr"/>
          <a:lstStyle/>
          <a:p>
            <a:pPr marL="0" indent="0" algn="ctr">
              <a:buNone/>
            </a:pPr>
            <a:r>
              <a:rPr lang="en-US" sz="1000" dirty="0">
                <a:solidFill>
                  <a:srgbClr val="5D6D7E"/>
                </a:solidFill>
                <a:latin typeface="Calibri" pitchFamily="34" charset="0"/>
                <a:ea typeface="Calibri" pitchFamily="34" charset="-122"/>
                <a:cs typeface="Calibri" pitchFamily="34" charset="-120"/>
              </a:rPr>
              <a:t>Dedicated carry chains for Fast addition operations.</a:t>
            </a:r>
            <a:endParaRPr lang="en-US" sz="1000" dirty="0"/>
          </a:p>
        </p:txBody>
      </p:sp>
      <p:sp>
        <p:nvSpPr>
          <p:cNvPr id="17" name="Shape 15"/>
          <p:cNvSpPr/>
          <p:nvPr/>
        </p:nvSpPr>
        <p:spPr>
          <a:xfrm>
            <a:off x="6894576" y="914400"/>
            <a:ext cx="2084832" cy="1417320"/>
          </a:xfrm>
          <a:prstGeom prst="rect">
            <a:avLst/>
          </a:prstGeom>
          <a:solidFill>
            <a:srgbClr val="6C3483"/>
          </a:solidFill>
          <a:ln w="12700">
            <a:solidFill>
              <a:srgbClr val="6C3483"/>
            </a:solidFill>
            <a:prstDash val="solid"/>
          </a:ln>
          <a:effectLst>
            <a:outerShdw blurRad="101600" dist="38100" dir="8100000" algn="bl" rotWithShape="0">
              <a:srgbClr val="000000">
                <a:alpha val="18000"/>
              </a:srgbClr>
            </a:outerShdw>
          </a:effectLst>
        </p:spPr>
        <p:txBody>
          <a:bodyPr/>
          <a:lstStyle/>
          <a:p>
            <a:endParaRPr lang="en-US"/>
          </a:p>
        </p:txBody>
      </p:sp>
      <p:sp>
        <p:nvSpPr>
          <p:cNvPr id="18" name="Text 16"/>
          <p:cNvSpPr/>
          <p:nvPr/>
        </p:nvSpPr>
        <p:spPr>
          <a:xfrm>
            <a:off x="6940296" y="960120"/>
            <a:ext cx="1993392" cy="777240"/>
          </a:xfrm>
          <a:prstGeom prst="rect">
            <a:avLst/>
          </a:prstGeom>
          <a:noFill/>
          <a:ln/>
        </p:spPr>
        <p:txBody>
          <a:bodyPr wrap="square" lIns="0" tIns="0" rIns="0" bIns="0" rtlCol="0" anchor="ctr"/>
          <a:lstStyle/>
          <a:p>
            <a:pPr marL="0" indent="0" algn="ctr">
              <a:buNone/>
            </a:pPr>
            <a:r>
              <a:rPr lang="en-US" sz="5200" b="1" dirty="0">
                <a:solidFill>
                  <a:srgbClr val="FFFFFF"/>
                </a:solidFill>
                <a:latin typeface="Calibri" pitchFamily="34" charset="0"/>
                <a:ea typeface="Calibri" pitchFamily="34" charset="-122"/>
                <a:cs typeface="Calibri" pitchFamily="34" charset="-120"/>
              </a:rPr>
              <a:t>0</a:t>
            </a:r>
            <a:endParaRPr lang="en-US" sz="5200" dirty="0"/>
          </a:p>
        </p:txBody>
      </p:sp>
      <p:sp>
        <p:nvSpPr>
          <p:cNvPr id="19" name="Text 17"/>
          <p:cNvSpPr/>
          <p:nvPr/>
        </p:nvSpPr>
        <p:spPr>
          <a:xfrm>
            <a:off x="6940296" y="1737360"/>
            <a:ext cx="1993392"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Block RAM / DSP</a:t>
            </a:r>
            <a:endParaRPr lang="en-US" sz="1300" dirty="0"/>
          </a:p>
        </p:txBody>
      </p:sp>
      <p:sp>
        <p:nvSpPr>
          <p:cNvPr id="20" name="Text 18"/>
          <p:cNvSpPr/>
          <p:nvPr/>
        </p:nvSpPr>
        <p:spPr>
          <a:xfrm>
            <a:off x="6940296" y="2359152"/>
            <a:ext cx="1993392" cy="274320"/>
          </a:xfrm>
          <a:prstGeom prst="rect">
            <a:avLst/>
          </a:prstGeom>
          <a:noFill/>
          <a:ln/>
        </p:spPr>
        <p:txBody>
          <a:bodyPr wrap="square" rtlCol="0" anchor="ctr"/>
          <a:lstStyle/>
          <a:p>
            <a:pPr marL="0" indent="0" algn="ctr">
              <a:buNone/>
            </a:pPr>
            <a:r>
              <a:rPr lang="en-US" sz="1000" dirty="0">
                <a:solidFill>
                  <a:srgbClr val="5D6D7E"/>
                </a:solidFill>
                <a:latin typeface="Calibri" pitchFamily="34" charset="0"/>
                <a:ea typeface="Calibri" pitchFamily="34" charset="-122"/>
                <a:cs typeface="Calibri" pitchFamily="34" charset="-120"/>
              </a:rPr>
              <a:t>Design is small &amp; fully LUT-based</a:t>
            </a:r>
            <a:endParaRPr lang="en-US" sz="1000" dirty="0"/>
          </a:p>
        </p:txBody>
      </p:sp>
      <p:sp>
        <p:nvSpPr>
          <p:cNvPr id="21" name="Shape 19"/>
          <p:cNvSpPr/>
          <p:nvPr/>
        </p:nvSpPr>
        <p:spPr>
          <a:xfrm>
            <a:off x="228600" y="2724912"/>
            <a:ext cx="5029200" cy="2267712"/>
          </a:xfrm>
          <a:prstGeom prst="rect">
            <a:avLst/>
          </a:prstGeom>
          <a:solidFill>
            <a:srgbClr val="FFFFFF"/>
          </a:solidFill>
          <a:ln w="12700">
            <a:solidFill>
              <a:srgbClr val="DDDDDD"/>
            </a:solidFill>
            <a:prstDash val="solid"/>
          </a:ln>
          <a:effectLst>
            <a:outerShdw blurRad="101600" dist="38100" dir="8100000" algn="bl" rotWithShape="0">
              <a:srgbClr val="000000">
                <a:alpha val="18000"/>
              </a:srgbClr>
            </a:outerShdw>
          </a:effectLst>
        </p:spPr>
        <p:txBody>
          <a:bodyPr/>
          <a:lstStyle/>
          <a:p>
            <a:endParaRPr lang="en-US"/>
          </a:p>
        </p:txBody>
      </p:sp>
      <p:sp>
        <p:nvSpPr>
          <p:cNvPr id="22" name="Shape 20"/>
          <p:cNvSpPr/>
          <p:nvPr/>
        </p:nvSpPr>
        <p:spPr>
          <a:xfrm>
            <a:off x="228600" y="2724912"/>
            <a:ext cx="5029200" cy="347472"/>
          </a:xfrm>
          <a:prstGeom prst="rect">
            <a:avLst/>
          </a:prstGeom>
          <a:solidFill>
            <a:srgbClr val="0D1B2A"/>
          </a:solidFill>
          <a:ln w="12700">
            <a:solidFill>
              <a:srgbClr val="0D1B2A"/>
            </a:solidFill>
            <a:prstDash val="solid"/>
          </a:ln>
        </p:spPr>
        <p:txBody>
          <a:bodyPr/>
          <a:lstStyle/>
          <a:p>
            <a:endParaRPr lang="en-US"/>
          </a:p>
        </p:txBody>
      </p:sp>
      <p:sp>
        <p:nvSpPr>
          <p:cNvPr id="23" name="Text 21"/>
          <p:cNvSpPr/>
          <p:nvPr/>
        </p:nvSpPr>
        <p:spPr>
          <a:xfrm>
            <a:off x="320040" y="2743200"/>
            <a:ext cx="4846320"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LUT Breakdown</a:t>
            </a:r>
            <a:endParaRPr lang="en-US" sz="13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274320" y="3108960"/>
          <a:ext cx="4937760" cy="1984248"/>
        </p:xfrm>
        <a:graphic>
          <a:graphicData uri="http://schemas.openxmlformats.org/drawingml/2006/table">
            <a:tbl>
              <a:tblPr/>
              <a:tblGrid>
                <a:gridCol w="73152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28346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Type</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2E86C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Count</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2E86C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Purpose</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2E86C1"/>
                    </a:solidFill>
                  </a:tcPr>
                </a:tc>
                <a:extLst>
                  <a:ext uri="{0D108BD9-81ED-4DB2-BD59-A6C34878D82A}">
                    <a16:rowId xmlns:a16="http://schemas.microsoft.com/office/drawing/2014/main" val="10000"/>
                  </a:ext>
                </a:extLst>
              </a:tr>
              <a:tr h="28346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LUT1</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Single-input (buffer/invert)</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8346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LUT2</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OR for carry logic</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8346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LUT3</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3-input MUX, adder terms</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8346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LUT4</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13</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MUX, decoder, ALU (largest group)</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8346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LUT5</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5-input MUX selections</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8346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LUT6</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7-seg encoding, register bank</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5" name="Shape 22"/>
          <p:cNvSpPr/>
          <p:nvPr/>
        </p:nvSpPr>
        <p:spPr>
          <a:xfrm>
            <a:off x="5440680" y="2724912"/>
            <a:ext cx="3474720" cy="2267712"/>
          </a:xfrm>
          <a:prstGeom prst="rect">
            <a:avLst/>
          </a:prstGeom>
          <a:solidFill>
            <a:srgbClr val="FFFFFF"/>
          </a:solidFill>
          <a:ln w="12700">
            <a:solidFill>
              <a:srgbClr val="DDDDDD"/>
            </a:solidFill>
            <a:prstDash val="solid"/>
          </a:ln>
          <a:effectLst>
            <a:outerShdw blurRad="101600" dist="38100" dir="8100000" algn="bl" rotWithShape="0">
              <a:srgbClr val="000000">
                <a:alpha val="18000"/>
              </a:srgbClr>
            </a:outerShdw>
          </a:effectLst>
        </p:spPr>
        <p:txBody>
          <a:bodyPr/>
          <a:lstStyle/>
          <a:p>
            <a:endParaRPr lang="en-US"/>
          </a:p>
        </p:txBody>
      </p:sp>
      <p:sp>
        <p:nvSpPr>
          <p:cNvPr id="26" name="Shape 23"/>
          <p:cNvSpPr/>
          <p:nvPr/>
        </p:nvSpPr>
        <p:spPr>
          <a:xfrm>
            <a:off x="5440680" y="2724912"/>
            <a:ext cx="3474720" cy="347472"/>
          </a:xfrm>
          <a:prstGeom prst="rect">
            <a:avLst/>
          </a:prstGeom>
          <a:solidFill>
            <a:srgbClr val="0D1B2A"/>
          </a:solidFill>
          <a:ln w="12700">
            <a:solidFill>
              <a:srgbClr val="0D1B2A"/>
            </a:solidFill>
            <a:prstDash val="solid"/>
          </a:ln>
        </p:spPr>
        <p:txBody>
          <a:bodyPr/>
          <a:lstStyle/>
          <a:p>
            <a:endParaRPr lang="en-US"/>
          </a:p>
        </p:txBody>
      </p:sp>
      <p:sp>
        <p:nvSpPr>
          <p:cNvPr id="27" name="Text 24"/>
          <p:cNvSpPr/>
          <p:nvPr/>
        </p:nvSpPr>
        <p:spPr>
          <a:xfrm>
            <a:off x="5532120" y="2743200"/>
            <a:ext cx="3291840"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41 FDREs Explained</a:t>
            </a:r>
            <a:endParaRPr lang="en-US" sz="1300" dirty="0"/>
          </a:p>
        </p:txBody>
      </p:sp>
      <p:sp>
        <p:nvSpPr>
          <p:cNvPr id="28" name="Text 25"/>
          <p:cNvSpPr/>
          <p:nvPr/>
        </p:nvSpPr>
        <p:spPr>
          <a:xfrm>
            <a:off x="5532120" y="3108960"/>
            <a:ext cx="3291840" cy="1828800"/>
          </a:xfrm>
          <a:prstGeom prst="rect">
            <a:avLst/>
          </a:prstGeom>
          <a:noFill/>
          <a:ln/>
        </p:spPr>
        <p:txBody>
          <a:bodyPr wrap="square" rtlCol="0" anchor="ctr"/>
          <a:lstStyle/>
          <a:p>
            <a:pPr marL="342900" indent="-342900">
              <a:buSzPct val="100000"/>
              <a:buChar char="•"/>
            </a:pPr>
            <a:r>
              <a:rPr lang="en-US" sz="1100" dirty="0">
                <a:solidFill>
                  <a:srgbClr val="1A252F"/>
                </a:solidFill>
                <a:latin typeface="Calibri" pitchFamily="34" charset="0"/>
                <a:ea typeface="Calibri" pitchFamily="34" charset="-122"/>
                <a:cs typeface="Calibri" pitchFamily="34" charset="-120"/>
              </a:rPr>
              <a:t>26 — Slow_Clk 26-bit counter</a:t>
            </a:r>
            <a:endParaRPr lang="en-US" sz="1100" dirty="0"/>
          </a:p>
          <a:p>
            <a:pPr marL="342900" indent="-342900">
              <a:buSzPct val="100000"/>
              <a:buChar char="•"/>
            </a:pPr>
            <a:r>
              <a:rPr lang="en-US" sz="1100" dirty="0">
                <a:solidFill>
                  <a:srgbClr val="1A252F"/>
                </a:solidFill>
                <a:latin typeface="Calibri" pitchFamily="34" charset="0"/>
                <a:ea typeface="Calibri" pitchFamily="34" charset="-122"/>
                <a:cs typeface="Calibri" pitchFamily="34" charset="-120"/>
              </a:rPr>
              <a:t>12 — Registers R4, R5, R7 only (3×4)</a:t>
            </a:r>
            <a:endParaRPr lang="en-US" sz="1100" dirty="0"/>
          </a:p>
          <a:p>
            <a:pPr marL="342900" indent="-342900">
              <a:buSzPct val="100000"/>
              <a:buChar char="•"/>
            </a:pPr>
            <a:r>
              <a:rPr lang="en-US" sz="1100" dirty="0">
                <a:solidFill>
                  <a:srgbClr val="1A252F"/>
                </a:solidFill>
                <a:latin typeface="Calibri" pitchFamily="34" charset="0"/>
                <a:ea typeface="Calibri" pitchFamily="34" charset="-122"/>
                <a:cs typeface="Calibri" pitchFamily="34" charset="-120"/>
              </a:rPr>
              <a:t>3 — Program Counter (3-bit)</a:t>
            </a:r>
            <a:endParaRPr lang="en-US" sz="1100" dirty="0"/>
          </a:p>
          <a:p>
            <a:pPr marL="342900" indent="-342900">
              <a:buSzPct val="100000"/>
              <a:buChar char="•"/>
            </a:pPr>
            <a:r>
              <a:rPr lang="en-US" sz="1100" b="1" dirty="0">
                <a:solidFill>
                  <a:srgbClr val="1A252F"/>
                </a:solidFill>
                <a:latin typeface="Calibri" pitchFamily="34" charset="0"/>
                <a:ea typeface="Calibri" pitchFamily="34" charset="-122"/>
                <a:cs typeface="Calibri" pitchFamily="34" charset="-120"/>
              </a:rPr>
              <a:t>= 41 total</a:t>
            </a:r>
          </a:p>
          <a:p>
            <a:pPr marL="342900" indent="-342900">
              <a:buSzPct val="100000"/>
              <a:buChar char="•"/>
            </a:pPr>
            <a:endParaRPr lang="en-US" sz="1100" b="1" dirty="0">
              <a:solidFill>
                <a:srgbClr val="1A252F"/>
              </a:solidFill>
              <a:latin typeface="Calibri" pitchFamily="34" charset="0"/>
              <a:ea typeface="Calibri" pitchFamily="34" charset="-122"/>
              <a:cs typeface="Calibri" pitchFamily="34" charset="-120"/>
            </a:endParaRPr>
          </a:p>
          <a:p>
            <a:pPr>
              <a:buSzPct val="100000"/>
            </a:pPr>
            <a:r>
              <a:rPr lang="en-US" sz="1100" b="1" dirty="0">
                <a:solidFill>
                  <a:srgbClr val="1A252F"/>
                </a:solidFill>
                <a:latin typeface="Calibri" pitchFamily="34" charset="0"/>
                <a:ea typeface="Calibri" pitchFamily="34" charset="-122"/>
                <a:cs typeface="Calibri" pitchFamily="34" charset="-120"/>
              </a:rPr>
              <a:t>Vivado automatically removed unused registers such as R1,R2,R3 and R6. This optimization is called Dead logic elimination.</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E86C1"/>
          </a:solidFill>
          <a:ln w="12700">
            <a:solidFill>
              <a:srgbClr val="2E86C1"/>
            </a:solidFill>
            <a:prstDash val="solid"/>
          </a:ln>
        </p:spPr>
        <p:txBody>
          <a:bodyPr/>
          <a:lstStyle/>
          <a:p>
            <a:endParaRPr lang="en-US"/>
          </a:p>
        </p:txBody>
      </p:sp>
      <p:sp>
        <p:nvSpPr>
          <p:cNvPr id="3" name="Shape 1"/>
          <p:cNvSpPr/>
          <p:nvPr/>
        </p:nvSpPr>
        <p:spPr>
          <a:xfrm>
            <a:off x="0" y="0"/>
            <a:ext cx="9144000" cy="713232"/>
          </a:xfrm>
          <a:prstGeom prst="rect">
            <a:avLst/>
          </a:prstGeom>
          <a:solidFill>
            <a:srgbClr val="0D1B2A"/>
          </a:solidFill>
          <a:ln w="12700">
            <a:solidFill>
              <a:srgbClr val="0D1B2A"/>
            </a:solidFill>
            <a:prstDash val="solid"/>
          </a:ln>
        </p:spPr>
        <p:txBody>
          <a:bodyPr/>
          <a:lstStyle/>
          <a:p>
            <a:endParaRPr lang="en-US"/>
          </a:p>
        </p:txBody>
      </p:sp>
      <p:sp>
        <p:nvSpPr>
          <p:cNvPr id="4" name="Text 2"/>
          <p:cNvSpPr/>
          <p:nvPr/>
        </p:nvSpPr>
        <p:spPr>
          <a:xfrm>
            <a:off x="274320" y="73152"/>
            <a:ext cx="8595360"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Resource Minimisation — Measures Taken</a:t>
            </a:r>
            <a:endParaRPr lang="en-US" sz="2200" dirty="0"/>
          </a:p>
        </p:txBody>
      </p:sp>
      <p:sp>
        <p:nvSpPr>
          <p:cNvPr id="5" name="Shape 3"/>
          <p:cNvSpPr/>
          <p:nvPr/>
        </p:nvSpPr>
        <p:spPr>
          <a:xfrm>
            <a:off x="228600" y="914400"/>
            <a:ext cx="4251960" cy="1298448"/>
          </a:xfrm>
          <a:prstGeom prst="rect">
            <a:avLst/>
          </a:prstGeom>
          <a:solidFill>
            <a:srgbClr val="FFFFFF"/>
          </a:solidFill>
          <a:ln w="12700">
            <a:solidFill>
              <a:srgbClr val="DDDDDD"/>
            </a:solidFill>
            <a:prstDash val="solid"/>
          </a:ln>
          <a:effectLst>
            <a:outerShdw blurRad="101600" dist="38100" dir="8100000" algn="bl" rotWithShape="0">
              <a:srgbClr val="000000">
                <a:alpha val="18000"/>
              </a:srgbClr>
            </a:outerShdw>
          </a:effectLst>
        </p:spPr>
        <p:txBody>
          <a:bodyPr/>
          <a:lstStyle/>
          <a:p>
            <a:endParaRPr lang="en-US"/>
          </a:p>
        </p:txBody>
      </p:sp>
      <p:sp>
        <p:nvSpPr>
          <p:cNvPr id="6" name="Shape 4"/>
          <p:cNvSpPr/>
          <p:nvPr/>
        </p:nvSpPr>
        <p:spPr>
          <a:xfrm>
            <a:off x="228600" y="914400"/>
            <a:ext cx="347472" cy="1298448"/>
          </a:xfrm>
          <a:prstGeom prst="rect">
            <a:avLst/>
          </a:prstGeom>
          <a:solidFill>
            <a:srgbClr val="2E86C1"/>
          </a:solidFill>
          <a:ln w="12700">
            <a:solidFill>
              <a:srgbClr val="2E86C1"/>
            </a:solidFill>
            <a:prstDash val="solid"/>
          </a:ln>
        </p:spPr>
        <p:txBody>
          <a:bodyPr/>
          <a:lstStyle/>
          <a:p>
            <a:endParaRPr lang="en-US"/>
          </a:p>
        </p:txBody>
      </p:sp>
      <p:sp>
        <p:nvSpPr>
          <p:cNvPr id="7" name="Text 5"/>
          <p:cNvSpPr/>
          <p:nvPr/>
        </p:nvSpPr>
        <p:spPr>
          <a:xfrm>
            <a:off x="237744" y="1261872"/>
            <a:ext cx="329184"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6"/>
          <p:cNvSpPr/>
          <p:nvPr/>
        </p:nvSpPr>
        <p:spPr>
          <a:xfrm>
            <a:off x="667512" y="969264"/>
            <a:ext cx="3749040" cy="36576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case-when vs if-elsif in MUX</a:t>
            </a:r>
            <a:endParaRPr lang="en-US" sz="1200" dirty="0"/>
          </a:p>
        </p:txBody>
      </p:sp>
      <p:sp>
        <p:nvSpPr>
          <p:cNvPr id="9" name="Text 7"/>
          <p:cNvSpPr/>
          <p:nvPr/>
        </p:nvSpPr>
        <p:spPr>
          <a:xfrm>
            <a:off x="667512" y="1371600"/>
            <a:ext cx="3749040" cy="777240"/>
          </a:xfrm>
          <a:prstGeom prst="rect">
            <a:avLst/>
          </a:prstGeom>
          <a:noFill/>
          <a:ln/>
        </p:spPr>
        <p:txBody>
          <a:bodyPr wrap="square" lIns="0" tIns="0" rIns="0" bIns="0" rtlCol="0" anchor="ctr"/>
          <a:lstStyle/>
          <a:p>
            <a:pPr marL="0" indent="0">
              <a:buNone/>
            </a:pPr>
            <a:r>
              <a:rPr lang="en-US" sz="1100" dirty="0">
                <a:solidFill>
                  <a:srgbClr val="5D6D7E"/>
                </a:solidFill>
                <a:latin typeface="Calibri" pitchFamily="34" charset="0"/>
                <a:ea typeface="Calibri" pitchFamily="34" charset="-122"/>
                <a:cs typeface="Calibri" pitchFamily="34" charset="-120"/>
              </a:rPr>
              <a:t>Balanced MUX tree instead of priority encoder → reduces LUT levels from 3 to 1 for 8-way MUX</a:t>
            </a:r>
          </a:p>
          <a:p>
            <a:pPr marL="0" indent="0">
              <a:buNone/>
            </a:pPr>
            <a:endParaRPr lang="en-US" sz="1100" dirty="0">
              <a:solidFill>
                <a:srgbClr val="5D6D7E"/>
              </a:solidFill>
              <a:latin typeface="Calibri" pitchFamily="34" charset="0"/>
              <a:ea typeface="Calibri" pitchFamily="34" charset="-122"/>
              <a:cs typeface="Calibri" pitchFamily="34" charset="-120"/>
            </a:endParaRPr>
          </a:p>
          <a:p>
            <a:pPr marL="0" indent="0">
              <a:buNone/>
            </a:pPr>
            <a:r>
              <a:rPr lang="en-US" sz="1100" dirty="0">
                <a:solidFill>
                  <a:srgbClr val="5D6D7E"/>
                </a:solidFill>
                <a:latin typeface="Calibri" pitchFamily="34" charset="0"/>
                <a:ea typeface="Calibri" pitchFamily="34" charset="-122"/>
                <a:cs typeface="Calibri" pitchFamily="34" charset="-120"/>
              </a:rPr>
              <a:t>This is faster and uses fewer logic levels.</a:t>
            </a:r>
            <a:endParaRPr lang="en-US" sz="1100" dirty="0"/>
          </a:p>
        </p:txBody>
      </p:sp>
      <p:sp>
        <p:nvSpPr>
          <p:cNvPr id="10" name="Shape 8"/>
          <p:cNvSpPr/>
          <p:nvPr/>
        </p:nvSpPr>
        <p:spPr>
          <a:xfrm>
            <a:off x="4690872" y="914400"/>
            <a:ext cx="4251960" cy="1298448"/>
          </a:xfrm>
          <a:prstGeom prst="rect">
            <a:avLst/>
          </a:prstGeom>
          <a:solidFill>
            <a:srgbClr val="FFFFFF"/>
          </a:solidFill>
          <a:ln w="12700">
            <a:solidFill>
              <a:srgbClr val="DDDDDD"/>
            </a:solidFill>
            <a:prstDash val="solid"/>
          </a:ln>
          <a:effectLst>
            <a:outerShdw blurRad="101600" dist="38100" dir="8100000" algn="bl" rotWithShape="0">
              <a:srgbClr val="000000">
                <a:alpha val="18000"/>
              </a:srgbClr>
            </a:outerShdw>
          </a:effectLst>
        </p:spPr>
        <p:txBody>
          <a:bodyPr/>
          <a:lstStyle/>
          <a:p>
            <a:endParaRPr lang="en-US"/>
          </a:p>
        </p:txBody>
      </p:sp>
      <p:sp>
        <p:nvSpPr>
          <p:cNvPr id="11" name="Shape 9"/>
          <p:cNvSpPr/>
          <p:nvPr/>
        </p:nvSpPr>
        <p:spPr>
          <a:xfrm>
            <a:off x="4690872" y="914400"/>
            <a:ext cx="347472" cy="1298448"/>
          </a:xfrm>
          <a:prstGeom prst="rect">
            <a:avLst/>
          </a:prstGeom>
          <a:solidFill>
            <a:srgbClr val="1E8449"/>
          </a:solidFill>
          <a:ln w="12700">
            <a:solidFill>
              <a:srgbClr val="1E8449"/>
            </a:solidFill>
            <a:prstDash val="solid"/>
          </a:ln>
        </p:spPr>
        <p:txBody>
          <a:bodyPr/>
          <a:lstStyle/>
          <a:p>
            <a:endParaRPr lang="en-US"/>
          </a:p>
        </p:txBody>
      </p:sp>
      <p:sp>
        <p:nvSpPr>
          <p:cNvPr id="12" name="Text 10"/>
          <p:cNvSpPr/>
          <p:nvPr/>
        </p:nvSpPr>
        <p:spPr>
          <a:xfrm>
            <a:off x="4700016" y="1261872"/>
            <a:ext cx="329184"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1"/>
          <p:cNvSpPr/>
          <p:nvPr/>
        </p:nvSpPr>
        <p:spPr>
          <a:xfrm>
            <a:off x="5129784" y="969264"/>
            <a:ext cx="3749040" cy="36576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with-select in 2-way MUXes</a:t>
            </a:r>
            <a:endParaRPr lang="en-US" sz="1200" dirty="0"/>
          </a:p>
        </p:txBody>
      </p:sp>
      <p:sp>
        <p:nvSpPr>
          <p:cNvPr id="14" name="Text 12"/>
          <p:cNvSpPr/>
          <p:nvPr/>
        </p:nvSpPr>
        <p:spPr>
          <a:xfrm>
            <a:off x="5129784" y="1371600"/>
            <a:ext cx="3749040" cy="777240"/>
          </a:xfrm>
          <a:prstGeom prst="rect">
            <a:avLst/>
          </a:prstGeom>
          <a:noFill/>
          <a:ln/>
        </p:spPr>
        <p:txBody>
          <a:bodyPr wrap="square" lIns="0" tIns="0" rIns="0" bIns="0" rtlCol="0" anchor="ctr"/>
          <a:lstStyle/>
          <a:p>
            <a:pPr marL="0" indent="0">
              <a:buNone/>
            </a:pPr>
            <a:r>
              <a:rPr lang="en-US" sz="1100" dirty="0">
                <a:solidFill>
                  <a:srgbClr val="5D6D7E"/>
                </a:solidFill>
                <a:latin typeface="Calibri" pitchFamily="34" charset="0"/>
                <a:ea typeface="Calibri" pitchFamily="34" charset="-122"/>
                <a:cs typeface="Calibri" pitchFamily="34" charset="-120"/>
              </a:rPr>
              <a:t>We used the-select. If we used a process block, the tool may create a latch by mistake→ synthesises to minimum 1 LUT per output bit</a:t>
            </a:r>
            <a:endParaRPr lang="en-US" sz="1100" dirty="0"/>
          </a:p>
        </p:txBody>
      </p:sp>
      <p:sp>
        <p:nvSpPr>
          <p:cNvPr id="15" name="Shape 13"/>
          <p:cNvSpPr/>
          <p:nvPr/>
        </p:nvSpPr>
        <p:spPr>
          <a:xfrm>
            <a:off x="228600" y="2331720"/>
            <a:ext cx="4251960" cy="1298448"/>
          </a:xfrm>
          <a:prstGeom prst="rect">
            <a:avLst/>
          </a:prstGeom>
          <a:solidFill>
            <a:srgbClr val="FFFFFF"/>
          </a:solidFill>
          <a:ln w="12700">
            <a:solidFill>
              <a:srgbClr val="DDDDDD"/>
            </a:solidFill>
            <a:prstDash val="solid"/>
          </a:ln>
          <a:effectLst>
            <a:outerShdw blurRad="101600" dist="38100" dir="8100000" algn="bl" rotWithShape="0">
              <a:srgbClr val="000000">
                <a:alpha val="18000"/>
              </a:srgbClr>
            </a:outerShdw>
          </a:effectLst>
        </p:spPr>
        <p:txBody>
          <a:bodyPr/>
          <a:lstStyle/>
          <a:p>
            <a:endParaRPr lang="en-US"/>
          </a:p>
        </p:txBody>
      </p:sp>
      <p:sp>
        <p:nvSpPr>
          <p:cNvPr id="16" name="Shape 14"/>
          <p:cNvSpPr/>
          <p:nvPr/>
        </p:nvSpPr>
        <p:spPr>
          <a:xfrm>
            <a:off x="228600" y="2331720"/>
            <a:ext cx="347472" cy="1298448"/>
          </a:xfrm>
          <a:prstGeom prst="rect">
            <a:avLst/>
          </a:prstGeom>
          <a:solidFill>
            <a:srgbClr val="D35400"/>
          </a:solidFill>
          <a:ln w="12700">
            <a:solidFill>
              <a:srgbClr val="D35400"/>
            </a:solidFill>
            <a:prstDash val="solid"/>
          </a:ln>
        </p:spPr>
        <p:txBody>
          <a:bodyPr/>
          <a:lstStyle/>
          <a:p>
            <a:endParaRPr lang="en-US"/>
          </a:p>
        </p:txBody>
      </p:sp>
      <p:sp>
        <p:nvSpPr>
          <p:cNvPr id="17" name="Text 15"/>
          <p:cNvSpPr/>
          <p:nvPr/>
        </p:nvSpPr>
        <p:spPr>
          <a:xfrm>
            <a:off x="237744" y="2679192"/>
            <a:ext cx="329184"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8" name="Text 16"/>
          <p:cNvSpPr/>
          <p:nvPr/>
        </p:nvSpPr>
        <p:spPr>
          <a:xfrm>
            <a:off x="667512" y="2386584"/>
            <a:ext cx="3749040" cy="36576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Shared w1 in Full Adder</a:t>
            </a:r>
            <a:endParaRPr lang="en-US" sz="1200" dirty="0"/>
          </a:p>
        </p:txBody>
      </p:sp>
      <p:sp>
        <p:nvSpPr>
          <p:cNvPr id="19" name="Text 17"/>
          <p:cNvSpPr/>
          <p:nvPr/>
        </p:nvSpPr>
        <p:spPr>
          <a:xfrm>
            <a:off x="667512" y="2788920"/>
            <a:ext cx="3749040" cy="777240"/>
          </a:xfrm>
          <a:prstGeom prst="rect">
            <a:avLst/>
          </a:prstGeom>
          <a:noFill/>
          <a:ln/>
        </p:spPr>
        <p:txBody>
          <a:bodyPr wrap="square" lIns="0" tIns="0" rIns="0" bIns="0" rtlCol="0" anchor="ctr"/>
          <a:lstStyle/>
          <a:p>
            <a:pPr marL="0" indent="0">
              <a:buNone/>
            </a:pPr>
            <a:r>
              <a:rPr lang="en-US" sz="1100" dirty="0">
                <a:solidFill>
                  <a:srgbClr val="5D6D7E"/>
                </a:solidFill>
                <a:latin typeface="Calibri" pitchFamily="34" charset="0"/>
                <a:ea typeface="Calibri" pitchFamily="34" charset="-122"/>
                <a:cs typeface="Calibri" pitchFamily="34" charset="-120"/>
              </a:rPr>
              <a:t>A XOR B computed once, reused for Sum and carry. With out this the tool make two separate XOR gates → saves 1 XOR gate per FA × 7 FA instances = 7 gates saved</a:t>
            </a:r>
            <a:endParaRPr lang="en-US" sz="1100" dirty="0"/>
          </a:p>
        </p:txBody>
      </p:sp>
      <p:sp>
        <p:nvSpPr>
          <p:cNvPr id="20" name="Shape 18"/>
          <p:cNvSpPr/>
          <p:nvPr/>
        </p:nvSpPr>
        <p:spPr>
          <a:xfrm>
            <a:off x="4690872" y="2338346"/>
            <a:ext cx="4251960" cy="1298448"/>
          </a:xfrm>
          <a:prstGeom prst="rect">
            <a:avLst/>
          </a:prstGeom>
          <a:solidFill>
            <a:srgbClr val="FFFFFF"/>
          </a:solidFill>
          <a:ln w="12700">
            <a:solidFill>
              <a:srgbClr val="DDDDDD"/>
            </a:solidFill>
            <a:prstDash val="solid"/>
          </a:ln>
          <a:effectLst>
            <a:outerShdw blurRad="101600" dist="38100" dir="8100000" algn="bl" rotWithShape="0">
              <a:srgbClr val="000000">
                <a:alpha val="18000"/>
              </a:srgbClr>
            </a:outerShdw>
          </a:effectLst>
        </p:spPr>
        <p:txBody>
          <a:bodyPr/>
          <a:lstStyle/>
          <a:p>
            <a:endParaRPr lang="en-US"/>
          </a:p>
        </p:txBody>
      </p:sp>
      <p:sp>
        <p:nvSpPr>
          <p:cNvPr id="21" name="Shape 19"/>
          <p:cNvSpPr/>
          <p:nvPr/>
        </p:nvSpPr>
        <p:spPr>
          <a:xfrm>
            <a:off x="4690872" y="2331720"/>
            <a:ext cx="347472" cy="1298448"/>
          </a:xfrm>
          <a:prstGeom prst="rect">
            <a:avLst/>
          </a:prstGeom>
          <a:solidFill>
            <a:srgbClr val="6C3483"/>
          </a:solidFill>
          <a:ln w="12700">
            <a:solidFill>
              <a:srgbClr val="6C3483"/>
            </a:solidFill>
            <a:prstDash val="solid"/>
          </a:ln>
        </p:spPr>
        <p:txBody>
          <a:bodyPr/>
          <a:lstStyle/>
          <a:p>
            <a:endParaRPr lang="en-US"/>
          </a:p>
        </p:txBody>
      </p:sp>
      <p:sp>
        <p:nvSpPr>
          <p:cNvPr id="22" name="Text 20"/>
          <p:cNvSpPr/>
          <p:nvPr/>
        </p:nvSpPr>
        <p:spPr>
          <a:xfrm>
            <a:off x="4700016" y="2679192"/>
            <a:ext cx="329184"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3" name="Text 21"/>
          <p:cNvSpPr/>
          <p:nvPr/>
        </p:nvSpPr>
        <p:spPr>
          <a:xfrm>
            <a:off x="5129784" y="2386584"/>
            <a:ext cx="3749040" cy="36576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R0 hardwired = 0 (NEG trick)</a:t>
            </a:r>
            <a:endParaRPr lang="en-US" sz="1200" dirty="0"/>
          </a:p>
        </p:txBody>
      </p:sp>
      <p:sp>
        <p:nvSpPr>
          <p:cNvPr id="24" name="Text 22"/>
          <p:cNvSpPr/>
          <p:nvPr/>
        </p:nvSpPr>
        <p:spPr>
          <a:xfrm>
            <a:off x="5129784" y="2788920"/>
            <a:ext cx="3749040" cy="777240"/>
          </a:xfrm>
          <a:prstGeom prst="rect">
            <a:avLst/>
          </a:prstGeom>
          <a:noFill/>
          <a:ln/>
        </p:spPr>
        <p:txBody>
          <a:bodyPr wrap="square" lIns="0" tIns="0" rIns="0" bIns="0" rtlCol="0" anchor="ctr"/>
          <a:lstStyle/>
          <a:p>
            <a:pPr marL="0" indent="0">
              <a:buNone/>
            </a:pPr>
            <a:r>
              <a:rPr lang="en-US" sz="1100" dirty="0">
                <a:solidFill>
                  <a:srgbClr val="5D6D7E"/>
                </a:solidFill>
                <a:latin typeface="Calibri" pitchFamily="34" charset="0"/>
                <a:ea typeface="Calibri" pitchFamily="34" charset="-122"/>
                <a:cs typeface="Calibri" pitchFamily="34" charset="-120"/>
              </a:rPr>
              <a:t>NEG uses 0−R via existing subtractor → no separate negation circuit → saves ~4 LUTs</a:t>
            </a:r>
            <a:endParaRPr lang="en-US" sz="1100" dirty="0"/>
          </a:p>
        </p:txBody>
      </p:sp>
      <p:sp>
        <p:nvSpPr>
          <p:cNvPr id="25" name="Shape 23"/>
          <p:cNvSpPr/>
          <p:nvPr/>
        </p:nvSpPr>
        <p:spPr>
          <a:xfrm>
            <a:off x="228600" y="3749040"/>
            <a:ext cx="4251960" cy="1298448"/>
          </a:xfrm>
          <a:prstGeom prst="rect">
            <a:avLst/>
          </a:prstGeom>
          <a:solidFill>
            <a:srgbClr val="FFFFFF"/>
          </a:solidFill>
          <a:ln w="12700">
            <a:solidFill>
              <a:srgbClr val="DDDDDD"/>
            </a:solidFill>
            <a:prstDash val="solid"/>
          </a:ln>
          <a:effectLst>
            <a:outerShdw blurRad="101600" dist="38100" dir="8100000" algn="bl" rotWithShape="0">
              <a:srgbClr val="000000">
                <a:alpha val="18000"/>
              </a:srgbClr>
            </a:outerShdw>
          </a:effectLst>
        </p:spPr>
        <p:txBody>
          <a:bodyPr/>
          <a:lstStyle/>
          <a:p>
            <a:endParaRPr lang="en-US"/>
          </a:p>
        </p:txBody>
      </p:sp>
      <p:sp>
        <p:nvSpPr>
          <p:cNvPr id="26" name="Shape 24"/>
          <p:cNvSpPr/>
          <p:nvPr/>
        </p:nvSpPr>
        <p:spPr>
          <a:xfrm>
            <a:off x="228600" y="3749040"/>
            <a:ext cx="347472" cy="1298448"/>
          </a:xfrm>
          <a:prstGeom prst="rect">
            <a:avLst/>
          </a:prstGeom>
          <a:solidFill>
            <a:srgbClr val="117A65"/>
          </a:solidFill>
          <a:ln w="12700">
            <a:solidFill>
              <a:srgbClr val="117A65"/>
            </a:solidFill>
            <a:prstDash val="solid"/>
          </a:ln>
        </p:spPr>
        <p:txBody>
          <a:bodyPr/>
          <a:lstStyle/>
          <a:p>
            <a:endParaRPr lang="en-US"/>
          </a:p>
        </p:txBody>
      </p:sp>
      <p:sp>
        <p:nvSpPr>
          <p:cNvPr id="27" name="Text 25"/>
          <p:cNvSpPr/>
          <p:nvPr/>
        </p:nvSpPr>
        <p:spPr>
          <a:xfrm>
            <a:off x="237744" y="4096512"/>
            <a:ext cx="329184"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8" name="Text 26"/>
          <p:cNvSpPr/>
          <p:nvPr/>
        </p:nvSpPr>
        <p:spPr>
          <a:xfrm>
            <a:off x="667512" y="3803904"/>
            <a:ext cx="3749040" cy="36576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to_integer indexing in Decoder</a:t>
            </a:r>
            <a:endParaRPr lang="en-US" sz="1200" dirty="0"/>
          </a:p>
        </p:txBody>
      </p:sp>
      <p:sp>
        <p:nvSpPr>
          <p:cNvPr id="29" name="Text 27"/>
          <p:cNvSpPr/>
          <p:nvPr/>
        </p:nvSpPr>
        <p:spPr>
          <a:xfrm>
            <a:off x="667512" y="4206240"/>
            <a:ext cx="3749040" cy="777240"/>
          </a:xfrm>
          <a:prstGeom prst="rect">
            <a:avLst/>
          </a:prstGeom>
          <a:noFill/>
          <a:ln/>
        </p:spPr>
        <p:txBody>
          <a:bodyPr wrap="square" lIns="0" tIns="0" rIns="0" bIns="0" rtlCol="0" anchor="ctr"/>
          <a:lstStyle/>
          <a:p>
            <a:pPr marL="0" indent="0">
              <a:buNone/>
            </a:pPr>
            <a:r>
              <a:rPr lang="en-US" sz="1100" dirty="0">
                <a:solidFill>
                  <a:srgbClr val="5D6D7E"/>
                </a:solidFill>
                <a:latin typeface="Calibri" pitchFamily="34" charset="0"/>
                <a:ea typeface="Calibri" pitchFamily="34" charset="-122"/>
                <a:cs typeface="Calibri" pitchFamily="34" charset="-120"/>
              </a:rPr>
              <a:t>Single indexed assignment → Vivado infers minimal AND-gate structure → fewer inputs than 8-branch case</a:t>
            </a:r>
            <a:endParaRPr lang="en-US" sz="1100" dirty="0"/>
          </a:p>
        </p:txBody>
      </p:sp>
      <p:sp>
        <p:nvSpPr>
          <p:cNvPr id="30" name="Shape 28"/>
          <p:cNvSpPr/>
          <p:nvPr/>
        </p:nvSpPr>
        <p:spPr>
          <a:xfrm>
            <a:off x="4690872" y="3749040"/>
            <a:ext cx="4251960" cy="1298448"/>
          </a:xfrm>
          <a:prstGeom prst="rect">
            <a:avLst/>
          </a:prstGeom>
          <a:solidFill>
            <a:srgbClr val="FFFFFF"/>
          </a:solidFill>
          <a:ln w="12700">
            <a:solidFill>
              <a:srgbClr val="DDDDDD"/>
            </a:solidFill>
            <a:prstDash val="solid"/>
          </a:ln>
          <a:effectLst>
            <a:outerShdw blurRad="101600" dist="38100" dir="8100000" algn="bl" rotWithShape="0">
              <a:srgbClr val="000000">
                <a:alpha val="18000"/>
              </a:srgbClr>
            </a:outerShdw>
          </a:effectLst>
        </p:spPr>
        <p:txBody>
          <a:bodyPr/>
          <a:lstStyle/>
          <a:p>
            <a:endParaRPr lang="en-US"/>
          </a:p>
        </p:txBody>
      </p:sp>
      <p:sp>
        <p:nvSpPr>
          <p:cNvPr id="31" name="Shape 29"/>
          <p:cNvSpPr/>
          <p:nvPr/>
        </p:nvSpPr>
        <p:spPr>
          <a:xfrm>
            <a:off x="4690872" y="3749040"/>
            <a:ext cx="347472" cy="1298448"/>
          </a:xfrm>
          <a:prstGeom prst="rect">
            <a:avLst/>
          </a:prstGeom>
          <a:solidFill>
            <a:srgbClr val="5D6D7E"/>
          </a:solidFill>
          <a:ln w="12700">
            <a:solidFill>
              <a:srgbClr val="5D6D7E"/>
            </a:solidFill>
            <a:prstDash val="solid"/>
          </a:ln>
        </p:spPr>
        <p:txBody>
          <a:bodyPr/>
          <a:lstStyle/>
          <a:p>
            <a:endParaRPr lang="en-US"/>
          </a:p>
        </p:txBody>
      </p:sp>
      <p:sp>
        <p:nvSpPr>
          <p:cNvPr id="32" name="Text 30"/>
          <p:cNvSpPr/>
          <p:nvPr/>
        </p:nvSpPr>
        <p:spPr>
          <a:xfrm>
            <a:off x="4700016" y="4096512"/>
            <a:ext cx="329184"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33" name="Text 31"/>
          <p:cNvSpPr/>
          <p:nvPr/>
        </p:nvSpPr>
        <p:spPr>
          <a:xfrm>
            <a:off x="5129784" y="3803904"/>
            <a:ext cx="3749040" cy="36576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Vivado dead logic elimination</a:t>
            </a:r>
            <a:endParaRPr lang="en-US" sz="1200" dirty="0"/>
          </a:p>
        </p:txBody>
      </p:sp>
      <p:sp>
        <p:nvSpPr>
          <p:cNvPr id="34" name="Text 32"/>
          <p:cNvSpPr/>
          <p:nvPr/>
        </p:nvSpPr>
        <p:spPr>
          <a:xfrm>
            <a:off x="5129784" y="4206240"/>
            <a:ext cx="3749040" cy="777240"/>
          </a:xfrm>
          <a:prstGeom prst="rect">
            <a:avLst/>
          </a:prstGeom>
          <a:noFill/>
          <a:ln/>
        </p:spPr>
        <p:txBody>
          <a:bodyPr wrap="square" lIns="0" tIns="0" rIns="0" bIns="0" rtlCol="0" anchor="ctr"/>
          <a:lstStyle/>
          <a:p>
            <a:pPr marL="0" indent="0">
              <a:buNone/>
            </a:pPr>
            <a:r>
              <a:rPr lang="en-US" sz="1100" dirty="0">
                <a:solidFill>
                  <a:srgbClr val="5D6D7E"/>
                </a:solidFill>
                <a:latin typeface="Calibri" pitchFamily="34" charset="0"/>
                <a:ea typeface="Calibri" pitchFamily="34" charset="-122"/>
                <a:cs typeface="Calibri" pitchFamily="34" charset="-120"/>
              </a:rPr>
              <a:t>R1,R2,R3,R6 never written → automatically removed → saved 4×4=16 flip-flops without any manual work</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4F72"/>
        </a:solidFill>
        <a:effectLst/>
      </p:bgPr>
    </p:bg>
    <p:spTree>
      <p:nvGrpSpPr>
        <p:cNvPr id="1" name=""/>
        <p:cNvGrpSpPr/>
        <p:nvPr/>
      </p:nvGrpSpPr>
      <p:grpSpPr>
        <a:xfrm>
          <a:off x="0" y="0"/>
          <a:ext cx="0" cy="0"/>
          <a:chOff x="0" y="0"/>
          <a:chExt cx="0" cy="0"/>
        </a:xfrm>
      </p:grpSpPr>
      <p:sp>
        <p:nvSpPr>
          <p:cNvPr id="2" name="Shape 0"/>
          <p:cNvSpPr/>
          <p:nvPr/>
        </p:nvSpPr>
        <p:spPr>
          <a:xfrm>
            <a:off x="0" y="2011680"/>
            <a:ext cx="9144000" cy="1188720"/>
          </a:xfrm>
          <a:prstGeom prst="rect">
            <a:avLst/>
          </a:prstGeom>
          <a:solidFill>
            <a:srgbClr val="2E86C1"/>
          </a:solidFill>
          <a:ln w="12700">
            <a:solidFill>
              <a:srgbClr val="2E86C1"/>
            </a:solidFill>
            <a:prstDash val="solid"/>
          </a:ln>
        </p:spPr>
        <p:txBody>
          <a:bodyPr/>
          <a:lstStyle/>
          <a:p>
            <a:endParaRPr lang="en-US"/>
          </a:p>
        </p:txBody>
      </p:sp>
      <p:sp>
        <p:nvSpPr>
          <p:cNvPr id="3" name="Text 1"/>
          <p:cNvSpPr/>
          <p:nvPr/>
        </p:nvSpPr>
        <p:spPr>
          <a:xfrm>
            <a:off x="365760" y="548640"/>
            <a:ext cx="1828800" cy="1463040"/>
          </a:xfrm>
          <a:prstGeom prst="rect">
            <a:avLst/>
          </a:prstGeom>
          <a:noFill/>
          <a:ln/>
        </p:spPr>
        <p:txBody>
          <a:bodyPr wrap="square" rtlCol="0" anchor="ctr"/>
          <a:lstStyle/>
          <a:p>
            <a:pPr marL="0" indent="0" algn="l">
              <a:buNone/>
            </a:pPr>
            <a:r>
              <a:rPr lang="en-US" sz="8000" b="1" dirty="0">
                <a:solidFill>
                  <a:srgbClr val="AED6F1"/>
                </a:solidFill>
                <a:latin typeface="Calibri" pitchFamily="34" charset="0"/>
                <a:ea typeface="Calibri" pitchFamily="34" charset="-122"/>
                <a:cs typeface="Calibri" pitchFamily="34" charset="-120"/>
              </a:rPr>
              <a:t>06</a:t>
            </a:r>
            <a:endParaRPr lang="en-US" sz="8000" dirty="0"/>
          </a:p>
        </p:txBody>
      </p:sp>
      <p:sp>
        <p:nvSpPr>
          <p:cNvPr id="4" name="Text 2"/>
          <p:cNvSpPr/>
          <p:nvPr/>
        </p:nvSpPr>
        <p:spPr>
          <a:xfrm>
            <a:off x="365760" y="2103120"/>
            <a:ext cx="8412480" cy="1005840"/>
          </a:xfrm>
          <a:prstGeom prst="rect">
            <a:avLst/>
          </a:prstGeom>
          <a:noFill/>
          <a:ln/>
        </p:spPr>
        <p:txBody>
          <a:bodyPr wrap="square" rtlCol="0" anchor="ctr"/>
          <a:lstStyle/>
          <a:p>
            <a:pPr marL="0" indent="0" algn="l">
              <a:buNone/>
            </a:pPr>
            <a:r>
              <a:rPr lang="en-US" sz="3400" b="1" dirty="0">
                <a:solidFill>
                  <a:srgbClr val="FFFFFF"/>
                </a:solidFill>
                <a:latin typeface="Calibri" pitchFamily="34" charset="0"/>
                <a:ea typeface="Calibri" pitchFamily="34" charset="-122"/>
                <a:cs typeface="Calibri" pitchFamily="34" charset="-120"/>
              </a:rPr>
              <a:t>Additional Features</a:t>
            </a:r>
            <a:endParaRPr lang="en-US" sz="3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E86C1"/>
          </a:solidFill>
          <a:ln w="12700">
            <a:solidFill>
              <a:srgbClr val="2E86C1"/>
            </a:solidFill>
            <a:prstDash val="solid"/>
          </a:ln>
        </p:spPr>
        <p:txBody>
          <a:bodyPr/>
          <a:lstStyle/>
          <a:p>
            <a:endParaRPr lang="en-US"/>
          </a:p>
        </p:txBody>
      </p:sp>
      <p:sp>
        <p:nvSpPr>
          <p:cNvPr id="3" name="Shape 1"/>
          <p:cNvSpPr/>
          <p:nvPr/>
        </p:nvSpPr>
        <p:spPr>
          <a:xfrm>
            <a:off x="0" y="0"/>
            <a:ext cx="9144000" cy="713232"/>
          </a:xfrm>
          <a:prstGeom prst="rect">
            <a:avLst/>
          </a:prstGeom>
          <a:solidFill>
            <a:srgbClr val="0D1B2A"/>
          </a:solidFill>
          <a:ln w="12700">
            <a:solidFill>
              <a:srgbClr val="0D1B2A"/>
            </a:solidFill>
            <a:prstDash val="solid"/>
          </a:ln>
        </p:spPr>
        <p:txBody>
          <a:bodyPr/>
          <a:lstStyle/>
          <a:p>
            <a:endParaRPr lang="en-US"/>
          </a:p>
        </p:txBody>
      </p:sp>
      <p:sp>
        <p:nvSpPr>
          <p:cNvPr id="4" name="Text 2"/>
          <p:cNvSpPr/>
          <p:nvPr/>
        </p:nvSpPr>
        <p:spPr>
          <a:xfrm>
            <a:off x="274320" y="73152"/>
            <a:ext cx="8595360"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Four Additional Features — Advanced Nanoprocessor</a:t>
            </a:r>
            <a:endParaRPr lang="en-US" sz="2200" dirty="0"/>
          </a:p>
        </p:txBody>
      </p:sp>
      <p:sp>
        <p:nvSpPr>
          <p:cNvPr id="5" name="Shape 3"/>
          <p:cNvSpPr/>
          <p:nvPr/>
        </p:nvSpPr>
        <p:spPr>
          <a:xfrm>
            <a:off x="228600" y="914400"/>
            <a:ext cx="4251960" cy="1938528"/>
          </a:xfrm>
          <a:prstGeom prst="rect">
            <a:avLst/>
          </a:prstGeom>
          <a:solidFill>
            <a:srgbClr val="FFFFFF"/>
          </a:solidFill>
          <a:ln w="12700">
            <a:solidFill>
              <a:srgbClr val="DDDDDD"/>
            </a:solidFill>
            <a:prstDash val="solid"/>
          </a:ln>
          <a:effectLst>
            <a:outerShdw blurRad="101600" dist="38100" dir="8100000" algn="bl" rotWithShape="0">
              <a:srgbClr val="000000">
                <a:alpha val="18000"/>
              </a:srgbClr>
            </a:outerShdw>
          </a:effectLst>
        </p:spPr>
        <p:txBody>
          <a:bodyPr/>
          <a:lstStyle/>
          <a:p>
            <a:endParaRPr lang="en-US"/>
          </a:p>
        </p:txBody>
      </p:sp>
      <p:sp>
        <p:nvSpPr>
          <p:cNvPr id="6" name="Shape 4"/>
          <p:cNvSpPr/>
          <p:nvPr/>
        </p:nvSpPr>
        <p:spPr>
          <a:xfrm>
            <a:off x="228600" y="914400"/>
            <a:ext cx="4251960" cy="457200"/>
          </a:xfrm>
          <a:prstGeom prst="rect">
            <a:avLst/>
          </a:prstGeom>
          <a:solidFill>
            <a:srgbClr val="2E86C1"/>
          </a:solidFill>
          <a:ln w="12700">
            <a:solidFill>
              <a:srgbClr val="2E86C1"/>
            </a:solidFill>
            <a:prstDash val="solid"/>
          </a:ln>
        </p:spPr>
        <p:txBody>
          <a:bodyPr/>
          <a:lstStyle/>
          <a:p>
            <a:endParaRPr lang="en-US" dirty="0"/>
          </a:p>
        </p:txBody>
      </p:sp>
      <p:sp>
        <p:nvSpPr>
          <p:cNvPr id="7" name="Text 5"/>
          <p:cNvSpPr/>
          <p:nvPr/>
        </p:nvSpPr>
        <p:spPr>
          <a:xfrm>
            <a:off x="320040" y="950976"/>
            <a:ext cx="320040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Feature 01: Comparator</a:t>
            </a:r>
            <a:endParaRPr lang="en-US" sz="1400" dirty="0"/>
          </a:p>
        </p:txBody>
      </p:sp>
      <p:sp>
        <p:nvSpPr>
          <p:cNvPr id="8" name="Text 6"/>
          <p:cNvSpPr/>
          <p:nvPr/>
        </p:nvSpPr>
        <p:spPr>
          <a:xfrm>
            <a:off x="3474720" y="987552"/>
            <a:ext cx="914400" cy="310896"/>
          </a:xfrm>
          <a:prstGeom prst="rect">
            <a:avLst/>
          </a:prstGeom>
          <a:noFill/>
          <a:ln/>
        </p:spPr>
        <p:txBody>
          <a:bodyPr wrap="square" lIns="0" tIns="0" rIns="0" bIns="0" rtlCol="0" anchor="ctr"/>
          <a:lstStyle/>
          <a:p>
            <a:pPr marL="0" indent="0" algn="r">
              <a:buNone/>
            </a:pPr>
            <a:r>
              <a:rPr lang="en-US" sz="900" dirty="0">
                <a:solidFill>
                  <a:srgbClr val="DDDDDD"/>
                </a:solidFill>
                <a:latin typeface="Calibri" pitchFamily="34" charset="0"/>
                <a:ea typeface="Calibri" pitchFamily="34" charset="-122"/>
                <a:cs typeface="Calibri" pitchFamily="34" charset="-120"/>
              </a:rPr>
              <a:t>LEDs: LD6 / LD7 / LD8</a:t>
            </a:r>
            <a:endParaRPr lang="en-US" sz="900" dirty="0"/>
          </a:p>
        </p:txBody>
      </p:sp>
      <p:sp>
        <p:nvSpPr>
          <p:cNvPr id="9" name="Text 7"/>
          <p:cNvSpPr/>
          <p:nvPr/>
        </p:nvSpPr>
        <p:spPr>
          <a:xfrm>
            <a:off x="338328" y="1463040"/>
            <a:ext cx="4023360" cy="1316736"/>
          </a:xfrm>
          <a:prstGeom prst="rect">
            <a:avLst/>
          </a:prstGeom>
          <a:noFill/>
          <a:ln/>
        </p:spPr>
        <p:txBody>
          <a:bodyPr wrap="square" rtlCol="0" anchor="ctr"/>
          <a:lstStyle/>
          <a:p>
            <a:pPr marL="0" indent="0">
              <a:buNone/>
            </a:pPr>
            <a:r>
              <a:rPr lang="en-US" sz="1150" dirty="0">
                <a:solidFill>
                  <a:srgbClr val="1A252F"/>
                </a:solidFill>
                <a:latin typeface="Calibri" pitchFamily="34" charset="0"/>
                <a:ea typeface="Calibri" pitchFamily="34" charset="-122"/>
                <a:cs typeface="Calibri" pitchFamily="34" charset="-120"/>
              </a:rPr>
              <a:t>Compares two 4-bit ALU inputs every cycle → raises Equal, LessThan, or GreaterThan flag. Only one LED on at a time. Demo: ADD with inputs 5 &amp; 2 → LD8 (Greater) lights.</a:t>
            </a:r>
            <a:endParaRPr lang="en-US" sz="1150" dirty="0"/>
          </a:p>
        </p:txBody>
      </p:sp>
      <p:sp>
        <p:nvSpPr>
          <p:cNvPr id="10" name="Shape 8"/>
          <p:cNvSpPr/>
          <p:nvPr/>
        </p:nvSpPr>
        <p:spPr>
          <a:xfrm>
            <a:off x="4690872" y="914400"/>
            <a:ext cx="4251960" cy="1938528"/>
          </a:xfrm>
          <a:prstGeom prst="rect">
            <a:avLst/>
          </a:prstGeom>
          <a:solidFill>
            <a:srgbClr val="FFFFFF"/>
          </a:solidFill>
          <a:ln w="12700">
            <a:solidFill>
              <a:srgbClr val="DDDDDD"/>
            </a:solidFill>
            <a:prstDash val="solid"/>
          </a:ln>
          <a:effectLst>
            <a:outerShdw blurRad="101600" dist="38100" dir="8100000" algn="bl" rotWithShape="0">
              <a:srgbClr val="000000">
                <a:alpha val="18000"/>
              </a:srgbClr>
            </a:outerShdw>
          </a:effectLst>
        </p:spPr>
        <p:txBody>
          <a:bodyPr/>
          <a:lstStyle/>
          <a:p>
            <a:endParaRPr lang="en-US"/>
          </a:p>
        </p:txBody>
      </p:sp>
      <p:sp>
        <p:nvSpPr>
          <p:cNvPr id="11" name="Shape 9"/>
          <p:cNvSpPr/>
          <p:nvPr/>
        </p:nvSpPr>
        <p:spPr>
          <a:xfrm>
            <a:off x="4690872" y="914400"/>
            <a:ext cx="4251960" cy="457200"/>
          </a:xfrm>
          <a:prstGeom prst="rect">
            <a:avLst/>
          </a:prstGeom>
          <a:solidFill>
            <a:srgbClr val="1E8449"/>
          </a:solidFill>
          <a:ln w="12700">
            <a:solidFill>
              <a:srgbClr val="1E8449"/>
            </a:solidFill>
            <a:prstDash val="solid"/>
          </a:ln>
        </p:spPr>
        <p:txBody>
          <a:bodyPr/>
          <a:lstStyle/>
          <a:p>
            <a:endParaRPr lang="en-US"/>
          </a:p>
        </p:txBody>
      </p:sp>
      <p:sp>
        <p:nvSpPr>
          <p:cNvPr id="12" name="Text 10"/>
          <p:cNvSpPr/>
          <p:nvPr/>
        </p:nvSpPr>
        <p:spPr>
          <a:xfrm>
            <a:off x="4782312" y="950976"/>
            <a:ext cx="320040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Feature 02: 4-bit Multiplier</a:t>
            </a:r>
            <a:endParaRPr lang="en-US" sz="1400" dirty="0"/>
          </a:p>
        </p:txBody>
      </p:sp>
      <p:sp>
        <p:nvSpPr>
          <p:cNvPr id="13" name="Text 11"/>
          <p:cNvSpPr/>
          <p:nvPr/>
        </p:nvSpPr>
        <p:spPr>
          <a:xfrm>
            <a:off x="7936992" y="987552"/>
            <a:ext cx="914400" cy="310896"/>
          </a:xfrm>
          <a:prstGeom prst="rect">
            <a:avLst/>
          </a:prstGeom>
          <a:noFill/>
          <a:ln/>
        </p:spPr>
        <p:txBody>
          <a:bodyPr wrap="square" lIns="0" tIns="0" rIns="0" bIns="0" rtlCol="0" anchor="ctr"/>
          <a:lstStyle/>
          <a:p>
            <a:pPr marL="0" indent="0" algn="r">
              <a:buNone/>
            </a:pPr>
            <a:r>
              <a:rPr lang="en-US" sz="900" dirty="0">
                <a:solidFill>
                  <a:srgbClr val="DDDDDD"/>
                </a:solidFill>
                <a:latin typeface="Calibri" pitchFamily="34" charset="0"/>
                <a:ea typeface="Calibri" pitchFamily="34" charset="-122"/>
                <a:cs typeface="Calibri" pitchFamily="34" charset="-120"/>
              </a:rPr>
              <a:t>LEDs: LD12–LD15 (full result)</a:t>
            </a:r>
            <a:endParaRPr lang="en-US" sz="900" dirty="0"/>
          </a:p>
        </p:txBody>
      </p:sp>
      <p:sp>
        <p:nvSpPr>
          <p:cNvPr id="14" name="Text 12"/>
          <p:cNvSpPr/>
          <p:nvPr/>
        </p:nvSpPr>
        <p:spPr>
          <a:xfrm>
            <a:off x="4800600" y="1463040"/>
            <a:ext cx="4023360" cy="1316736"/>
          </a:xfrm>
          <a:prstGeom prst="rect">
            <a:avLst/>
          </a:prstGeom>
          <a:noFill/>
          <a:ln/>
        </p:spPr>
        <p:txBody>
          <a:bodyPr wrap="square" rtlCol="0" anchor="ctr"/>
          <a:lstStyle/>
          <a:p>
            <a:pPr marL="0" indent="0">
              <a:buNone/>
            </a:pPr>
            <a:r>
              <a:rPr lang="en-US" sz="1150" dirty="0">
                <a:solidFill>
                  <a:srgbClr val="1A252F"/>
                </a:solidFill>
                <a:latin typeface="Calibri" pitchFamily="34" charset="0"/>
                <a:ea typeface="Calibri" pitchFamily="34" charset="-122"/>
                <a:cs typeface="Calibri" pitchFamily="34" charset="-120"/>
              </a:rPr>
              <a:t>Computes full product of two 4-bit operands. 4-bit result on LD0–LD03. Overflow flag when upper 4 bits ≠ 0. Demo: 3×3=9 (1001) on display and LEDs.</a:t>
            </a:r>
            <a:endParaRPr lang="en-US" sz="1150" dirty="0"/>
          </a:p>
        </p:txBody>
      </p:sp>
      <p:sp>
        <p:nvSpPr>
          <p:cNvPr id="15" name="Shape 13"/>
          <p:cNvSpPr/>
          <p:nvPr/>
        </p:nvSpPr>
        <p:spPr>
          <a:xfrm>
            <a:off x="228600" y="2971800"/>
            <a:ext cx="4251960" cy="1938528"/>
          </a:xfrm>
          <a:prstGeom prst="rect">
            <a:avLst/>
          </a:prstGeom>
          <a:solidFill>
            <a:srgbClr val="FFFFFF"/>
          </a:solidFill>
          <a:ln w="12700">
            <a:solidFill>
              <a:srgbClr val="DDDDDD"/>
            </a:solidFill>
            <a:prstDash val="solid"/>
          </a:ln>
          <a:effectLst>
            <a:outerShdw blurRad="101600" dist="38100" dir="8100000" algn="bl" rotWithShape="0">
              <a:srgbClr val="000000">
                <a:alpha val="18000"/>
              </a:srgbClr>
            </a:outerShdw>
          </a:effectLst>
        </p:spPr>
        <p:txBody>
          <a:bodyPr/>
          <a:lstStyle/>
          <a:p>
            <a:endParaRPr lang="en-US"/>
          </a:p>
        </p:txBody>
      </p:sp>
      <p:sp>
        <p:nvSpPr>
          <p:cNvPr id="16" name="Shape 14"/>
          <p:cNvSpPr/>
          <p:nvPr/>
        </p:nvSpPr>
        <p:spPr>
          <a:xfrm>
            <a:off x="228600" y="2971800"/>
            <a:ext cx="4251960" cy="457200"/>
          </a:xfrm>
          <a:prstGeom prst="rect">
            <a:avLst/>
          </a:prstGeom>
          <a:solidFill>
            <a:srgbClr val="D35400"/>
          </a:solidFill>
          <a:ln w="12700">
            <a:solidFill>
              <a:srgbClr val="D35400"/>
            </a:solidFill>
            <a:prstDash val="solid"/>
          </a:ln>
        </p:spPr>
        <p:txBody>
          <a:bodyPr/>
          <a:lstStyle/>
          <a:p>
            <a:endParaRPr lang="en-US"/>
          </a:p>
        </p:txBody>
      </p:sp>
      <p:sp>
        <p:nvSpPr>
          <p:cNvPr id="17" name="Text 15"/>
          <p:cNvSpPr/>
          <p:nvPr/>
        </p:nvSpPr>
        <p:spPr>
          <a:xfrm>
            <a:off x="320040" y="3008376"/>
            <a:ext cx="320040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Feature 03: Parity Generator</a:t>
            </a:r>
            <a:endParaRPr lang="en-US" sz="1400" dirty="0"/>
          </a:p>
        </p:txBody>
      </p:sp>
      <p:sp>
        <p:nvSpPr>
          <p:cNvPr id="18" name="Text 16"/>
          <p:cNvSpPr/>
          <p:nvPr/>
        </p:nvSpPr>
        <p:spPr>
          <a:xfrm>
            <a:off x="3474720" y="3044952"/>
            <a:ext cx="914400" cy="310896"/>
          </a:xfrm>
          <a:prstGeom prst="rect">
            <a:avLst/>
          </a:prstGeom>
          <a:noFill/>
          <a:ln/>
        </p:spPr>
        <p:txBody>
          <a:bodyPr wrap="square" lIns="0" tIns="0" rIns="0" bIns="0" rtlCol="0" anchor="ctr"/>
          <a:lstStyle/>
          <a:p>
            <a:pPr marL="0" indent="0" algn="r">
              <a:buNone/>
            </a:pPr>
            <a:r>
              <a:rPr lang="en-US" sz="900" dirty="0">
                <a:solidFill>
                  <a:srgbClr val="DDDDDD"/>
                </a:solidFill>
                <a:latin typeface="Calibri" pitchFamily="34" charset="0"/>
                <a:ea typeface="Calibri" pitchFamily="34" charset="-122"/>
                <a:cs typeface="Calibri" pitchFamily="34" charset="-120"/>
              </a:rPr>
              <a:t>LEDs: LD9 (Even) / LD10 (Odd)</a:t>
            </a:r>
            <a:endParaRPr lang="en-US" sz="900" dirty="0"/>
          </a:p>
        </p:txBody>
      </p:sp>
      <p:sp>
        <p:nvSpPr>
          <p:cNvPr id="19" name="Text 17"/>
          <p:cNvSpPr/>
          <p:nvPr/>
        </p:nvSpPr>
        <p:spPr>
          <a:xfrm>
            <a:off x="338328" y="3520440"/>
            <a:ext cx="4023360" cy="1316736"/>
          </a:xfrm>
          <a:prstGeom prst="rect">
            <a:avLst/>
          </a:prstGeom>
          <a:noFill/>
          <a:ln/>
        </p:spPr>
        <p:txBody>
          <a:bodyPr wrap="square" rtlCol="0" anchor="ctr"/>
          <a:lstStyle/>
          <a:p>
            <a:pPr marL="0" indent="0">
              <a:buNone/>
            </a:pPr>
            <a:r>
              <a:rPr lang="en-US" sz="1150" dirty="0">
                <a:solidFill>
                  <a:srgbClr val="1A252F"/>
                </a:solidFill>
                <a:latin typeface="Calibri" pitchFamily="34" charset="0"/>
                <a:ea typeface="Calibri" pitchFamily="34" charset="-122"/>
                <a:cs typeface="Calibri" pitchFamily="34" charset="-120"/>
              </a:rPr>
              <a:t>4-input XOR chain on R7 → Even or Odd parity flag. Always opposite. Demo: R7=9 (1001) → 2 ones → Even. R7=7 (0111) → 3 ones → Odd. Visible LED switch.</a:t>
            </a:r>
            <a:endParaRPr lang="en-US" sz="1150" dirty="0"/>
          </a:p>
        </p:txBody>
      </p:sp>
      <p:sp>
        <p:nvSpPr>
          <p:cNvPr id="20" name="Shape 18"/>
          <p:cNvSpPr/>
          <p:nvPr/>
        </p:nvSpPr>
        <p:spPr>
          <a:xfrm>
            <a:off x="4690872" y="2971800"/>
            <a:ext cx="4251960" cy="1938528"/>
          </a:xfrm>
          <a:prstGeom prst="rect">
            <a:avLst/>
          </a:prstGeom>
          <a:solidFill>
            <a:srgbClr val="FFFFFF"/>
          </a:solidFill>
          <a:ln w="12700">
            <a:solidFill>
              <a:srgbClr val="DDDDDD"/>
            </a:solidFill>
            <a:prstDash val="solid"/>
          </a:ln>
          <a:effectLst>
            <a:outerShdw blurRad="101600" dist="38100" dir="8100000" algn="bl" rotWithShape="0">
              <a:srgbClr val="000000">
                <a:alpha val="18000"/>
              </a:srgbClr>
            </a:outerShdw>
          </a:effectLst>
        </p:spPr>
        <p:txBody>
          <a:bodyPr/>
          <a:lstStyle/>
          <a:p>
            <a:endParaRPr lang="en-US"/>
          </a:p>
        </p:txBody>
      </p:sp>
      <p:sp>
        <p:nvSpPr>
          <p:cNvPr id="21" name="Shape 19"/>
          <p:cNvSpPr/>
          <p:nvPr/>
        </p:nvSpPr>
        <p:spPr>
          <a:xfrm>
            <a:off x="4690872" y="2971800"/>
            <a:ext cx="4251960" cy="457200"/>
          </a:xfrm>
          <a:prstGeom prst="rect">
            <a:avLst/>
          </a:prstGeom>
          <a:solidFill>
            <a:srgbClr val="6C3483"/>
          </a:solidFill>
          <a:ln w="12700">
            <a:solidFill>
              <a:srgbClr val="6C3483"/>
            </a:solidFill>
            <a:prstDash val="solid"/>
          </a:ln>
        </p:spPr>
        <p:txBody>
          <a:bodyPr/>
          <a:lstStyle/>
          <a:p>
            <a:endParaRPr lang="en-US"/>
          </a:p>
        </p:txBody>
      </p:sp>
      <p:sp>
        <p:nvSpPr>
          <p:cNvPr id="22" name="Text 20"/>
          <p:cNvSpPr/>
          <p:nvPr/>
        </p:nvSpPr>
        <p:spPr>
          <a:xfrm>
            <a:off x="4782312" y="3008376"/>
            <a:ext cx="320040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Feature 04: Magnitude Detector</a:t>
            </a:r>
            <a:endParaRPr lang="en-US" sz="1400" dirty="0"/>
          </a:p>
        </p:txBody>
      </p:sp>
      <p:sp>
        <p:nvSpPr>
          <p:cNvPr id="23" name="Text 21"/>
          <p:cNvSpPr/>
          <p:nvPr/>
        </p:nvSpPr>
        <p:spPr>
          <a:xfrm>
            <a:off x="7936992" y="3044952"/>
            <a:ext cx="914400" cy="310896"/>
          </a:xfrm>
          <a:prstGeom prst="rect">
            <a:avLst/>
          </a:prstGeom>
          <a:noFill/>
          <a:ln/>
        </p:spPr>
        <p:txBody>
          <a:bodyPr wrap="square" lIns="0" tIns="0" rIns="0" bIns="0" rtlCol="0" anchor="ctr"/>
          <a:lstStyle/>
          <a:p>
            <a:pPr marL="0" indent="0" algn="r">
              <a:buNone/>
            </a:pPr>
            <a:r>
              <a:rPr lang="en-US" sz="900" dirty="0">
                <a:solidFill>
                  <a:srgbClr val="DDDDDD"/>
                </a:solidFill>
                <a:latin typeface="Calibri" pitchFamily="34" charset="0"/>
                <a:ea typeface="Calibri" pitchFamily="34" charset="-122"/>
                <a:cs typeface="Calibri" pitchFamily="34" charset="-120"/>
              </a:rPr>
              <a:t>LEDs: LD11 / LD12 / LD13</a:t>
            </a:r>
            <a:endParaRPr lang="en-US" sz="900" dirty="0"/>
          </a:p>
        </p:txBody>
      </p:sp>
      <p:sp>
        <p:nvSpPr>
          <p:cNvPr id="24" name="Text 22"/>
          <p:cNvSpPr/>
          <p:nvPr/>
        </p:nvSpPr>
        <p:spPr>
          <a:xfrm>
            <a:off x="4800600" y="3520440"/>
            <a:ext cx="4023360" cy="1316736"/>
          </a:xfrm>
          <a:prstGeom prst="rect">
            <a:avLst/>
          </a:prstGeom>
          <a:noFill/>
          <a:ln/>
        </p:spPr>
        <p:txBody>
          <a:bodyPr wrap="square" rtlCol="0" anchor="ctr"/>
          <a:lstStyle/>
          <a:p>
            <a:pPr marL="0" indent="0">
              <a:buNone/>
            </a:pPr>
            <a:r>
              <a:rPr lang="en-US" sz="1150" dirty="0">
                <a:solidFill>
                  <a:srgbClr val="1A252F"/>
                </a:solidFill>
                <a:latin typeface="Calibri" pitchFamily="34" charset="0"/>
                <a:ea typeface="Calibri" pitchFamily="34" charset="-122"/>
                <a:cs typeface="Calibri" pitchFamily="34" charset="-120"/>
              </a:rPr>
              <a:t>Classifies R7: Is_Zero (=0), Is_Small (1–7), Is_Large (8–15). Exactly one active. Demo: Reset→LD11, R7=3→LD12, R7=9→LD13 (dramatic switch). R7=7→LD12 again.</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E86C1"/>
          </a:solidFill>
          <a:ln w="12700">
            <a:solidFill>
              <a:srgbClr val="2E86C1"/>
            </a:solidFill>
            <a:prstDash val="solid"/>
          </a:ln>
        </p:spPr>
        <p:txBody>
          <a:bodyPr/>
          <a:lstStyle/>
          <a:p>
            <a:endParaRPr lang="en-US"/>
          </a:p>
        </p:txBody>
      </p:sp>
      <p:sp>
        <p:nvSpPr>
          <p:cNvPr id="3" name="Shape 1"/>
          <p:cNvSpPr/>
          <p:nvPr/>
        </p:nvSpPr>
        <p:spPr>
          <a:xfrm>
            <a:off x="0" y="0"/>
            <a:ext cx="9144000" cy="713232"/>
          </a:xfrm>
          <a:prstGeom prst="rect">
            <a:avLst/>
          </a:prstGeom>
          <a:solidFill>
            <a:srgbClr val="0D1B2A"/>
          </a:solidFill>
          <a:ln w="12700">
            <a:solidFill>
              <a:srgbClr val="0D1B2A"/>
            </a:solidFill>
            <a:prstDash val="solid"/>
          </a:ln>
        </p:spPr>
        <p:txBody>
          <a:bodyPr/>
          <a:lstStyle/>
          <a:p>
            <a:endParaRPr lang="en-US"/>
          </a:p>
        </p:txBody>
      </p:sp>
      <p:sp>
        <p:nvSpPr>
          <p:cNvPr id="4" name="Text 2"/>
          <p:cNvSpPr/>
          <p:nvPr/>
        </p:nvSpPr>
        <p:spPr>
          <a:xfrm>
            <a:off x="274320" y="73152"/>
            <a:ext cx="8595360"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Advanced Demo Program — All 4 Features Visible</a:t>
            </a:r>
            <a:endParaRPr lang="en-US" sz="2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228600" y="896112"/>
          <a:ext cx="8686800" cy="4114800"/>
        </p:xfrm>
        <a:graphic>
          <a:graphicData uri="http://schemas.openxmlformats.org/drawingml/2006/table">
            <a:tbl>
              <a:tblPr/>
              <a:tblGrid>
                <a:gridCol w="5943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5074920">
                  <a:extLst>
                    <a:ext uri="{9D8B030D-6E8A-4147-A177-3AD203B41FA5}">
                      <a16:colId xmlns:a16="http://schemas.microsoft.com/office/drawing/2014/main" val="20003"/>
                    </a:ext>
                  </a:extLst>
                </a:gridCol>
              </a:tblGrid>
              <a:tr h="45720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Addr</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2E86C1"/>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Assembly</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2E86C1"/>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R7 After</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2E86C1"/>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Feature Demonstrated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2E86C1"/>
                    </a:solidFill>
                  </a:tcPr>
                </a:tc>
                <a:extLst>
                  <a:ext uri="{0D108BD9-81ED-4DB2-BD59-A6C34878D82A}">
                    <a16:rowId xmlns:a16="http://schemas.microsoft.com/office/drawing/2014/main" val="10000"/>
                  </a:ext>
                </a:extLst>
              </a:tr>
              <a:tr h="45720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MOVI R7, 3</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Setup</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MOVI R2, 3</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Setup</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MUL  R7, R2</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9 (1001)</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Feature 2: 3×3=9  LD12-LD15 lit  7-seg shows 9</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MOVI R3, 5</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Setup</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MOVI R4, 2</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Setup</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ADD  R3, R4</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9 (R7 unchanged)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Feature 1: inputs 5&gt;2 → LD8 (Greater) lights</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720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NEG  R7</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7 (0111)</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Feature 3: parity Even→Odd  Feature 4: Large→Small</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5720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JZR  R0, 0</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loops</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R0=0 always → always jumps back — unconditional loop</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4F72"/>
        </a:solidFill>
        <a:effectLst/>
      </p:bgPr>
    </p:bg>
    <p:spTree>
      <p:nvGrpSpPr>
        <p:cNvPr id="1" name=""/>
        <p:cNvGrpSpPr/>
        <p:nvPr/>
      </p:nvGrpSpPr>
      <p:grpSpPr>
        <a:xfrm>
          <a:off x="0" y="0"/>
          <a:ext cx="0" cy="0"/>
          <a:chOff x="0" y="0"/>
          <a:chExt cx="0" cy="0"/>
        </a:xfrm>
      </p:grpSpPr>
      <p:sp>
        <p:nvSpPr>
          <p:cNvPr id="2" name="Shape 0"/>
          <p:cNvSpPr/>
          <p:nvPr/>
        </p:nvSpPr>
        <p:spPr>
          <a:xfrm>
            <a:off x="0" y="2011680"/>
            <a:ext cx="9144000" cy="1188720"/>
          </a:xfrm>
          <a:prstGeom prst="rect">
            <a:avLst/>
          </a:prstGeom>
          <a:solidFill>
            <a:srgbClr val="2E86C1"/>
          </a:solidFill>
          <a:ln w="12700">
            <a:solidFill>
              <a:srgbClr val="2E86C1"/>
            </a:solidFill>
            <a:prstDash val="solid"/>
          </a:ln>
        </p:spPr>
        <p:txBody>
          <a:bodyPr/>
          <a:lstStyle/>
          <a:p>
            <a:endParaRPr lang="en-US"/>
          </a:p>
        </p:txBody>
      </p:sp>
      <p:sp>
        <p:nvSpPr>
          <p:cNvPr id="3" name="Text 1"/>
          <p:cNvSpPr/>
          <p:nvPr/>
        </p:nvSpPr>
        <p:spPr>
          <a:xfrm>
            <a:off x="365760" y="548640"/>
            <a:ext cx="1828800" cy="1463040"/>
          </a:xfrm>
          <a:prstGeom prst="rect">
            <a:avLst/>
          </a:prstGeom>
          <a:noFill/>
          <a:ln/>
        </p:spPr>
        <p:txBody>
          <a:bodyPr wrap="square" rtlCol="0" anchor="ctr"/>
          <a:lstStyle/>
          <a:p>
            <a:pPr marL="0" indent="0" algn="l">
              <a:buNone/>
            </a:pPr>
            <a:r>
              <a:rPr lang="en-US" sz="8000" b="1" dirty="0">
                <a:solidFill>
                  <a:srgbClr val="AED6F1"/>
                </a:solidFill>
                <a:latin typeface="Calibri" pitchFamily="34" charset="0"/>
                <a:ea typeface="Calibri" pitchFamily="34" charset="-122"/>
                <a:cs typeface="Calibri" pitchFamily="34" charset="-120"/>
              </a:rPr>
              <a:t>07</a:t>
            </a:r>
            <a:endParaRPr lang="en-US" sz="8000" dirty="0"/>
          </a:p>
        </p:txBody>
      </p:sp>
      <p:sp>
        <p:nvSpPr>
          <p:cNvPr id="4" name="Text 2"/>
          <p:cNvSpPr/>
          <p:nvPr/>
        </p:nvSpPr>
        <p:spPr>
          <a:xfrm>
            <a:off x="365760" y="2103120"/>
            <a:ext cx="8412480" cy="1005840"/>
          </a:xfrm>
          <a:prstGeom prst="rect">
            <a:avLst/>
          </a:prstGeom>
          <a:noFill/>
          <a:ln/>
        </p:spPr>
        <p:txBody>
          <a:bodyPr wrap="square" rtlCol="0" anchor="ctr"/>
          <a:lstStyle/>
          <a:p>
            <a:pPr marL="0" indent="0" algn="l">
              <a:buNone/>
            </a:pPr>
            <a:r>
              <a:rPr lang="en-US" sz="3400" b="1" dirty="0">
                <a:solidFill>
                  <a:srgbClr val="FFFFFF"/>
                </a:solidFill>
                <a:latin typeface="Calibri" pitchFamily="34" charset="0"/>
                <a:ea typeface="Calibri" pitchFamily="34" charset="-122"/>
                <a:cs typeface="Calibri" pitchFamily="34" charset="-120"/>
              </a:rPr>
              <a:t>Board Demo &amp; Conclusion</a:t>
            </a:r>
            <a:endParaRPr lang="en-US" sz="3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E041D385-2387-D67D-5F56-D9A24F2A743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46F90C5-26AE-5608-7021-36458DB52042}"/>
              </a:ext>
            </a:extLst>
          </p:cNvPr>
          <p:cNvSpPr/>
          <p:nvPr/>
        </p:nvSpPr>
        <p:spPr>
          <a:xfrm>
            <a:off x="0" y="0"/>
            <a:ext cx="164592" cy="5143500"/>
          </a:xfrm>
          <a:prstGeom prst="rect">
            <a:avLst/>
          </a:prstGeom>
          <a:solidFill>
            <a:srgbClr val="2E86C1"/>
          </a:solidFill>
          <a:ln w="12700">
            <a:solidFill>
              <a:srgbClr val="2E86C1"/>
            </a:solidFill>
            <a:prstDash val="solid"/>
          </a:ln>
        </p:spPr>
        <p:txBody>
          <a:bodyPr/>
          <a:lstStyle/>
          <a:p>
            <a:endParaRPr lang="en-US"/>
          </a:p>
        </p:txBody>
      </p:sp>
      <p:sp>
        <p:nvSpPr>
          <p:cNvPr id="3" name="Shape 1">
            <a:extLst>
              <a:ext uri="{FF2B5EF4-FFF2-40B4-BE49-F238E27FC236}">
                <a16:creationId xmlns:a16="http://schemas.microsoft.com/office/drawing/2014/main" id="{DC714BE9-1E53-4B7C-7625-87682B33A253}"/>
              </a:ext>
            </a:extLst>
          </p:cNvPr>
          <p:cNvSpPr/>
          <p:nvPr/>
        </p:nvSpPr>
        <p:spPr>
          <a:xfrm>
            <a:off x="0" y="0"/>
            <a:ext cx="9144000" cy="713232"/>
          </a:xfrm>
          <a:prstGeom prst="rect">
            <a:avLst/>
          </a:prstGeom>
          <a:solidFill>
            <a:srgbClr val="0D1B2A"/>
          </a:solidFill>
          <a:ln w="12700">
            <a:solidFill>
              <a:srgbClr val="0D1B2A"/>
            </a:solidFill>
            <a:prstDash val="solid"/>
          </a:ln>
        </p:spPr>
        <p:txBody>
          <a:bodyPr/>
          <a:lstStyle/>
          <a:p>
            <a:endParaRPr lang="en-US"/>
          </a:p>
        </p:txBody>
      </p:sp>
      <p:sp>
        <p:nvSpPr>
          <p:cNvPr id="4" name="Text 2">
            <a:extLst>
              <a:ext uri="{FF2B5EF4-FFF2-40B4-BE49-F238E27FC236}">
                <a16:creationId xmlns:a16="http://schemas.microsoft.com/office/drawing/2014/main" id="{46AD969E-6502-B555-F10B-4CE310E080D8}"/>
              </a:ext>
            </a:extLst>
          </p:cNvPr>
          <p:cNvSpPr/>
          <p:nvPr/>
        </p:nvSpPr>
        <p:spPr>
          <a:xfrm>
            <a:off x="274320" y="73152"/>
            <a:ext cx="8595360"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BASYS3 Board - Basic Nanoprocessor</a:t>
            </a:r>
            <a:endParaRPr lang="en-US" sz="2200" dirty="0"/>
          </a:p>
        </p:txBody>
      </p:sp>
      <p:grpSp>
        <p:nvGrpSpPr>
          <p:cNvPr id="36" name="Group 35">
            <a:extLst>
              <a:ext uri="{FF2B5EF4-FFF2-40B4-BE49-F238E27FC236}">
                <a16:creationId xmlns:a16="http://schemas.microsoft.com/office/drawing/2014/main" id="{F033427F-2175-752F-C328-267CB31E0FA1}"/>
              </a:ext>
            </a:extLst>
          </p:cNvPr>
          <p:cNvGrpSpPr/>
          <p:nvPr/>
        </p:nvGrpSpPr>
        <p:grpSpPr>
          <a:xfrm>
            <a:off x="1594071" y="640080"/>
            <a:ext cx="5782157" cy="4265022"/>
            <a:chOff x="1594071" y="640080"/>
            <a:chExt cx="5782157" cy="4265022"/>
          </a:xfrm>
        </p:grpSpPr>
        <p:pic>
          <p:nvPicPr>
            <p:cNvPr id="24" name="Picture 23">
              <a:extLst>
                <a:ext uri="{FF2B5EF4-FFF2-40B4-BE49-F238E27FC236}">
                  <a16:creationId xmlns:a16="http://schemas.microsoft.com/office/drawing/2014/main" id="{9F279C58-3A3F-0EAE-73A2-BA72C44DF6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4709" y="640080"/>
              <a:ext cx="5621519" cy="4101417"/>
            </a:xfrm>
            <a:prstGeom prst="rect">
              <a:avLst/>
            </a:prstGeom>
          </p:spPr>
        </p:pic>
        <p:cxnSp>
          <p:nvCxnSpPr>
            <p:cNvPr id="25" name="Straight Arrow Connector 24">
              <a:extLst>
                <a:ext uri="{FF2B5EF4-FFF2-40B4-BE49-F238E27FC236}">
                  <a16:creationId xmlns:a16="http://schemas.microsoft.com/office/drawing/2014/main" id="{12CF24EE-C052-D151-2DA8-DA5E016AB038}"/>
                </a:ext>
              </a:extLst>
            </p:cNvPr>
            <p:cNvCxnSpPr/>
            <p:nvPr/>
          </p:nvCxnSpPr>
          <p:spPr>
            <a:xfrm flipV="1">
              <a:off x="2275932" y="3606582"/>
              <a:ext cx="217109" cy="999147"/>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721C651B-D1CD-3B24-C0F2-AE3A1AEC4908}"/>
                </a:ext>
              </a:extLst>
            </p:cNvPr>
            <p:cNvCxnSpPr/>
            <p:nvPr/>
          </p:nvCxnSpPr>
          <p:spPr>
            <a:xfrm flipH="1" flipV="1">
              <a:off x="2788610" y="3613862"/>
              <a:ext cx="103817" cy="974578"/>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7" name="Text Box 2">
              <a:extLst>
                <a:ext uri="{FF2B5EF4-FFF2-40B4-BE49-F238E27FC236}">
                  <a16:creationId xmlns:a16="http://schemas.microsoft.com/office/drawing/2014/main" id="{52B72C10-39B7-22BD-C914-436F35AF044F}"/>
                </a:ext>
              </a:extLst>
            </p:cNvPr>
            <p:cNvSpPr txBox="1">
              <a:spLocks noChangeArrowheads="1"/>
            </p:cNvSpPr>
            <p:nvPr/>
          </p:nvSpPr>
          <p:spPr bwMode="auto">
            <a:xfrm>
              <a:off x="1594071" y="4585709"/>
              <a:ext cx="933245" cy="319393"/>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marL="0" marR="0" algn="ctr">
                <a:lnSpc>
                  <a:spcPct val="115000"/>
                </a:lnSpc>
                <a:spcBef>
                  <a:spcPts val="0"/>
                </a:spcBef>
                <a:spcAft>
                  <a:spcPts val="800"/>
                </a:spcAf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Overflow</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Bef>
                  <a:spcPts val="0"/>
                </a:spcBef>
                <a:spcAft>
                  <a:spcPts val="800"/>
                </a:spcAft>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p>
          </p:txBody>
        </p:sp>
        <p:sp>
          <p:nvSpPr>
            <p:cNvPr id="28" name="Text Box 2">
              <a:extLst>
                <a:ext uri="{FF2B5EF4-FFF2-40B4-BE49-F238E27FC236}">
                  <a16:creationId xmlns:a16="http://schemas.microsoft.com/office/drawing/2014/main" id="{B8619C5F-44F5-A3D6-A432-061711AC3E5C}"/>
                </a:ext>
              </a:extLst>
            </p:cNvPr>
            <p:cNvSpPr txBox="1">
              <a:spLocks noChangeArrowheads="1"/>
            </p:cNvSpPr>
            <p:nvPr/>
          </p:nvSpPr>
          <p:spPr bwMode="auto">
            <a:xfrm>
              <a:off x="2629680" y="4592990"/>
              <a:ext cx="650076" cy="312112"/>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marL="0" marR="0" algn="ctr">
                <a:lnSpc>
                  <a:spcPct val="115000"/>
                </a:lnSpc>
                <a:spcBef>
                  <a:spcPts val="0"/>
                </a:spcBef>
                <a:spcAft>
                  <a:spcPts val="800"/>
                </a:spcAf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Zero</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p:txBody>
        </p:sp>
        <p:cxnSp>
          <p:nvCxnSpPr>
            <p:cNvPr id="29" name="Straight Arrow Connector 28">
              <a:extLst>
                <a:ext uri="{FF2B5EF4-FFF2-40B4-BE49-F238E27FC236}">
                  <a16:creationId xmlns:a16="http://schemas.microsoft.com/office/drawing/2014/main" id="{B106500B-BAFB-F0E2-3567-E4B912695174}"/>
                </a:ext>
              </a:extLst>
            </p:cNvPr>
            <p:cNvCxnSpPr/>
            <p:nvPr/>
          </p:nvCxnSpPr>
          <p:spPr>
            <a:xfrm flipH="1" flipV="1">
              <a:off x="3448257" y="3395469"/>
              <a:ext cx="415270" cy="1220270"/>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30" name="Text Box 2">
              <a:extLst>
                <a:ext uri="{FF2B5EF4-FFF2-40B4-BE49-F238E27FC236}">
                  <a16:creationId xmlns:a16="http://schemas.microsoft.com/office/drawing/2014/main" id="{BA0D3F4E-BCBE-D05A-B4B0-6D5C5C2B0280}"/>
                </a:ext>
              </a:extLst>
            </p:cNvPr>
            <p:cNvSpPr txBox="1">
              <a:spLocks noChangeArrowheads="1"/>
            </p:cNvSpPr>
            <p:nvPr/>
          </p:nvSpPr>
          <p:spPr bwMode="auto">
            <a:xfrm>
              <a:off x="3395279" y="4563871"/>
              <a:ext cx="1784143" cy="262071"/>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marL="0" marR="0" algn="ctr">
                <a:lnSpc>
                  <a:spcPct val="115000"/>
                </a:lnSpc>
                <a:spcBef>
                  <a:spcPts val="0"/>
                </a:spcBef>
                <a:spcAft>
                  <a:spcPts val="800"/>
                </a:spcAf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7 Segment Display</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p:txBody>
        </p:sp>
        <p:cxnSp>
          <p:nvCxnSpPr>
            <p:cNvPr id="31" name="Straight Arrow Connector 30">
              <a:extLst>
                <a:ext uri="{FF2B5EF4-FFF2-40B4-BE49-F238E27FC236}">
                  <a16:creationId xmlns:a16="http://schemas.microsoft.com/office/drawing/2014/main" id="{9E166DAF-2BB2-4F37-889A-F610F82C11B1}"/>
                </a:ext>
              </a:extLst>
            </p:cNvPr>
            <p:cNvCxnSpPr/>
            <p:nvPr/>
          </p:nvCxnSpPr>
          <p:spPr>
            <a:xfrm flipH="1">
              <a:off x="5745056" y="2236167"/>
              <a:ext cx="346058" cy="868111"/>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32" name="Text Box 2">
              <a:extLst>
                <a:ext uri="{FF2B5EF4-FFF2-40B4-BE49-F238E27FC236}">
                  <a16:creationId xmlns:a16="http://schemas.microsoft.com/office/drawing/2014/main" id="{75F61A56-B138-EBC5-25BF-5EE592382070}"/>
                </a:ext>
              </a:extLst>
            </p:cNvPr>
            <p:cNvSpPr txBox="1">
              <a:spLocks noChangeArrowheads="1"/>
            </p:cNvSpPr>
            <p:nvPr/>
          </p:nvSpPr>
          <p:spPr bwMode="auto">
            <a:xfrm>
              <a:off x="5664736" y="1943157"/>
              <a:ext cx="945892" cy="262071"/>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marL="0" marR="0" algn="ctr">
                <a:lnSpc>
                  <a:spcPct val="115000"/>
                </a:lnSpc>
                <a:spcBef>
                  <a:spcPts val="0"/>
                </a:spcBef>
                <a:spcAft>
                  <a:spcPts val="800"/>
                </a:spcAft>
              </a:pPr>
              <a:r>
                <a:rPr lang="en-US" sz="1200" b="1" kern="100">
                  <a:effectLst/>
                  <a:latin typeface="Aptos" panose="020B0004020202020204" pitchFamily="34" charset="0"/>
                  <a:ea typeface="Aptos" panose="020B0004020202020204" pitchFamily="34" charset="0"/>
                  <a:cs typeface="Times New Roman" panose="02020603050405020304" pitchFamily="18" charset="0"/>
                </a:rPr>
                <a:t>Reset</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33" name="Left Brace 32">
              <a:extLst>
                <a:ext uri="{FF2B5EF4-FFF2-40B4-BE49-F238E27FC236}">
                  <a16:creationId xmlns:a16="http://schemas.microsoft.com/office/drawing/2014/main" id="{B39819E7-AC13-638A-AB24-5F49012EEB5B}"/>
                </a:ext>
              </a:extLst>
            </p:cNvPr>
            <p:cNvSpPr/>
            <p:nvPr/>
          </p:nvSpPr>
          <p:spPr>
            <a:xfrm rot="16200000">
              <a:off x="5780223" y="3642040"/>
              <a:ext cx="827710" cy="847931"/>
            </a:xfrm>
            <a:prstGeom prst="leftBrace">
              <a:avLst>
                <a:gd name="adj1" fmla="val 8333"/>
                <a:gd name="adj2" fmla="val 48016"/>
              </a:avLst>
            </a:prstGeom>
            <a:ln w="28575">
              <a:solidFill>
                <a:srgbClr val="FF0000"/>
              </a:solidFill>
            </a:ln>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highlight>
                  <a:srgbClr val="000080"/>
                </a:highlight>
              </a:endParaRPr>
            </a:p>
          </p:txBody>
        </p:sp>
        <p:sp>
          <p:nvSpPr>
            <p:cNvPr id="34" name="Text Box 2">
              <a:extLst>
                <a:ext uri="{FF2B5EF4-FFF2-40B4-BE49-F238E27FC236}">
                  <a16:creationId xmlns:a16="http://schemas.microsoft.com/office/drawing/2014/main" id="{2DD94E3B-BE54-2DE2-416A-4AC27B8A8B29}"/>
                </a:ext>
              </a:extLst>
            </p:cNvPr>
            <p:cNvSpPr txBox="1">
              <a:spLocks noChangeArrowheads="1"/>
            </p:cNvSpPr>
            <p:nvPr/>
          </p:nvSpPr>
          <p:spPr bwMode="auto">
            <a:xfrm>
              <a:off x="5664736" y="4483794"/>
              <a:ext cx="1611276" cy="262071"/>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marL="0" marR="0" algn="ctr">
                <a:lnSpc>
                  <a:spcPct val="115000"/>
                </a:lnSpc>
                <a:spcBef>
                  <a:spcPts val="0"/>
                </a:spcBef>
                <a:spcAft>
                  <a:spcPts val="800"/>
                </a:spcAf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Register Values</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p:txBody>
        </p:sp>
      </p:grpSp>
    </p:spTree>
    <p:extLst>
      <p:ext uri="{BB962C8B-B14F-4D97-AF65-F5344CB8AC3E}">
        <p14:creationId xmlns:p14="http://schemas.microsoft.com/office/powerpoint/2010/main" val="28116008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56CB704A-B417-7CAF-6EFD-B7007CB59C3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B24193F-CAE2-24E7-748B-D43CE3B009F8}"/>
              </a:ext>
            </a:extLst>
          </p:cNvPr>
          <p:cNvSpPr/>
          <p:nvPr/>
        </p:nvSpPr>
        <p:spPr>
          <a:xfrm>
            <a:off x="0" y="0"/>
            <a:ext cx="164592" cy="5143500"/>
          </a:xfrm>
          <a:prstGeom prst="rect">
            <a:avLst/>
          </a:prstGeom>
          <a:solidFill>
            <a:srgbClr val="2E86C1"/>
          </a:solidFill>
          <a:ln w="12700">
            <a:solidFill>
              <a:srgbClr val="2E86C1"/>
            </a:solidFill>
            <a:prstDash val="solid"/>
          </a:ln>
        </p:spPr>
        <p:txBody>
          <a:bodyPr/>
          <a:lstStyle/>
          <a:p>
            <a:endParaRPr lang="en-US"/>
          </a:p>
        </p:txBody>
      </p:sp>
      <p:sp>
        <p:nvSpPr>
          <p:cNvPr id="3" name="Shape 1">
            <a:extLst>
              <a:ext uri="{FF2B5EF4-FFF2-40B4-BE49-F238E27FC236}">
                <a16:creationId xmlns:a16="http://schemas.microsoft.com/office/drawing/2014/main" id="{6210BD5F-8B91-61B4-CC7F-B3DDD52AB399}"/>
              </a:ext>
            </a:extLst>
          </p:cNvPr>
          <p:cNvSpPr/>
          <p:nvPr/>
        </p:nvSpPr>
        <p:spPr>
          <a:xfrm>
            <a:off x="0" y="0"/>
            <a:ext cx="9144000" cy="713232"/>
          </a:xfrm>
          <a:prstGeom prst="rect">
            <a:avLst/>
          </a:prstGeom>
          <a:solidFill>
            <a:srgbClr val="0D1B2A"/>
          </a:solidFill>
          <a:ln w="12700">
            <a:solidFill>
              <a:srgbClr val="0D1B2A"/>
            </a:solidFill>
            <a:prstDash val="solid"/>
          </a:ln>
        </p:spPr>
        <p:txBody>
          <a:bodyPr/>
          <a:lstStyle/>
          <a:p>
            <a:endParaRPr lang="en-US"/>
          </a:p>
        </p:txBody>
      </p:sp>
      <p:sp>
        <p:nvSpPr>
          <p:cNvPr id="4" name="Text 2">
            <a:extLst>
              <a:ext uri="{FF2B5EF4-FFF2-40B4-BE49-F238E27FC236}">
                <a16:creationId xmlns:a16="http://schemas.microsoft.com/office/drawing/2014/main" id="{5389F193-D17A-DEA2-87F2-1487C28CB026}"/>
              </a:ext>
            </a:extLst>
          </p:cNvPr>
          <p:cNvSpPr/>
          <p:nvPr/>
        </p:nvSpPr>
        <p:spPr>
          <a:xfrm>
            <a:off x="274320" y="73152"/>
            <a:ext cx="8595360"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BASYS3 Board - Advanced Nanoprocessor</a:t>
            </a:r>
            <a:endParaRPr lang="en-US" sz="2200" dirty="0"/>
          </a:p>
        </p:txBody>
      </p:sp>
      <p:grpSp>
        <p:nvGrpSpPr>
          <p:cNvPr id="133" name="Group 132">
            <a:extLst>
              <a:ext uri="{FF2B5EF4-FFF2-40B4-BE49-F238E27FC236}">
                <a16:creationId xmlns:a16="http://schemas.microsoft.com/office/drawing/2014/main" id="{19BE9CA5-9226-9F7C-01B6-D34B484B965D}"/>
              </a:ext>
            </a:extLst>
          </p:cNvPr>
          <p:cNvGrpSpPr/>
          <p:nvPr/>
        </p:nvGrpSpPr>
        <p:grpSpPr>
          <a:xfrm>
            <a:off x="270804" y="713232"/>
            <a:ext cx="8219860" cy="4069697"/>
            <a:chOff x="270804" y="713232"/>
            <a:chExt cx="8219860" cy="4069697"/>
          </a:xfrm>
        </p:grpSpPr>
        <p:pic>
          <p:nvPicPr>
            <p:cNvPr id="6" name="Picture 5">
              <a:extLst>
                <a:ext uri="{FF2B5EF4-FFF2-40B4-BE49-F238E27FC236}">
                  <a16:creationId xmlns:a16="http://schemas.microsoft.com/office/drawing/2014/main" id="{C6EA15BE-B504-B645-393E-1FEBCB230E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3695" y="713232"/>
              <a:ext cx="5743575" cy="3965564"/>
            </a:xfrm>
            <a:prstGeom prst="rect">
              <a:avLst/>
            </a:prstGeom>
          </p:spPr>
        </p:pic>
        <p:cxnSp>
          <p:nvCxnSpPr>
            <p:cNvPr id="7" name="Straight Arrow Connector 6">
              <a:extLst>
                <a:ext uri="{FF2B5EF4-FFF2-40B4-BE49-F238E27FC236}">
                  <a16:creationId xmlns:a16="http://schemas.microsoft.com/office/drawing/2014/main" id="{9B1F2C66-0F32-3BAE-0CAC-6BE8C0740E8F}"/>
                </a:ext>
              </a:extLst>
            </p:cNvPr>
            <p:cNvCxnSpPr>
              <a:cxnSpLocks/>
            </p:cNvCxnSpPr>
            <p:nvPr/>
          </p:nvCxnSpPr>
          <p:spPr>
            <a:xfrm flipV="1">
              <a:off x="5177085" y="3510208"/>
              <a:ext cx="258541" cy="872390"/>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AF8FADE5-D55F-DC06-1067-EB9D295B0116}"/>
                </a:ext>
              </a:extLst>
            </p:cNvPr>
            <p:cNvCxnSpPr>
              <a:cxnSpLocks/>
            </p:cNvCxnSpPr>
            <p:nvPr/>
          </p:nvCxnSpPr>
          <p:spPr>
            <a:xfrm flipH="1" flipV="1">
              <a:off x="5729055" y="3486086"/>
              <a:ext cx="12524" cy="872390"/>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9" name="Text Box 2">
              <a:extLst>
                <a:ext uri="{FF2B5EF4-FFF2-40B4-BE49-F238E27FC236}">
                  <a16:creationId xmlns:a16="http://schemas.microsoft.com/office/drawing/2014/main" id="{AD0A37F5-01EE-051A-0648-19C6049365CC}"/>
                </a:ext>
              </a:extLst>
            </p:cNvPr>
            <p:cNvSpPr txBox="1">
              <a:spLocks noChangeArrowheads="1"/>
            </p:cNvSpPr>
            <p:nvPr/>
          </p:nvSpPr>
          <p:spPr bwMode="auto">
            <a:xfrm>
              <a:off x="5390394" y="4367072"/>
              <a:ext cx="837884" cy="32032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marL="0" marR="0" algn="ctr">
                <a:lnSpc>
                  <a:spcPct val="115000"/>
                </a:lnSpc>
                <a:spcBef>
                  <a:spcPts val="0"/>
                </a:spcBef>
                <a:spcAft>
                  <a:spcPts val="800"/>
                </a:spcAft>
              </a:pPr>
              <a:r>
                <a:rPr lang="en-US" sz="1200" b="1" kern="100">
                  <a:effectLst/>
                  <a:latin typeface="Aptos" panose="020B0004020202020204" pitchFamily="34" charset="0"/>
                  <a:ea typeface="Aptos" panose="020B0004020202020204" pitchFamily="34" charset="0"/>
                  <a:cs typeface="Times New Roman" panose="02020603050405020304" pitchFamily="18" charset="0"/>
                </a:rPr>
                <a:t>Overflow</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Bef>
                  <a:spcPts val="0"/>
                </a:spcBef>
                <a:spcAft>
                  <a:spcPts val="800"/>
                </a:spcAft>
              </a:pPr>
              <a:r>
                <a:rPr lang="en-US" sz="1200" kern="100">
                  <a:effectLst/>
                  <a:latin typeface="Aptos" panose="020B0004020202020204" pitchFamily="34" charset="0"/>
                  <a:ea typeface="Aptos" panose="020B0004020202020204" pitchFamily="34" charset="0"/>
                  <a:cs typeface="Times New Roman" panose="02020603050405020304" pitchFamily="18" charset="0"/>
                </a:rPr>
                <a:t> </a:t>
              </a:r>
            </a:p>
          </p:txBody>
        </p:sp>
        <p:sp>
          <p:nvSpPr>
            <p:cNvPr id="10" name="Text Box 2">
              <a:extLst>
                <a:ext uri="{FF2B5EF4-FFF2-40B4-BE49-F238E27FC236}">
                  <a16:creationId xmlns:a16="http://schemas.microsoft.com/office/drawing/2014/main" id="{0C44F10D-E2DF-C027-CCDC-98C7C9852E3B}"/>
                </a:ext>
              </a:extLst>
            </p:cNvPr>
            <p:cNvSpPr txBox="1">
              <a:spLocks noChangeArrowheads="1"/>
            </p:cNvSpPr>
            <p:nvPr/>
          </p:nvSpPr>
          <p:spPr bwMode="auto">
            <a:xfrm>
              <a:off x="4654267" y="4384419"/>
              <a:ext cx="665267" cy="32032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marL="0" marR="0" algn="ctr">
                <a:lnSpc>
                  <a:spcPct val="115000"/>
                </a:lnSpc>
                <a:spcBef>
                  <a:spcPts val="0"/>
                </a:spcBef>
                <a:spcAft>
                  <a:spcPts val="800"/>
                </a:spcAf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Zero</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p:txBody>
        </p:sp>
        <p:cxnSp>
          <p:nvCxnSpPr>
            <p:cNvPr id="11" name="Straight Arrow Connector 10">
              <a:extLst>
                <a:ext uri="{FF2B5EF4-FFF2-40B4-BE49-F238E27FC236}">
                  <a16:creationId xmlns:a16="http://schemas.microsoft.com/office/drawing/2014/main" id="{34892FD9-989D-4201-439E-F77498A77DFB}"/>
                </a:ext>
              </a:extLst>
            </p:cNvPr>
            <p:cNvCxnSpPr>
              <a:cxnSpLocks/>
            </p:cNvCxnSpPr>
            <p:nvPr/>
          </p:nvCxnSpPr>
          <p:spPr>
            <a:xfrm flipH="1">
              <a:off x="6067838" y="3004403"/>
              <a:ext cx="1456711" cy="0"/>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2" name="Text Box 2">
              <a:extLst>
                <a:ext uri="{FF2B5EF4-FFF2-40B4-BE49-F238E27FC236}">
                  <a16:creationId xmlns:a16="http://schemas.microsoft.com/office/drawing/2014/main" id="{E0E004F6-A140-8BA4-BFD5-828D8C64D28C}"/>
                </a:ext>
              </a:extLst>
            </p:cNvPr>
            <p:cNvSpPr txBox="1">
              <a:spLocks noChangeArrowheads="1"/>
            </p:cNvSpPr>
            <p:nvPr/>
          </p:nvSpPr>
          <p:spPr bwMode="auto">
            <a:xfrm>
              <a:off x="7524235" y="2852111"/>
              <a:ext cx="966429" cy="253415"/>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marL="0" marR="0" algn="ctr">
                <a:lnSpc>
                  <a:spcPct val="115000"/>
                </a:lnSpc>
                <a:spcBef>
                  <a:spcPts val="0"/>
                </a:spcBef>
                <a:spcAft>
                  <a:spcPts val="800"/>
                </a:spcAf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Reset</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3" name="Left Brace 12">
              <a:extLst>
                <a:ext uri="{FF2B5EF4-FFF2-40B4-BE49-F238E27FC236}">
                  <a16:creationId xmlns:a16="http://schemas.microsoft.com/office/drawing/2014/main" id="{3C59F820-0347-A061-13D8-081621454E67}"/>
                </a:ext>
              </a:extLst>
            </p:cNvPr>
            <p:cNvSpPr/>
            <p:nvPr/>
          </p:nvSpPr>
          <p:spPr>
            <a:xfrm rot="16200000">
              <a:off x="5981155" y="3592335"/>
              <a:ext cx="800370" cy="866341"/>
            </a:xfrm>
            <a:prstGeom prst="leftBrace">
              <a:avLst>
                <a:gd name="adj1" fmla="val 8333"/>
                <a:gd name="adj2" fmla="val 48016"/>
              </a:avLst>
            </a:prstGeom>
            <a:ln w="28575">
              <a:solidFill>
                <a:srgbClr val="FF0000"/>
              </a:solidFill>
            </a:ln>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 name="Text Box 2">
              <a:extLst>
                <a:ext uri="{FF2B5EF4-FFF2-40B4-BE49-F238E27FC236}">
                  <a16:creationId xmlns:a16="http://schemas.microsoft.com/office/drawing/2014/main" id="{11422C64-B4F0-4D29-143A-A8CD89945FE3}"/>
                </a:ext>
              </a:extLst>
            </p:cNvPr>
            <p:cNvSpPr txBox="1">
              <a:spLocks noChangeArrowheads="1"/>
            </p:cNvSpPr>
            <p:nvPr/>
          </p:nvSpPr>
          <p:spPr bwMode="auto">
            <a:xfrm>
              <a:off x="6325138" y="4436485"/>
              <a:ext cx="1328265" cy="32032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marL="0" marR="0" algn="ctr">
                <a:lnSpc>
                  <a:spcPct val="115000"/>
                </a:lnSpc>
                <a:spcBef>
                  <a:spcPts val="0"/>
                </a:spcBef>
                <a:spcAft>
                  <a:spcPts val="800"/>
                </a:spcAf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Register Values</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ctr">
                <a:lnSpc>
                  <a:spcPct val="115000"/>
                </a:lnSpc>
                <a:spcBef>
                  <a:spcPts val="0"/>
                </a:spcBef>
                <a:spcAft>
                  <a:spcPts val="800"/>
                </a:spcAf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 </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p:txBody>
        </p:sp>
        <p:cxnSp>
          <p:nvCxnSpPr>
            <p:cNvPr id="15" name="Straight Arrow Connector 14">
              <a:extLst>
                <a:ext uri="{FF2B5EF4-FFF2-40B4-BE49-F238E27FC236}">
                  <a16:creationId xmlns:a16="http://schemas.microsoft.com/office/drawing/2014/main" id="{05342EC0-B77E-9F83-7440-BE04B44F2CA8}"/>
                </a:ext>
              </a:extLst>
            </p:cNvPr>
            <p:cNvCxnSpPr>
              <a:cxnSpLocks/>
            </p:cNvCxnSpPr>
            <p:nvPr/>
          </p:nvCxnSpPr>
          <p:spPr>
            <a:xfrm>
              <a:off x="4118117" y="2560808"/>
              <a:ext cx="423165" cy="939604"/>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A409AEEF-D2C0-CCFF-1646-7DA4382408AC}"/>
                </a:ext>
              </a:extLst>
            </p:cNvPr>
            <p:cNvCxnSpPr>
              <a:cxnSpLocks/>
            </p:cNvCxnSpPr>
            <p:nvPr/>
          </p:nvCxnSpPr>
          <p:spPr>
            <a:xfrm>
              <a:off x="4836755" y="2571750"/>
              <a:ext cx="0" cy="865306"/>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474D654D-CDA1-3792-5FF6-FCE70FBFDA7D}"/>
                </a:ext>
              </a:extLst>
            </p:cNvPr>
            <p:cNvCxnSpPr>
              <a:cxnSpLocks/>
            </p:cNvCxnSpPr>
            <p:nvPr/>
          </p:nvCxnSpPr>
          <p:spPr>
            <a:xfrm flipH="1">
              <a:off x="5136146" y="2650911"/>
              <a:ext cx="526776" cy="882374"/>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8" name="Text Box 2">
              <a:extLst>
                <a:ext uri="{FF2B5EF4-FFF2-40B4-BE49-F238E27FC236}">
                  <a16:creationId xmlns:a16="http://schemas.microsoft.com/office/drawing/2014/main" id="{AD35B7CF-0D6D-1BC0-518E-BB056745DAC1}"/>
                </a:ext>
              </a:extLst>
            </p:cNvPr>
            <p:cNvSpPr txBox="1">
              <a:spLocks noChangeArrowheads="1"/>
            </p:cNvSpPr>
            <p:nvPr/>
          </p:nvSpPr>
          <p:spPr bwMode="auto">
            <a:xfrm>
              <a:off x="5319534" y="2308829"/>
              <a:ext cx="748304" cy="32032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marL="0" marR="0" algn="ctr">
                <a:lnSpc>
                  <a:spcPct val="115000"/>
                </a:lnSpc>
                <a:spcBef>
                  <a:spcPts val="0"/>
                </a:spcBef>
                <a:spcAft>
                  <a:spcPts val="800"/>
                </a:spcAf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Equal </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9" name="Text Box 2">
              <a:extLst>
                <a:ext uri="{FF2B5EF4-FFF2-40B4-BE49-F238E27FC236}">
                  <a16:creationId xmlns:a16="http://schemas.microsoft.com/office/drawing/2014/main" id="{FEE9BAB2-4000-51EF-A955-972D77E2D4FC}"/>
                </a:ext>
              </a:extLst>
            </p:cNvPr>
            <p:cNvSpPr txBox="1">
              <a:spLocks noChangeArrowheads="1"/>
            </p:cNvSpPr>
            <p:nvPr/>
          </p:nvSpPr>
          <p:spPr bwMode="auto">
            <a:xfrm>
              <a:off x="4359741" y="2230326"/>
              <a:ext cx="880876" cy="32032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marL="0" marR="0" algn="ctr">
                <a:lnSpc>
                  <a:spcPct val="115000"/>
                </a:lnSpc>
                <a:spcBef>
                  <a:spcPts val="0"/>
                </a:spcBef>
                <a:spcAft>
                  <a:spcPts val="800"/>
                </a:spcAf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Less Than</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20" name="Text Box 2">
              <a:extLst>
                <a:ext uri="{FF2B5EF4-FFF2-40B4-BE49-F238E27FC236}">
                  <a16:creationId xmlns:a16="http://schemas.microsoft.com/office/drawing/2014/main" id="{E5E1A61D-D888-CDFF-077A-332572A1F0A2}"/>
                </a:ext>
              </a:extLst>
            </p:cNvPr>
            <p:cNvSpPr txBox="1">
              <a:spLocks noChangeArrowheads="1"/>
            </p:cNvSpPr>
            <p:nvPr/>
          </p:nvSpPr>
          <p:spPr bwMode="auto">
            <a:xfrm>
              <a:off x="3213692" y="2224066"/>
              <a:ext cx="1097773" cy="297136"/>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marL="0" marR="0" algn="ctr">
                <a:lnSpc>
                  <a:spcPct val="115000"/>
                </a:lnSpc>
                <a:spcBef>
                  <a:spcPts val="0"/>
                </a:spcBef>
                <a:spcAft>
                  <a:spcPts val="800"/>
                </a:spcAf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Greater Than</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29" name="Text Box 2">
              <a:extLst>
                <a:ext uri="{FF2B5EF4-FFF2-40B4-BE49-F238E27FC236}">
                  <a16:creationId xmlns:a16="http://schemas.microsoft.com/office/drawing/2014/main" id="{570ED44C-39DC-32C6-DF70-BF638DC95A19}"/>
                </a:ext>
              </a:extLst>
            </p:cNvPr>
            <p:cNvSpPr txBox="1">
              <a:spLocks noChangeArrowheads="1"/>
            </p:cNvSpPr>
            <p:nvPr/>
          </p:nvSpPr>
          <p:spPr bwMode="auto">
            <a:xfrm>
              <a:off x="1007843" y="905085"/>
              <a:ext cx="1097773" cy="32032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marL="0" marR="0" algn="ctr">
                <a:lnSpc>
                  <a:spcPct val="115000"/>
                </a:lnSpc>
                <a:spcBef>
                  <a:spcPts val="0"/>
                </a:spcBef>
                <a:spcAft>
                  <a:spcPts val="800"/>
                </a:spcAf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Even Parity</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33" name="Text Box 2">
              <a:extLst>
                <a:ext uri="{FF2B5EF4-FFF2-40B4-BE49-F238E27FC236}">
                  <a16:creationId xmlns:a16="http://schemas.microsoft.com/office/drawing/2014/main" id="{2BDBFDCF-1EC5-EC22-2C2B-3DEBC841BAE9}"/>
                </a:ext>
              </a:extLst>
            </p:cNvPr>
            <p:cNvSpPr txBox="1">
              <a:spLocks noChangeArrowheads="1"/>
            </p:cNvSpPr>
            <p:nvPr/>
          </p:nvSpPr>
          <p:spPr bwMode="auto">
            <a:xfrm>
              <a:off x="628212" y="1476860"/>
              <a:ext cx="921986" cy="32032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marL="0" marR="0" algn="ctr">
                <a:lnSpc>
                  <a:spcPct val="115000"/>
                </a:lnSpc>
                <a:spcBef>
                  <a:spcPts val="0"/>
                </a:spcBef>
                <a:spcAft>
                  <a:spcPts val="800"/>
                </a:spcAf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Odd Parity</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p:txBody>
        </p:sp>
        <p:cxnSp>
          <p:nvCxnSpPr>
            <p:cNvPr id="40" name="Straight Arrow Connector 39">
              <a:extLst>
                <a:ext uri="{FF2B5EF4-FFF2-40B4-BE49-F238E27FC236}">
                  <a16:creationId xmlns:a16="http://schemas.microsoft.com/office/drawing/2014/main" id="{76F4FE21-1641-562D-5FDF-4E8E6CF54B1F}"/>
                </a:ext>
              </a:extLst>
            </p:cNvPr>
            <p:cNvCxnSpPr>
              <a:cxnSpLocks/>
            </p:cNvCxnSpPr>
            <p:nvPr/>
          </p:nvCxnSpPr>
          <p:spPr>
            <a:xfrm flipH="1" flipV="1">
              <a:off x="3844712" y="3538785"/>
              <a:ext cx="247247" cy="913662"/>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744183FA-2508-10CE-DD3B-86FCAFC0133D}"/>
                </a:ext>
              </a:extLst>
            </p:cNvPr>
            <p:cNvCxnSpPr>
              <a:cxnSpLocks/>
            </p:cNvCxnSpPr>
            <p:nvPr/>
          </p:nvCxnSpPr>
          <p:spPr>
            <a:xfrm flipH="1" flipV="1">
              <a:off x="3579416" y="3553301"/>
              <a:ext cx="6391" cy="872390"/>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44" name="Straight Arrow Connector 43">
              <a:extLst>
                <a:ext uri="{FF2B5EF4-FFF2-40B4-BE49-F238E27FC236}">
                  <a16:creationId xmlns:a16="http://schemas.microsoft.com/office/drawing/2014/main" id="{823F1288-7C22-B889-425A-DE12D73AEEBE}"/>
                </a:ext>
              </a:extLst>
            </p:cNvPr>
            <p:cNvCxnSpPr>
              <a:cxnSpLocks/>
            </p:cNvCxnSpPr>
            <p:nvPr/>
          </p:nvCxnSpPr>
          <p:spPr>
            <a:xfrm flipV="1">
              <a:off x="3004493" y="3553301"/>
              <a:ext cx="258541" cy="872390"/>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46" name="Text Box 2">
              <a:extLst>
                <a:ext uri="{FF2B5EF4-FFF2-40B4-BE49-F238E27FC236}">
                  <a16:creationId xmlns:a16="http://schemas.microsoft.com/office/drawing/2014/main" id="{F2A12C39-97E0-0460-4FE8-63C8CA0B29CB}"/>
                </a:ext>
              </a:extLst>
            </p:cNvPr>
            <p:cNvSpPr txBox="1">
              <a:spLocks noChangeArrowheads="1"/>
            </p:cNvSpPr>
            <p:nvPr/>
          </p:nvSpPr>
          <p:spPr bwMode="auto">
            <a:xfrm>
              <a:off x="3910085" y="4462609"/>
              <a:ext cx="565751" cy="32032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marL="0" marR="0" algn="ctr">
                <a:lnSpc>
                  <a:spcPct val="115000"/>
                </a:lnSpc>
                <a:spcBef>
                  <a:spcPts val="0"/>
                </a:spcBef>
                <a:spcAft>
                  <a:spcPts val="800"/>
                </a:spcAf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Zero</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7" name="Text Box 2">
              <a:extLst>
                <a:ext uri="{FF2B5EF4-FFF2-40B4-BE49-F238E27FC236}">
                  <a16:creationId xmlns:a16="http://schemas.microsoft.com/office/drawing/2014/main" id="{0FBEBF78-C30B-B9EB-CEFB-514C9E311C2B}"/>
                </a:ext>
              </a:extLst>
            </p:cNvPr>
            <p:cNvSpPr txBox="1">
              <a:spLocks noChangeArrowheads="1"/>
            </p:cNvSpPr>
            <p:nvPr/>
          </p:nvSpPr>
          <p:spPr bwMode="auto">
            <a:xfrm>
              <a:off x="3282404" y="4437268"/>
              <a:ext cx="603363" cy="32032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marL="0" marR="0" algn="ctr">
                <a:lnSpc>
                  <a:spcPct val="115000"/>
                </a:lnSpc>
                <a:spcBef>
                  <a:spcPts val="0"/>
                </a:spcBef>
                <a:spcAft>
                  <a:spcPts val="800"/>
                </a:spcAf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Small</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8" name="Text Box 2">
              <a:extLst>
                <a:ext uri="{FF2B5EF4-FFF2-40B4-BE49-F238E27FC236}">
                  <a16:creationId xmlns:a16="http://schemas.microsoft.com/office/drawing/2014/main" id="{31BD905F-A79D-E22A-5EF2-B19FBE78DECF}"/>
                </a:ext>
              </a:extLst>
            </p:cNvPr>
            <p:cNvSpPr txBox="1">
              <a:spLocks noChangeArrowheads="1"/>
            </p:cNvSpPr>
            <p:nvPr/>
          </p:nvSpPr>
          <p:spPr bwMode="auto">
            <a:xfrm>
              <a:off x="2630611" y="4430737"/>
              <a:ext cx="603363" cy="32032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marL="0" marR="0" algn="ctr">
                <a:lnSpc>
                  <a:spcPct val="115000"/>
                </a:lnSpc>
                <a:spcBef>
                  <a:spcPts val="0"/>
                </a:spcBef>
                <a:spcAft>
                  <a:spcPts val="800"/>
                </a:spcAf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Large</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p:txBody>
        </p:sp>
        <p:cxnSp>
          <p:nvCxnSpPr>
            <p:cNvPr id="92" name="Straight Arrow Connector 91">
              <a:extLst>
                <a:ext uri="{FF2B5EF4-FFF2-40B4-BE49-F238E27FC236}">
                  <a16:creationId xmlns:a16="http://schemas.microsoft.com/office/drawing/2014/main" id="{ABBC0E53-F93C-84A3-05EC-E1A5C446C367}"/>
                </a:ext>
              </a:extLst>
            </p:cNvPr>
            <p:cNvCxnSpPr>
              <a:cxnSpLocks/>
            </p:cNvCxnSpPr>
            <p:nvPr/>
          </p:nvCxnSpPr>
          <p:spPr>
            <a:xfrm>
              <a:off x="1450517" y="1251348"/>
              <a:ext cx="2860948" cy="213193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AFCE05AC-5E2A-9035-8411-E155F89F2DAE}"/>
                </a:ext>
              </a:extLst>
            </p:cNvPr>
            <p:cNvCxnSpPr>
              <a:cxnSpLocks/>
            </p:cNvCxnSpPr>
            <p:nvPr/>
          </p:nvCxnSpPr>
          <p:spPr>
            <a:xfrm>
              <a:off x="1556729" y="1611715"/>
              <a:ext cx="2440475" cy="179278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8" name="Connector: Elbow 97">
              <a:extLst>
                <a:ext uri="{FF2B5EF4-FFF2-40B4-BE49-F238E27FC236}">
                  <a16:creationId xmlns:a16="http://schemas.microsoft.com/office/drawing/2014/main" id="{F5A1920F-05F6-6F01-4414-0F99BDEE693A}"/>
                </a:ext>
              </a:extLst>
            </p:cNvPr>
            <p:cNvCxnSpPr>
              <a:cxnSpLocks/>
            </p:cNvCxnSpPr>
            <p:nvPr/>
          </p:nvCxnSpPr>
          <p:spPr>
            <a:xfrm>
              <a:off x="1218463" y="2765775"/>
              <a:ext cx="1713829" cy="671281"/>
            </a:xfrm>
            <a:prstGeom prst="bentConnector3">
              <a:avLst>
                <a:gd name="adj1" fmla="val 99924"/>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7" name="Text Box 2">
              <a:extLst>
                <a:ext uri="{FF2B5EF4-FFF2-40B4-BE49-F238E27FC236}">
                  <a16:creationId xmlns:a16="http://schemas.microsoft.com/office/drawing/2014/main" id="{312803E9-9540-6E5D-D1D5-CB7E320251D7}"/>
                </a:ext>
              </a:extLst>
            </p:cNvPr>
            <p:cNvSpPr txBox="1">
              <a:spLocks noChangeArrowheads="1"/>
            </p:cNvSpPr>
            <p:nvPr/>
          </p:nvSpPr>
          <p:spPr bwMode="auto">
            <a:xfrm>
              <a:off x="270804" y="2592112"/>
              <a:ext cx="1343959" cy="32032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marL="0" marR="0" algn="ctr">
                <a:lnSpc>
                  <a:spcPct val="115000"/>
                </a:lnSpc>
                <a:spcBef>
                  <a:spcPts val="0"/>
                </a:spcBef>
                <a:spcAft>
                  <a:spcPts val="800"/>
                </a:spcAft>
              </a:pPr>
              <a:r>
                <a:rPr lang="en-US" sz="1200" b="1" kern="100" dirty="0">
                  <a:latin typeface="Aptos" panose="020B0004020202020204" pitchFamily="34" charset="0"/>
                  <a:ea typeface="Aptos" panose="020B0004020202020204" pitchFamily="34" charset="0"/>
                  <a:cs typeface="Times New Roman" panose="02020603050405020304" pitchFamily="18" charset="0"/>
                </a:rPr>
                <a:t>Mult - Overflow</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p:txBody>
        </p:sp>
      </p:grpSp>
    </p:spTree>
    <p:extLst>
      <p:ext uri="{BB962C8B-B14F-4D97-AF65-F5344CB8AC3E}">
        <p14:creationId xmlns:p14="http://schemas.microsoft.com/office/powerpoint/2010/main" val="8254442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E86C1"/>
          </a:solidFill>
          <a:ln w="12700">
            <a:solidFill>
              <a:srgbClr val="2E86C1"/>
            </a:solidFill>
            <a:prstDash val="solid"/>
          </a:ln>
        </p:spPr>
        <p:txBody>
          <a:bodyPr/>
          <a:lstStyle/>
          <a:p>
            <a:endParaRPr lang="en-US"/>
          </a:p>
        </p:txBody>
      </p:sp>
      <p:sp>
        <p:nvSpPr>
          <p:cNvPr id="3" name="Shape 1"/>
          <p:cNvSpPr/>
          <p:nvPr/>
        </p:nvSpPr>
        <p:spPr>
          <a:xfrm>
            <a:off x="0" y="0"/>
            <a:ext cx="9144000" cy="713232"/>
          </a:xfrm>
          <a:prstGeom prst="rect">
            <a:avLst/>
          </a:prstGeom>
          <a:solidFill>
            <a:srgbClr val="0D1B2A"/>
          </a:solidFill>
          <a:ln w="12700">
            <a:solidFill>
              <a:srgbClr val="0D1B2A"/>
            </a:solidFill>
            <a:prstDash val="solid"/>
          </a:ln>
        </p:spPr>
        <p:txBody>
          <a:bodyPr/>
          <a:lstStyle/>
          <a:p>
            <a:endParaRPr lang="en-US"/>
          </a:p>
        </p:txBody>
      </p:sp>
      <p:sp>
        <p:nvSpPr>
          <p:cNvPr id="4" name="Text 2"/>
          <p:cNvSpPr/>
          <p:nvPr/>
        </p:nvSpPr>
        <p:spPr>
          <a:xfrm>
            <a:off x="274320" y="73152"/>
            <a:ext cx="8595360"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BASYS3 Board Demo — Basic Nanoprocessor</a:t>
            </a:r>
            <a:endParaRPr lang="en-US" sz="2200" dirty="0"/>
          </a:p>
        </p:txBody>
      </p:sp>
      <p:sp>
        <p:nvSpPr>
          <p:cNvPr id="5" name="Shape 3"/>
          <p:cNvSpPr/>
          <p:nvPr/>
        </p:nvSpPr>
        <p:spPr>
          <a:xfrm>
            <a:off x="228600" y="896112"/>
            <a:ext cx="8686800" cy="365760"/>
          </a:xfrm>
          <a:prstGeom prst="rect">
            <a:avLst/>
          </a:prstGeom>
          <a:solidFill>
            <a:srgbClr val="0D1B2A"/>
          </a:solidFill>
          <a:ln w="12700">
            <a:solidFill>
              <a:srgbClr val="0D1B2A"/>
            </a:solidFill>
            <a:prstDash val="solid"/>
          </a:ln>
        </p:spPr>
        <p:txBody>
          <a:bodyPr/>
          <a:lstStyle/>
          <a:p>
            <a:endParaRPr lang="en-US"/>
          </a:p>
        </p:txBody>
      </p:sp>
      <p:sp>
        <p:nvSpPr>
          <p:cNvPr id="6" name="Text 4"/>
          <p:cNvSpPr/>
          <p:nvPr/>
        </p:nvSpPr>
        <p:spPr>
          <a:xfrm>
            <a:off x="320040" y="914400"/>
            <a:ext cx="8412480" cy="329184"/>
          </a:xfrm>
          <a:prstGeom prst="rect">
            <a:avLst/>
          </a:prstGeom>
          <a:noFill/>
          <a:ln/>
        </p:spPr>
        <p:txBody>
          <a:bodyPr wrap="square" lIns="0" tIns="0" rIns="0" bIns="0" rtlCol="0" anchor="ctr"/>
          <a:lstStyle/>
          <a:p>
            <a:pPr marL="0" indent="0">
              <a:buNone/>
            </a:pPr>
            <a:r>
              <a:rPr lang="en-US" sz="1300" b="1" dirty="0">
                <a:solidFill>
                  <a:srgbClr val="AED6F1"/>
                </a:solidFill>
                <a:latin typeface="Calibri" pitchFamily="34" charset="0"/>
                <a:ea typeface="Calibri" pitchFamily="34" charset="-122"/>
                <a:cs typeface="Calibri" pitchFamily="34" charset="-120"/>
              </a:rPr>
              <a:t>LED Output Map</a:t>
            </a:r>
            <a:endParaRPr lang="en-US" sz="1300" dirty="0"/>
          </a:p>
        </p:txBody>
      </p:sp>
      <p:sp>
        <p:nvSpPr>
          <p:cNvPr id="7" name="Shape 5"/>
          <p:cNvSpPr/>
          <p:nvPr/>
        </p:nvSpPr>
        <p:spPr>
          <a:xfrm>
            <a:off x="228600" y="1325880"/>
            <a:ext cx="1600200" cy="475488"/>
          </a:xfrm>
          <a:prstGeom prst="rect">
            <a:avLst/>
          </a:prstGeom>
          <a:solidFill>
            <a:srgbClr val="2E86C1"/>
          </a:solidFill>
          <a:ln w="12700">
            <a:solidFill>
              <a:srgbClr val="2E86C1"/>
            </a:solidFill>
            <a:prstDash val="solid"/>
          </a:ln>
        </p:spPr>
        <p:txBody>
          <a:bodyPr/>
          <a:lstStyle/>
          <a:p>
            <a:endParaRPr lang="en-US"/>
          </a:p>
        </p:txBody>
      </p:sp>
      <p:sp>
        <p:nvSpPr>
          <p:cNvPr id="8" name="Text 6"/>
          <p:cNvSpPr/>
          <p:nvPr/>
        </p:nvSpPr>
        <p:spPr>
          <a:xfrm>
            <a:off x="274320" y="1344168"/>
            <a:ext cx="1508760"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LD0-3</a:t>
            </a:r>
            <a:endParaRPr lang="en-US" sz="1300" dirty="0"/>
          </a:p>
        </p:txBody>
      </p:sp>
      <p:sp>
        <p:nvSpPr>
          <p:cNvPr id="9" name="Text 7"/>
          <p:cNvSpPr/>
          <p:nvPr/>
        </p:nvSpPr>
        <p:spPr>
          <a:xfrm>
            <a:off x="274320" y="1636776"/>
            <a:ext cx="1508760" cy="164592"/>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R7 result (binary)</a:t>
            </a:r>
            <a:endParaRPr lang="en-US" sz="900" dirty="0"/>
          </a:p>
        </p:txBody>
      </p:sp>
      <p:sp>
        <p:nvSpPr>
          <p:cNvPr id="10" name="Shape 8"/>
          <p:cNvSpPr/>
          <p:nvPr/>
        </p:nvSpPr>
        <p:spPr>
          <a:xfrm>
            <a:off x="1965960" y="1325880"/>
            <a:ext cx="1600200" cy="475488"/>
          </a:xfrm>
          <a:prstGeom prst="rect">
            <a:avLst/>
          </a:prstGeom>
          <a:solidFill>
            <a:srgbClr val="1E8449"/>
          </a:solidFill>
          <a:ln w="12700">
            <a:solidFill>
              <a:srgbClr val="1E8449"/>
            </a:solidFill>
            <a:prstDash val="solid"/>
          </a:ln>
        </p:spPr>
        <p:txBody>
          <a:bodyPr/>
          <a:lstStyle/>
          <a:p>
            <a:endParaRPr lang="en-US"/>
          </a:p>
        </p:txBody>
      </p:sp>
      <p:sp>
        <p:nvSpPr>
          <p:cNvPr id="11" name="Text 9"/>
          <p:cNvSpPr/>
          <p:nvPr/>
        </p:nvSpPr>
        <p:spPr>
          <a:xfrm>
            <a:off x="2011680" y="1344168"/>
            <a:ext cx="1508760"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LD14</a:t>
            </a:r>
            <a:endParaRPr lang="en-US" sz="1300" dirty="0"/>
          </a:p>
        </p:txBody>
      </p:sp>
      <p:sp>
        <p:nvSpPr>
          <p:cNvPr id="12" name="Text 10"/>
          <p:cNvSpPr/>
          <p:nvPr/>
        </p:nvSpPr>
        <p:spPr>
          <a:xfrm>
            <a:off x="2011680" y="1636776"/>
            <a:ext cx="1508760" cy="164592"/>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Zero flag</a:t>
            </a:r>
            <a:endParaRPr lang="en-US" sz="900" dirty="0"/>
          </a:p>
        </p:txBody>
      </p:sp>
      <p:sp>
        <p:nvSpPr>
          <p:cNvPr id="13" name="Shape 11"/>
          <p:cNvSpPr/>
          <p:nvPr/>
        </p:nvSpPr>
        <p:spPr>
          <a:xfrm>
            <a:off x="3703320" y="1325880"/>
            <a:ext cx="1600200" cy="475488"/>
          </a:xfrm>
          <a:prstGeom prst="rect">
            <a:avLst/>
          </a:prstGeom>
          <a:solidFill>
            <a:srgbClr val="D35400"/>
          </a:solidFill>
          <a:ln w="12700">
            <a:solidFill>
              <a:srgbClr val="D35400"/>
            </a:solidFill>
            <a:prstDash val="solid"/>
          </a:ln>
        </p:spPr>
        <p:txBody>
          <a:bodyPr/>
          <a:lstStyle/>
          <a:p>
            <a:endParaRPr lang="en-US"/>
          </a:p>
        </p:txBody>
      </p:sp>
      <p:sp>
        <p:nvSpPr>
          <p:cNvPr id="14" name="Text 12"/>
          <p:cNvSpPr/>
          <p:nvPr/>
        </p:nvSpPr>
        <p:spPr>
          <a:xfrm>
            <a:off x="3749040" y="1344168"/>
            <a:ext cx="1508760"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LD15</a:t>
            </a:r>
            <a:endParaRPr lang="en-US" sz="1300" dirty="0"/>
          </a:p>
        </p:txBody>
      </p:sp>
      <p:sp>
        <p:nvSpPr>
          <p:cNvPr id="15" name="Text 13"/>
          <p:cNvSpPr/>
          <p:nvPr/>
        </p:nvSpPr>
        <p:spPr>
          <a:xfrm>
            <a:off x="3749040" y="1636776"/>
            <a:ext cx="1508760" cy="164592"/>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Overflow flag</a:t>
            </a:r>
            <a:endParaRPr lang="en-US" sz="900" dirty="0"/>
          </a:p>
        </p:txBody>
      </p:sp>
      <p:sp>
        <p:nvSpPr>
          <p:cNvPr id="16" name="Shape 14"/>
          <p:cNvSpPr/>
          <p:nvPr/>
        </p:nvSpPr>
        <p:spPr>
          <a:xfrm>
            <a:off x="5440680" y="1325880"/>
            <a:ext cx="1600200" cy="475488"/>
          </a:xfrm>
          <a:prstGeom prst="rect">
            <a:avLst/>
          </a:prstGeom>
          <a:solidFill>
            <a:srgbClr val="6C3483"/>
          </a:solidFill>
          <a:ln w="12700">
            <a:solidFill>
              <a:srgbClr val="6C3483"/>
            </a:solidFill>
            <a:prstDash val="solid"/>
          </a:ln>
        </p:spPr>
        <p:txBody>
          <a:bodyPr/>
          <a:lstStyle/>
          <a:p>
            <a:endParaRPr lang="en-US"/>
          </a:p>
        </p:txBody>
      </p:sp>
      <p:sp>
        <p:nvSpPr>
          <p:cNvPr id="17" name="Text 15"/>
          <p:cNvSpPr/>
          <p:nvPr/>
        </p:nvSpPr>
        <p:spPr>
          <a:xfrm>
            <a:off x="5486400" y="1344168"/>
            <a:ext cx="1508760"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7-Seg</a:t>
            </a:r>
            <a:endParaRPr lang="en-US" sz="1300" dirty="0"/>
          </a:p>
        </p:txBody>
      </p:sp>
      <p:sp>
        <p:nvSpPr>
          <p:cNvPr id="18" name="Text 16"/>
          <p:cNvSpPr/>
          <p:nvPr/>
        </p:nvSpPr>
        <p:spPr>
          <a:xfrm>
            <a:off x="5486400" y="1636776"/>
            <a:ext cx="1508760" cy="164592"/>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R7 in hex</a:t>
            </a:r>
            <a:endParaRPr lang="en-US" sz="900" dirty="0"/>
          </a:p>
        </p:txBody>
      </p:sp>
      <p:sp>
        <p:nvSpPr>
          <p:cNvPr id="19" name="Shape 17"/>
          <p:cNvSpPr/>
          <p:nvPr/>
        </p:nvSpPr>
        <p:spPr>
          <a:xfrm>
            <a:off x="7178040" y="1325880"/>
            <a:ext cx="1600200" cy="475488"/>
          </a:xfrm>
          <a:prstGeom prst="rect">
            <a:avLst/>
          </a:prstGeom>
          <a:solidFill>
            <a:srgbClr val="5D6D7E"/>
          </a:solidFill>
          <a:ln w="12700">
            <a:solidFill>
              <a:srgbClr val="5D6D7E"/>
            </a:solidFill>
            <a:prstDash val="solid"/>
          </a:ln>
        </p:spPr>
        <p:txBody>
          <a:bodyPr/>
          <a:lstStyle/>
          <a:p>
            <a:endParaRPr lang="en-US"/>
          </a:p>
        </p:txBody>
      </p:sp>
      <p:sp>
        <p:nvSpPr>
          <p:cNvPr id="20" name="Text 18"/>
          <p:cNvSpPr/>
          <p:nvPr/>
        </p:nvSpPr>
        <p:spPr>
          <a:xfrm>
            <a:off x="7223760" y="1344168"/>
            <a:ext cx="1508760"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btnC</a:t>
            </a:r>
            <a:endParaRPr lang="en-US" sz="1300" dirty="0"/>
          </a:p>
        </p:txBody>
      </p:sp>
      <p:sp>
        <p:nvSpPr>
          <p:cNvPr id="21" name="Text 19"/>
          <p:cNvSpPr/>
          <p:nvPr/>
        </p:nvSpPr>
        <p:spPr>
          <a:xfrm>
            <a:off x="7223760" y="1636776"/>
            <a:ext cx="1508760" cy="164592"/>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RESET</a:t>
            </a:r>
            <a:endParaRPr lang="en-US" sz="900" dirty="0"/>
          </a:p>
        </p:txBody>
      </p:sp>
      <p:graphicFrame>
        <p:nvGraphicFramePr>
          <p:cNvPr id="23" name="Table 0"/>
          <p:cNvGraphicFramePr>
            <a:graphicFrameLocks noGrp="1"/>
          </p:cNvGraphicFramePr>
          <p:nvPr>
            <p:extLst>
              <p:ext uri="{D42A27DB-BD31-4B8C-83A1-F6EECF244321}">
                <p14:modId xmlns:p14="http://schemas.microsoft.com/office/powerpoint/2010/main" val="1034043341"/>
              </p:ext>
            </p:extLst>
          </p:nvPr>
        </p:nvGraphicFramePr>
        <p:xfrm>
          <a:off x="228600" y="1920240"/>
          <a:ext cx="8686800" cy="3008376"/>
        </p:xfrm>
        <a:graphic>
          <a:graphicData uri="http://schemas.openxmlformats.org/drawingml/2006/table">
            <a:tbl>
              <a:tblPr/>
              <a:tblGrid>
                <a:gridCol w="21945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2834640">
                  <a:extLst>
                    <a:ext uri="{9D8B030D-6E8A-4147-A177-3AD203B41FA5}">
                      <a16:colId xmlns:a16="http://schemas.microsoft.com/office/drawing/2014/main" val="20004"/>
                    </a:ext>
                  </a:extLst>
                </a:gridCol>
              </a:tblGrid>
              <a:tr h="42976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Instruction Step</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2E86C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R7</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2E86C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Display</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2E86C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LEDs</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2E86C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Note</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2E86C1"/>
                    </a:solidFill>
                  </a:tcPr>
                </a:tc>
                <a:extLst>
                  <a:ext uri="{0D108BD9-81ED-4DB2-BD59-A6C34878D82A}">
                    <a16:rowId xmlns:a16="http://schemas.microsoft.com/office/drawing/2014/main" val="10000"/>
                  </a:ext>
                </a:extLst>
              </a:tr>
              <a:tr h="429768">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Power On / Release Reset</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All off</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Program starts automatically</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9768">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MOVI R7, 1</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 = 0001</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LD0 ON</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~0.67s with count(25)</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9768">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MOVI R5, 2 + MOVI R4, 3</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LD0 ON</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R5,R4 loaded, R7 unchanged</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9768">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ADD R7, R5</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3 = 0011</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LD0,LD1 ON</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1+2=3</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9768">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ADD R7, R4  ← FINAL</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6 = 0110</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LD1,LD2 ON</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3+3=6 = 1+2+3 </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9768">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Press btnC (Reset)</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 = 0000</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All off</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Restarts from address 0</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ECD5AD18-7A82-3D3C-5397-A913A98249C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FA6CFCF-2342-C561-EFD7-9AE34447A32D}"/>
              </a:ext>
            </a:extLst>
          </p:cNvPr>
          <p:cNvSpPr/>
          <p:nvPr/>
        </p:nvSpPr>
        <p:spPr>
          <a:xfrm>
            <a:off x="0" y="0"/>
            <a:ext cx="164592" cy="5143500"/>
          </a:xfrm>
          <a:prstGeom prst="rect">
            <a:avLst/>
          </a:prstGeom>
          <a:solidFill>
            <a:srgbClr val="2E86C1"/>
          </a:solidFill>
          <a:ln w="12700">
            <a:solidFill>
              <a:srgbClr val="2E86C1"/>
            </a:solidFill>
            <a:prstDash val="solid"/>
          </a:ln>
        </p:spPr>
        <p:txBody>
          <a:bodyPr/>
          <a:lstStyle/>
          <a:p>
            <a:endParaRPr lang="en-US"/>
          </a:p>
        </p:txBody>
      </p:sp>
      <p:sp>
        <p:nvSpPr>
          <p:cNvPr id="3" name="Shape 1">
            <a:extLst>
              <a:ext uri="{FF2B5EF4-FFF2-40B4-BE49-F238E27FC236}">
                <a16:creationId xmlns:a16="http://schemas.microsoft.com/office/drawing/2014/main" id="{D8073621-46CA-5006-37CD-92EE7FD6766E}"/>
              </a:ext>
            </a:extLst>
          </p:cNvPr>
          <p:cNvSpPr/>
          <p:nvPr/>
        </p:nvSpPr>
        <p:spPr>
          <a:xfrm>
            <a:off x="0" y="0"/>
            <a:ext cx="9144000" cy="713232"/>
          </a:xfrm>
          <a:prstGeom prst="rect">
            <a:avLst/>
          </a:prstGeom>
          <a:solidFill>
            <a:srgbClr val="0D1B2A"/>
          </a:solidFill>
          <a:ln w="12700">
            <a:solidFill>
              <a:srgbClr val="0D1B2A"/>
            </a:solidFill>
            <a:prstDash val="solid"/>
          </a:ln>
        </p:spPr>
        <p:txBody>
          <a:bodyPr/>
          <a:lstStyle/>
          <a:p>
            <a:endParaRPr lang="en-US"/>
          </a:p>
        </p:txBody>
      </p:sp>
      <p:sp>
        <p:nvSpPr>
          <p:cNvPr id="4" name="Text 2">
            <a:extLst>
              <a:ext uri="{FF2B5EF4-FFF2-40B4-BE49-F238E27FC236}">
                <a16:creationId xmlns:a16="http://schemas.microsoft.com/office/drawing/2014/main" id="{7CC7E9D6-2D1B-E278-BFDD-26F5B86E0DA0}"/>
              </a:ext>
            </a:extLst>
          </p:cNvPr>
          <p:cNvSpPr/>
          <p:nvPr/>
        </p:nvSpPr>
        <p:spPr>
          <a:xfrm>
            <a:off x="274320" y="73152"/>
            <a:ext cx="8595360"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Simulation</a:t>
            </a:r>
            <a:endParaRPr lang="en-US" sz="2200" dirty="0"/>
          </a:p>
        </p:txBody>
      </p:sp>
      <p:pic>
        <p:nvPicPr>
          <p:cNvPr id="6" name="Picture 5">
            <a:extLst>
              <a:ext uri="{FF2B5EF4-FFF2-40B4-BE49-F238E27FC236}">
                <a16:creationId xmlns:a16="http://schemas.microsoft.com/office/drawing/2014/main" id="{FC65CA11-B71C-D8B2-F103-51F24FC8F945}"/>
              </a:ext>
            </a:extLst>
          </p:cNvPr>
          <p:cNvPicPr>
            <a:picLocks noChangeAspect="1"/>
          </p:cNvPicPr>
          <p:nvPr/>
        </p:nvPicPr>
        <p:blipFill>
          <a:blip r:embed="rId3"/>
          <a:stretch>
            <a:fillRect/>
          </a:stretch>
        </p:blipFill>
        <p:spPr>
          <a:xfrm>
            <a:off x="575669" y="1019628"/>
            <a:ext cx="8123282" cy="3848767"/>
          </a:xfrm>
          <a:prstGeom prst="rect">
            <a:avLst/>
          </a:prstGeom>
        </p:spPr>
      </p:pic>
    </p:spTree>
    <p:extLst>
      <p:ext uri="{BB962C8B-B14F-4D97-AF65-F5344CB8AC3E}">
        <p14:creationId xmlns:p14="http://schemas.microsoft.com/office/powerpoint/2010/main" val="30180394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B4F72"/>
        </a:solidFill>
        <a:effectLst/>
      </p:bgPr>
    </p:bg>
    <p:spTree>
      <p:nvGrpSpPr>
        <p:cNvPr id="1" name="">
          <a:extLst>
            <a:ext uri="{FF2B5EF4-FFF2-40B4-BE49-F238E27FC236}">
              <a16:creationId xmlns:a16="http://schemas.microsoft.com/office/drawing/2014/main" id="{59DF43B4-7470-B553-B9B5-A83BA2E0CC4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6260113-6ABA-8564-DD41-726022762E93}"/>
              </a:ext>
            </a:extLst>
          </p:cNvPr>
          <p:cNvSpPr/>
          <p:nvPr/>
        </p:nvSpPr>
        <p:spPr>
          <a:xfrm>
            <a:off x="0" y="2011680"/>
            <a:ext cx="9144000" cy="1188720"/>
          </a:xfrm>
          <a:prstGeom prst="rect">
            <a:avLst/>
          </a:prstGeom>
          <a:solidFill>
            <a:srgbClr val="2E86C1"/>
          </a:solidFill>
          <a:ln w="12700">
            <a:solidFill>
              <a:srgbClr val="2E86C1"/>
            </a:solidFill>
            <a:prstDash val="solid"/>
          </a:ln>
        </p:spPr>
        <p:txBody>
          <a:bodyPr/>
          <a:lstStyle/>
          <a:p>
            <a:endParaRPr lang="en-US"/>
          </a:p>
        </p:txBody>
      </p:sp>
      <p:sp>
        <p:nvSpPr>
          <p:cNvPr id="3" name="Text 1">
            <a:extLst>
              <a:ext uri="{FF2B5EF4-FFF2-40B4-BE49-F238E27FC236}">
                <a16:creationId xmlns:a16="http://schemas.microsoft.com/office/drawing/2014/main" id="{853CC5FE-BF66-07DE-6A54-43F84C833862}"/>
              </a:ext>
            </a:extLst>
          </p:cNvPr>
          <p:cNvSpPr/>
          <p:nvPr/>
        </p:nvSpPr>
        <p:spPr>
          <a:xfrm>
            <a:off x="365760" y="548640"/>
            <a:ext cx="1828800" cy="1463040"/>
          </a:xfrm>
          <a:prstGeom prst="rect">
            <a:avLst/>
          </a:prstGeom>
          <a:noFill/>
          <a:ln/>
        </p:spPr>
        <p:txBody>
          <a:bodyPr wrap="square" rtlCol="0" anchor="ctr"/>
          <a:lstStyle/>
          <a:p>
            <a:pPr marL="0" indent="0" algn="l">
              <a:buNone/>
            </a:pPr>
            <a:r>
              <a:rPr lang="en-US" sz="8000" b="1" dirty="0">
                <a:solidFill>
                  <a:srgbClr val="AED6F1"/>
                </a:solidFill>
                <a:latin typeface="Calibri" pitchFamily="34" charset="0"/>
                <a:ea typeface="Calibri" pitchFamily="34" charset="-122"/>
                <a:cs typeface="Calibri" pitchFamily="34" charset="-120"/>
              </a:rPr>
              <a:t>08</a:t>
            </a:r>
            <a:endParaRPr lang="en-US" sz="8000" dirty="0"/>
          </a:p>
        </p:txBody>
      </p:sp>
      <p:sp>
        <p:nvSpPr>
          <p:cNvPr id="4" name="Text 2">
            <a:extLst>
              <a:ext uri="{FF2B5EF4-FFF2-40B4-BE49-F238E27FC236}">
                <a16:creationId xmlns:a16="http://schemas.microsoft.com/office/drawing/2014/main" id="{8FB77BAD-99E7-5488-C555-CD8A175398EF}"/>
              </a:ext>
            </a:extLst>
          </p:cNvPr>
          <p:cNvSpPr/>
          <p:nvPr/>
        </p:nvSpPr>
        <p:spPr>
          <a:xfrm>
            <a:off x="365760" y="2103120"/>
            <a:ext cx="8412480" cy="1005840"/>
          </a:xfrm>
          <a:prstGeom prst="rect">
            <a:avLst/>
          </a:prstGeom>
          <a:noFill/>
          <a:ln/>
        </p:spPr>
        <p:txBody>
          <a:bodyPr wrap="square" rtlCol="0" anchor="ctr"/>
          <a:lstStyle/>
          <a:p>
            <a:pPr marL="0" indent="0" algn="l">
              <a:buNone/>
            </a:pPr>
            <a:r>
              <a:rPr lang="en-US" sz="3400" b="1" dirty="0">
                <a:solidFill>
                  <a:srgbClr val="FFFFFF"/>
                </a:solidFill>
                <a:latin typeface="Calibri" pitchFamily="34" charset="0"/>
                <a:ea typeface="Calibri" pitchFamily="34" charset="-122"/>
                <a:cs typeface="Calibri" pitchFamily="34" charset="-120"/>
              </a:rPr>
              <a:t>Problems Faced and Future Developments</a:t>
            </a:r>
            <a:endParaRPr lang="en-US" sz="3400" dirty="0"/>
          </a:p>
        </p:txBody>
      </p:sp>
    </p:spTree>
    <p:extLst>
      <p:ext uri="{BB962C8B-B14F-4D97-AF65-F5344CB8AC3E}">
        <p14:creationId xmlns:p14="http://schemas.microsoft.com/office/powerpoint/2010/main" val="27979672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8FF232BA-799D-1B79-AECD-E6D0DD8BCE8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147F62E-2C5E-F1ED-2B87-8648D618AA67}"/>
              </a:ext>
            </a:extLst>
          </p:cNvPr>
          <p:cNvSpPr/>
          <p:nvPr/>
        </p:nvSpPr>
        <p:spPr>
          <a:xfrm>
            <a:off x="0" y="0"/>
            <a:ext cx="164592" cy="5143500"/>
          </a:xfrm>
          <a:prstGeom prst="rect">
            <a:avLst/>
          </a:prstGeom>
          <a:solidFill>
            <a:srgbClr val="2E86C1"/>
          </a:solidFill>
          <a:ln w="12700">
            <a:solidFill>
              <a:srgbClr val="2E86C1"/>
            </a:solidFill>
            <a:prstDash val="solid"/>
          </a:ln>
        </p:spPr>
        <p:txBody>
          <a:bodyPr/>
          <a:lstStyle/>
          <a:p>
            <a:endParaRPr lang="en-US"/>
          </a:p>
        </p:txBody>
      </p:sp>
      <p:sp>
        <p:nvSpPr>
          <p:cNvPr id="3" name="Shape 1">
            <a:extLst>
              <a:ext uri="{FF2B5EF4-FFF2-40B4-BE49-F238E27FC236}">
                <a16:creationId xmlns:a16="http://schemas.microsoft.com/office/drawing/2014/main" id="{C7B24C7C-A1AB-BFEC-4781-C25F725C1A5D}"/>
              </a:ext>
            </a:extLst>
          </p:cNvPr>
          <p:cNvSpPr/>
          <p:nvPr/>
        </p:nvSpPr>
        <p:spPr>
          <a:xfrm>
            <a:off x="0" y="0"/>
            <a:ext cx="9144000" cy="713232"/>
          </a:xfrm>
          <a:prstGeom prst="rect">
            <a:avLst/>
          </a:prstGeom>
          <a:solidFill>
            <a:srgbClr val="0D1B2A"/>
          </a:solidFill>
          <a:ln w="12700">
            <a:solidFill>
              <a:srgbClr val="0D1B2A"/>
            </a:solidFill>
            <a:prstDash val="solid"/>
          </a:ln>
        </p:spPr>
        <p:txBody>
          <a:bodyPr/>
          <a:lstStyle/>
          <a:p>
            <a:endParaRPr lang="en-US"/>
          </a:p>
        </p:txBody>
      </p:sp>
      <p:sp>
        <p:nvSpPr>
          <p:cNvPr id="4" name="Text 2">
            <a:extLst>
              <a:ext uri="{FF2B5EF4-FFF2-40B4-BE49-F238E27FC236}">
                <a16:creationId xmlns:a16="http://schemas.microsoft.com/office/drawing/2014/main" id="{6BFE7928-1412-CAD2-50A6-5C862DCCF28A}"/>
              </a:ext>
            </a:extLst>
          </p:cNvPr>
          <p:cNvSpPr/>
          <p:nvPr/>
        </p:nvSpPr>
        <p:spPr>
          <a:xfrm>
            <a:off x="274320" y="73152"/>
            <a:ext cx="8595360"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Problems faced</a:t>
            </a:r>
            <a:endParaRPr lang="en-US" sz="2200" dirty="0"/>
          </a:p>
        </p:txBody>
      </p:sp>
      <p:graphicFrame>
        <p:nvGraphicFramePr>
          <p:cNvPr id="34" name="Table 33">
            <a:extLst>
              <a:ext uri="{FF2B5EF4-FFF2-40B4-BE49-F238E27FC236}">
                <a16:creationId xmlns:a16="http://schemas.microsoft.com/office/drawing/2014/main" id="{FCA1503C-C5C2-A60F-C809-2C8721EA0EA7}"/>
              </a:ext>
            </a:extLst>
          </p:cNvPr>
          <p:cNvGraphicFramePr>
            <a:graphicFrameLocks noGrp="1"/>
          </p:cNvGraphicFramePr>
          <p:nvPr>
            <p:extLst>
              <p:ext uri="{D42A27DB-BD31-4B8C-83A1-F6EECF244321}">
                <p14:modId xmlns:p14="http://schemas.microsoft.com/office/powerpoint/2010/main" val="1918023916"/>
              </p:ext>
            </p:extLst>
          </p:nvPr>
        </p:nvGraphicFramePr>
        <p:xfrm>
          <a:off x="596102" y="1952896"/>
          <a:ext cx="8116388" cy="1685109"/>
        </p:xfrm>
        <a:graphic>
          <a:graphicData uri="http://schemas.openxmlformats.org/drawingml/2006/table">
            <a:tbl>
              <a:tblPr firstRow="1" bandRow="1">
                <a:tableStyleId>{5C22544A-7EE6-4342-B048-85BDC9FD1C3A}</a:tableStyleId>
              </a:tblPr>
              <a:tblGrid>
                <a:gridCol w="4071257">
                  <a:extLst>
                    <a:ext uri="{9D8B030D-6E8A-4147-A177-3AD203B41FA5}">
                      <a16:colId xmlns:a16="http://schemas.microsoft.com/office/drawing/2014/main" val="1553914594"/>
                    </a:ext>
                  </a:extLst>
                </a:gridCol>
                <a:gridCol w="4045131">
                  <a:extLst>
                    <a:ext uri="{9D8B030D-6E8A-4147-A177-3AD203B41FA5}">
                      <a16:colId xmlns:a16="http://schemas.microsoft.com/office/drawing/2014/main" val="814266077"/>
                    </a:ext>
                  </a:extLst>
                </a:gridCol>
              </a:tblGrid>
              <a:tr h="404949">
                <a:tc>
                  <a:txBody>
                    <a:bodyPr/>
                    <a:lstStyle/>
                    <a:p>
                      <a:r>
                        <a:rPr lang="en-US" sz="1200" dirty="0"/>
                        <a:t>Problem</a:t>
                      </a:r>
                    </a:p>
                  </a:txBody>
                  <a:tcPr anchor="ctr"/>
                </a:tc>
                <a:tc>
                  <a:txBody>
                    <a:bodyPr/>
                    <a:lstStyle/>
                    <a:p>
                      <a:r>
                        <a:rPr lang="en-US" sz="1200" dirty="0"/>
                        <a:t>Solution</a:t>
                      </a:r>
                    </a:p>
                  </a:txBody>
                  <a:tcPr anchor="ctr"/>
                </a:tc>
                <a:extLst>
                  <a:ext uri="{0D108BD9-81ED-4DB2-BD59-A6C34878D82A}">
                    <a16:rowId xmlns:a16="http://schemas.microsoft.com/office/drawing/2014/main" val="1353174034"/>
                  </a:ext>
                </a:extLst>
              </a:tr>
              <a:tr h="437077">
                <a:tc>
                  <a:txBody>
                    <a:bodyPr/>
                    <a:lstStyle/>
                    <a:p>
                      <a:r>
                        <a:rPr lang="en-US" sz="1200" dirty="0"/>
                        <a:t>Incorrect </a:t>
                      </a:r>
                      <a:r>
                        <a:rPr lang="en-US" sz="1200" kern="1200" dirty="0" err="1">
                          <a:solidFill>
                            <a:schemeClr val="dk1"/>
                          </a:solidFill>
                          <a:latin typeface="+mn-lt"/>
                          <a:ea typeface="+mn-ea"/>
                          <a:cs typeface="+mn-cs"/>
                        </a:rPr>
                        <a:t>Load_sel</a:t>
                      </a:r>
                      <a:r>
                        <a:rPr lang="en-US" sz="1200" dirty="0"/>
                        <a:t> logic in the instruction decoder caused R7 to remain at 0 because MOVI routed ALU output instead of the immediate value.</a:t>
                      </a:r>
                    </a:p>
                  </a:txBody>
                  <a:tcPr anchor="ctr"/>
                </a:tc>
                <a:tc>
                  <a:txBody>
                    <a:bodyPr/>
                    <a:lstStyle/>
                    <a:p>
                      <a:r>
                        <a:rPr lang="en-US" sz="1200" dirty="0"/>
                        <a:t>Corrected the decoder logic: MOVI uses </a:t>
                      </a:r>
                      <a:r>
                        <a:rPr lang="en-US" sz="1200" kern="1200" dirty="0" err="1">
                          <a:solidFill>
                            <a:schemeClr val="dk1"/>
                          </a:solidFill>
                          <a:latin typeface="+mn-lt"/>
                          <a:ea typeface="+mn-ea"/>
                          <a:cs typeface="+mn-cs"/>
                        </a:rPr>
                        <a:t>Load_sel</a:t>
                      </a:r>
                      <a:r>
                        <a:rPr lang="en-US" sz="1200" kern="1200" dirty="0">
                          <a:solidFill>
                            <a:schemeClr val="dk1"/>
                          </a:solidFill>
                          <a:latin typeface="+mn-lt"/>
                          <a:ea typeface="+mn-ea"/>
                          <a:cs typeface="+mn-cs"/>
                        </a:rPr>
                        <a:t> &lt;= '1'</a:t>
                      </a:r>
                      <a:r>
                        <a:rPr lang="en-US" sz="1200" dirty="0"/>
                        <a:t> and ADD/NEG use </a:t>
                      </a:r>
                      <a:r>
                        <a:rPr lang="en-US" sz="1200" kern="1200" dirty="0" err="1">
                          <a:solidFill>
                            <a:schemeClr val="dk1"/>
                          </a:solidFill>
                          <a:latin typeface="+mn-lt"/>
                          <a:ea typeface="+mn-ea"/>
                          <a:cs typeface="+mn-cs"/>
                        </a:rPr>
                        <a:t>Load_sel</a:t>
                      </a:r>
                      <a:r>
                        <a:rPr lang="en-US" sz="1200" kern="1200" dirty="0">
                          <a:solidFill>
                            <a:schemeClr val="dk1"/>
                          </a:solidFill>
                          <a:latin typeface="+mn-lt"/>
                          <a:ea typeface="+mn-ea"/>
                          <a:cs typeface="+mn-cs"/>
                        </a:rPr>
                        <a:t> &lt;= '0'</a:t>
                      </a:r>
                      <a:r>
                        <a:rPr lang="en-US" sz="1200" dirty="0"/>
                        <a:t>, allowing R7 to update correctly.</a:t>
                      </a:r>
                    </a:p>
                  </a:txBody>
                  <a:tcPr anchor="ctr"/>
                </a:tc>
                <a:extLst>
                  <a:ext uri="{0D108BD9-81ED-4DB2-BD59-A6C34878D82A}">
                    <a16:rowId xmlns:a16="http://schemas.microsoft.com/office/drawing/2014/main" val="339391313"/>
                  </a:ext>
                </a:extLst>
              </a:tr>
              <a:tr h="370064">
                <a:tc>
                  <a:txBody>
                    <a:bodyPr/>
                    <a:lstStyle/>
                    <a:p>
                      <a:r>
                        <a:rPr lang="en-US" sz="1200" dirty="0"/>
                        <a:t>The slow clock divider used </a:t>
                      </a:r>
                      <a:r>
                        <a:rPr lang="en-US" sz="1200" kern="1200" dirty="0">
                          <a:solidFill>
                            <a:schemeClr val="dk1"/>
                          </a:solidFill>
                          <a:latin typeface="+mn-lt"/>
                          <a:ea typeface="+mn-ea"/>
                          <a:cs typeface="+mn-cs"/>
                        </a:rPr>
                        <a:t>count(25)</a:t>
                      </a:r>
                      <a:r>
                        <a:rPr lang="en-US" sz="1200" dirty="0"/>
                        <a:t>, producing a ~671 </a:t>
                      </a:r>
                      <a:r>
                        <a:rPr lang="en-US" sz="1200" dirty="0" err="1"/>
                        <a:t>ms</a:t>
                      </a:r>
                      <a:r>
                        <a:rPr lang="en-US" sz="1200" dirty="0"/>
                        <a:t> clock period, so no instruction executed during short simulations.</a:t>
                      </a:r>
                    </a:p>
                  </a:txBody>
                  <a:tcPr anchor="ctr"/>
                </a:tc>
                <a:tc>
                  <a:txBody>
                    <a:bodyPr/>
                    <a:lstStyle/>
                    <a:p>
                      <a:r>
                        <a:rPr lang="en-US" sz="1200" dirty="0"/>
                        <a:t>Changed the divider to </a:t>
                      </a:r>
                      <a:r>
                        <a:rPr lang="en-US" sz="1200" kern="1200" dirty="0">
                          <a:solidFill>
                            <a:schemeClr val="dk1"/>
                          </a:solidFill>
                          <a:latin typeface="+mn-lt"/>
                          <a:ea typeface="+mn-ea"/>
                          <a:cs typeface="+mn-cs"/>
                        </a:rPr>
                        <a:t>count(1)</a:t>
                      </a:r>
                      <a:r>
                        <a:rPr lang="en-US" sz="1200" dirty="0"/>
                        <a:t> for simulation (~40 ns clock period) and reverted to </a:t>
                      </a:r>
                      <a:r>
                        <a:rPr lang="en-US" sz="1200" kern="1200" dirty="0">
                          <a:solidFill>
                            <a:schemeClr val="dk1"/>
                          </a:solidFill>
                          <a:latin typeface="+mn-lt"/>
                          <a:ea typeface="+mn-ea"/>
                          <a:cs typeface="+mn-cs"/>
                        </a:rPr>
                        <a:t>count(25)</a:t>
                      </a:r>
                      <a:r>
                        <a:rPr lang="en-US" sz="1200" dirty="0"/>
                        <a:t> for FPGA implementation.</a:t>
                      </a:r>
                    </a:p>
                  </a:txBody>
                  <a:tcPr anchor="ctr"/>
                </a:tc>
                <a:extLst>
                  <a:ext uri="{0D108BD9-81ED-4DB2-BD59-A6C34878D82A}">
                    <a16:rowId xmlns:a16="http://schemas.microsoft.com/office/drawing/2014/main" val="1984153445"/>
                  </a:ext>
                </a:extLst>
              </a:tr>
            </a:tbl>
          </a:graphicData>
        </a:graphic>
      </p:graphicFrame>
    </p:spTree>
    <p:extLst>
      <p:ext uri="{BB962C8B-B14F-4D97-AF65-F5344CB8AC3E}">
        <p14:creationId xmlns:p14="http://schemas.microsoft.com/office/powerpoint/2010/main" val="40844510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9D0E41AB-2892-4FB6-7C21-08ED84B21B2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BDD4DA1-8AEB-BF3C-3A0B-6BC5BAD260CF}"/>
              </a:ext>
            </a:extLst>
          </p:cNvPr>
          <p:cNvSpPr/>
          <p:nvPr/>
        </p:nvSpPr>
        <p:spPr>
          <a:xfrm>
            <a:off x="0" y="0"/>
            <a:ext cx="164592" cy="5143500"/>
          </a:xfrm>
          <a:prstGeom prst="rect">
            <a:avLst/>
          </a:prstGeom>
          <a:solidFill>
            <a:srgbClr val="2E86C1"/>
          </a:solidFill>
          <a:ln w="12700">
            <a:solidFill>
              <a:srgbClr val="2E86C1"/>
            </a:solidFill>
            <a:prstDash val="solid"/>
          </a:ln>
        </p:spPr>
        <p:txBody>
          <a:bodyPr/>
          <a:lstStyle/>
          <a:p>
            <a:endParaRPr lang="en-US"/>
          </a:p>
        </p:txBody>
      </p:sp>
      <p:sp>
        <p:nvSpPr>
          <p:cNvPr id="3" name="Shape 1">
            <a:extLst>
              <a:ext uri="{FF2B5EF4-FFF2-40B4-BE49-F238E27FC236}">
                <a16:creationId xmlns:a16="http://schemas.microsoft.com/office/drawing/2014/main" id="{6CFD6E3B-3A8E-84E9-1AAE-CC9430765E1E}"/>
              </a:ext>
            </a:extLst>
          </p:cNvPr>
          <p:cNvSpPr/>
          <p:nvPr/>
        </p:nvSpPr>
        <p:spPr>
          <a:xfrm>
            <a:off x="13062" y="0"/>
            <a:ext cx="9144000" cy="713232"/>
          </a:xfrm>
          <a:prstGeom prst="rect">
            <a:avLst/>
          </a:prstGeom>
          <a:solidFill>
            <a:srgbClr val="0D1B2A"/>
          </a:solidFill>
          <a:ln w="12700">
            <a:solidFill>
              <a:srgbClr val="0D1B2A"/>
            </a:solidFill>
            <a:prstDash val="solid"/>
          </a:ln>
        </p:spPr>
        <p:txBody>
          <a:bodyPr/>
          <a:lstStyle/>
          <a:p>
            <a:endParaRPr lang="en-US"/>
          </a:p>
        </p:txBody>
      </p:sp>
      <p:sp>
        <p:nvSpPr>
          <p:cNvPr id="4" name="Text 2">
            <a:extLst>
              <a:ext uri="{FF2B5EF4-FFF2-40B4-BE49-F238E27FC236}">
                <a16:creationId xmlns:a16="http://schemas.microsoft.com/office/drawing/2014/main" id="{E63647C2-83ED-CF02-7D38-3E16BA8D7044}"/>
              </a:ext>
            </a:extLst>
          </p:cNvPr>
          <p:cNvSpPr/>
          <p:nvPr/>
        </p:nvSpPr>
        <p:spPr>
          <a:xfrm>
            <a:off x="274320" y="73152"/>
            <a:ext cx="8595360"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Future Developments</a:t>
            </a:r>
            <a:endParaRPr lang="en-US" sz="2200" dirty="0"/>
          </a:p>
        </p:txBody>
      </p:sp>
      <p:sp>
        <p:nvSpPr>
          <p:cNvPr id="5" name="Shape 3">
            <a:extLst>
              <a:ext uri="{FF2B5EF4-FFF2-40B4-BE49-F238E27FC236}">
                <a16:creationId xmlns:a16="http://schemas.microsoft.com/office/drawing/2014/main" id="{65DCD8A7-F0D9-4BD6-D83D-60E6FFB0D075}"/>
              </a:ext>
            </a:extLst>
          </p:cNvPr>
          <p:cNvSpPr/>
          <p:nvPr/>
        </p:nvSpPr>
        <p:spPr>
          <a:xfrm>
            <a:off x="228600" y="933993"/>
            <a:ext cx="4251960" cy="3995928"/>
          </a:xfrm>
          <a:prstGeom prst="rect">
            <a:avLst/>
          </a:prstGeom>
          <a:solidFill>
            <a:srgbClr val="FFFFFF"/>
          </a:solidFill>
          <a:ln w="12700">
            <a:solidFill>
              <a:srgbClr val="DDDDDD"/>
            </a:solidFill>
            <a:prstDash val="solid"/>
          </a:ln>
          <a:effectLst>
            <a:outerShdw blurRad="101600" dist="38100" dir="8100000" algn="bl" rotWithShape="0">
              <a:srgbClr val="000000">
                <a:alpha val="18000"/>
              </a:srgbClr>
            </a:outerShdw>
          </a:effectLst>
        </p:spPr>
        <p:txBody>
          <a:bodyPr/>
          <a:lstStyle/>
          <a:p>
            <a:endParaRPr lang="en-US"/>
          </a:p>
        </p:txBody>
      </p:sp>
      <p:sp>
        <p:nvSpPr>
          <p:cNvPr id="6" name="Shape 4">
            <a:extLst>
              <a:ext uri="{FF2B5EF4-FFF2-40B4-BE49-F238E27FC236}">
                <a16:creationId xmlns:a16="http://schemas.microsoft.com/office/drawing/2014/main" id="{26E427EE-FA8E-5FAD-A161-21D2DBD74997}"/>
              </a:ext>
            </a:extLst>
          </p:cNvPr>
          <p:cNvSpPr/>
          <p:nvPr/>
        </p:nvSpPr>
        <p:spPr>
          <a:xfrm>
            <a:off x="228600" y="914400"/>
            <a:ext cx="4251960" cy="457200"/>
          </a:xfrm>
          <a:prstGeom prst="rect">
            <a:avLst/>
          </a:prstGeom>
          <a:solidFill>
            <a:srgbClr val="2E86C1"/>
          </a:solidFill>
          <a:ln w="12700">
            <a:solidFill>
              <a:srgbClr val="2E86C1"/>
            </a:solidFill>
            <a:prstDash val="solid"/>
          </a:ln>
        </p:spPr>
        <p:txBody>
          <a:bodyPr/>
          <a:lstStyle/>
          <a:p>
            <a:endParaRPr lang="en-US" dirty="0"/>
          </a:p>
        </p:txBody>
      </p:sp>
      <p:sp>
        <p:nvSpPr>
          <p:cNvPr id="7" name="Text 5">
            <a:extLst>
              <a:ext uri="{FF2B5EF4-FFF2-40B4-BE49-F238E27FC236}">
                <a16:creationId xmlns:a16="http://schemas.microsoft.com/office/drawing/2014/main" id="{6CC7DEEF-2C09-CA42-A4C2-D29302140A7C}"/>
              </a:ext>
            </a:extLst>
          </p:cNvPr>
          <p:cNvSpPr/>
          <p:nvPr/>
        </p:nvSpPr>
        <p:spPr>
          <a:xfrm>
            <a:off x="320040" y="950976"/>
            <a:ext cx="320040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Dual port for comparator</a:t>
            </a:r>
            <a:endParaRPr lang="en-US" sz="1400" dirty="0"/>
          </a:p>
        </p:txBody>
      </p:sp>
      <p:sp>
        <p:nvSpPr>
          <p:cNvPr id="9" name="Text 7">
            <a:extLst>
              <a:ext uri="{FF2B5EF4-FFF2-40B4-BE49-F238E27FC236}">
                <a16:creationId xmlns:a16="http://schemas.microsoft.com/office/drawing/2014/main" id="{9EEAF03C-35AE-9FBA-0E66-15A91E33AE8E}"/>
              </a:ext>
            </a:extLst>
          </p:cNvPr>
          <p:cNvSpPr/>
          <p:nvPr/>
        </p:nvSpPr>
        <p:spPr>
          <a:xfrm>
            <a:off x="342900" y="1824229"/>
            <a:ext cx="4023360" cy="2545952"/>
          </a:xfrm>
          <a:prstGeom prst="rect">
            <a:avLst/>
          </a:prstGeom>
          <a:noFill/>
          <a:ln/>
        </p:spPr>
        <p:txBody>
          <a:bodyPr wrap="square" rtlCol="0" anchor="ctr"/>
          <a:lstStyle/>
          <a:p>
            <a:r>
              <a:rPr lang="en-US" sz="1150" dirty="0"/>
              <a:t>Currently the 7-segment display is hardwired to Register R7 only. This means during a comparison operation, only one operand can be shown on the display at a time. A future improvement would be to implement a dual-digit 7-segment multiplexed display where the left digit shows operand A (Mux_A_out) and the right digit shows operand B (</a:t>
            </a:r>
            <a:r>
              <a:rPr lang="en-US" sz="1150" dirty="0" err="1"/>
              <a:t>Mux_B_out</a:t>
            </a:r>
            <a:r>
              <a:rPr lang="en-US" sz="1150" dirty="0"/>
              <a:t>) simultaneously. This requires extending the LUT_16_7 component to support all four anode digits with time-multiplexed switching using a fast sub-clock, and adding a display mode selector controlled by the instruction type. This would make the comparator feature fully self-explanatory on the board without needing to explain which register holds which value. </a:t>
            </a:r>
            <a:endParaRPr lang="en-US" sz="1150" dirty="0">
              <a:effectLst/>
            </a:endParaRPr>
          </a:p>
        </p:txBody>
      </p:sp>
      <p:sp>
        <p:nvSpPr>
          <p:cNvPr id="20" name="Shape 18">
            <a:extLst>
              <a:ext uri="{FF2B5EF4-FFF2-40B4-BE49-F238E27FC236}">
                <a16:creationId xmlns:a16="http://schemas.microsoft.com/office/drawing/2014/main" id="{AAD313B3-9FA5-B50B-5265-CA9E562D0080}"/>
              </a:ext>
            </a:extLst>
          </p:cNvPr>
          <p:cNvSpPr/>
          <p:nvPr/>
        </p:nvSpPr>
        <p:spPr>
          <a:xfrm>
            <a:off x="4663440" y="914399"/>
            <a:ext cx="4251960" cy="4015521"/>
          </a:xfrm>
          <a:prstGeom prst="rect">
            <a:avLst/>
          </a:prstGeom>
          <a:solidFill>
            <a:srgbClr val="FFFFFF"/>
          </a:solidFill>
          <a:ln w="12700">
            <a:solidFill>
              <a:srgbClr val="DDDDDD"/>
            </a:solidFill>
            <a:prstDash val="solid"/>
          </a:ln>
          <a:effectLst>
            <a:outerShdw blurRad="101600" dist="38100" dir="8100000" algn="bl" rotWithShape="0">
              <a:srgbClr val="000000">
                <a:alpha val="18000"/>
              </a:srgbClr>
            </a:outerShdw>
          </a:effectLst>
        </p:spPr>
        <p:txBody>
          <a:bodyPr/>
          <a:lstStyle/>
          <a:p>
            <a:endParaRPr lang="en-US"/>
          </a:p>
        </p:txBody>
      </p:sp>
      <p:sp>
        <p:nvSpPr>
          <p:cNvPr id="21" name="Shape 19">
            <a:extLst>
              <a:ext uri="{FF2B5EF4-FFF2-40B4-BE49-F238E27FC236}">
                <a16:creationId xmlns:a16="http://schemas.microsoft.com/office/drawing/2014/main" id="{F1A4F08D-A88B-73E6-92F2-13E02A90D24A}"/>
              </a:ext>
            </a:extLst>
          </p:cNvPr>
          <p:cNvSpPr/>
          <p:nvPr/>
        </p:nvSpPr>
        <p:spPr>
          <a:xfrm>
            <a:off x="4664748" y="914400"/>
            <a:ext cx="4251960" cy="457200"/>
          </a:xfrm>
          <a:prstGeom prst="rect">
            <a:avLst/>
          </a:prstGeom>
          <a:solidFill>
            <a:srgbClr val="6C3483"/>
          </a:solidFill>
          <a:ln w="12700">
            <a:solidFill>
              <a:srgbClr val="6C3483"/>
            </a:solidFill>
            <a:prstDash val="solid"/>
          </a:ln>
        </p:spPr>
        <p:txBody>
          <a:bodyPr/>
          <a:lstStyle/>
          <a:p>
            <a:endParaRPr lang="en-US"/>
          </a:p>
        </p:txBody>
      </p:sp>
      <p:sp>
        <p:nvSpPr>
          <p:cNvPr id="22" name="Text 20">
            <a:extLst>
              <a:ext uri="{FF2B5EF4-FFF2-40B4-BE49-F238E27FC236}">
                <a16:creationId xmlns:a16="http://schemas.microsoft.com/office/drawing/2014/main" id="{45E5A723-2447-F018-82D6-21E4AEF60EE9}"/>
              </a:ext>
            </a:extLst>
          </p:cNvPr>
          <p:cNvSpPr/>
          <p:nvPr/>
        </p:nvSpPr>
        <p:spPr>
          <a:xfrm>
            <a:off x="4782311" y="950978"/>
            <a:ext cx="3760797"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Larger Program ROM with variable Programs</a:t>
            </a:r>
            <a:endParaRPr lang="en-US" sz="1400" dirty="0"/>
          </a:p>
        </p:txBody>
      </p:sp>
      <p:sp>
        <p:nvSpPr>
          <p:cNvPr id="24" name="Text 22">
            <a:extLst>
              <a:ext uri="{FF2B5EF4-FFF2-40B4-BE49-F238E27FC236}">
                <a16:creationId xmlns:a16="http://schemas.microsoft.com/office/drawing/2014/main" id="{89D8BD4A-F3E3-D292-6A29-D27AD4300755}"/>
              </a:ext>
            </a:extLst>
          </p:cNvPr>
          <p:cNvSpPr/>
          <p:nvPr/>
        </p:nvSpPr>
        <p:spPr>
          <a:xfrm>
            <a:off x="4800600" y="1698172"/>
            <a:ext cx="4023360" cy="2592978"/>
          </a:xfrm>
          <a:prstGeom prst="rect">
            <a:avLst/>
          </a:prstGeom>
          <a:noFill/>
          <a:ln/>
        </p:spPr>
        <p:txBody>
          <a:bodyPr wrap="square" rtlCol="0" anchor="ctr"/>
          <a:lstStyle/>
          <a:p>
            <a:r>
              <a:rPr lang="en-US" sz="1150" dirty="0"/>
              <a:t>The current Program ROM is a fixed 8-address memory hardcoded in VHDL. A future development would replace it with a larger ROM (for example 64 or 256 addresses using a 6-bit or 8-bit program counter) and allow the program to be loaded via the UART serial interface of the BASYS3 board. This would mean programs could be written in assembly, assembled to binary on a PC, and uploaded to the </a:t>
            </a:r>
            <a:r>
              <a:rPr lang="en-US" sz="1150" dirty="0" err="1"/>
              <a:t>nanoprocessor</a:t>
            </a:r>
            <a:r>
              <a:rPr lang="en-US" sz="1150" dirty="0"/>
              <a:t> without needing to regenerate and re-flash the FPGA bitstream. This is a significant step toward making the processor genuinely programmable rather than fixed-function. </a:t>
            </a:r>
            <a:endParaRPr lang="en-US" sz="1150" dirty="0">
              <a:effectLst/>
            </a:endParaRPr>
          </a:p>
        </p:txBody>
      </p:sp>
    </p:spTree>
    <p:extLst>
      <p:ext uri="{BB962C8B-B14F-4D97-AF65-F5344CB8AC3E}">
        <p14:creationId xmlns:p14="http://schemas.microsoft.com/office/powerpoint/2010/main" val="27374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name="Slide 2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2E86C1"/>
          </a:solidFill>
          <a:ln w="12700">
            <a:solidFill>
              <a:srgbClr val="2E86C1"/>
            </a:solidFill>
            <a:prstDash val="solid"/>
          </a:ln>
        </p:spPr>
        <p:txBody>
          <a:bodyPr/>
          <a:lstStyle/>
          <a:p>
            <a:endParaRPr lang="en-US"/>
          </a:p>
        </p:txBody>
      </p:sp>
      <p:sp>
        <p:nvSpPr>
          <p:cNvPr id="3" name="Text 1"/>
          <p:cNvSpPr/>
          <p:nvPr/>
        </p:nvSpPr>
        <p:spPr>
          <a:xfrm>
            <a:off x="274320" y="73152"/>
            <a:ext cx="8595360"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Key Things</a:t>
            </a:r>
            <a:endParaRPr lang="en-US" sz="2200" dirty="0"/>
          </a:p>
        </p:txBody>
      </p:sp>
      <p:sp>
        <p:nvSpPr>
          <p:cNvPr id="4" name="Shape 2"/>
          <p:cNvSpPr/>
          <p:nvPr/>
        </p:nvSpPr>
        <p:spPr>
          <a:xfrm>
            <a:off x="274320" y="914400"/>
            <a:ext cx="502920" cy="640080"/>
          </a:xfrm>
          <a:prstGeom prst="rect">
            <a:avLst/>
          </a:prstGeom>
          <a:solidFill>
            <a:srgbClr val="2E86C1"/>
          </a:solidFill>
          <a:ln w="12700">
            <a:solidFill>
              <a:srgbClr val="2E86C1"/>
            </a:solidFill>
            <a:prstDash val="solid"/>
          </a:ln>
        </p:spPr>
        <p:txBody>
          <a:bodyPr/>
          <a:lstStyle/>
          <a:p>
            <a:endParaRPr lang="en-US"/>
          </a:p>
        </p:txBody>
      </p:sp>
      <p:sp>
        <p:nvSpPr>
          <p:cNvPr id="5" name="Text 3"/>
          <p:cNvSpPr/>
          <p:nvPr/>
        </p:nvSpPr>
        <p:spPr>
          <a:xfrm>
            <a:off x="274320" y="960120"/>
            <a:ext cx="50292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6" name="Shape 4"/>
          <p:cNvSpPr/>
          <p:nvPr/>
        </p:nvSpPr>
        <p:spPr>
          <a:xfrm>
            <a:off x="868680" y="914400"/>
            <a:ext cx="8046720" cy="640080"/>
          </a:xfrm>
          <a:prstGeom prst="rect">
            <a:avLst/>
          </a:prstGeom>
          <a:solidFill>
            <a:srgbClr val="1B2A3B"/>
          </a:solidFill>
          <a:ln w="12700">
            <a:solidFill>
              <a:srgbClr val="1B2A3B"/>
            </a:solidFill>
            <a:prstDash val="solid"/>
          </a:ln>
        </p:spPr>
        <p:txBody>
          <a:bodyPr/>
          <a:lstStyle/>
          <a:p>
            <a:endParaRPr lang="en-US"/>
          </a:p>
        </p:txBody>
      </p:sp>
      <p:sp>
        <p:nvSpPr>
          <p:cNvPr id="7" name="Text 5"/>
          <p:cNvSpPr/>
          <p:nvPr/>
        </p:nvSpPr>
        <p:spPr>
          <a:xfrm>
            <a:off x="987552" y="950976"/>
            <a:ext cx="2286000" cy="292608"/>
          </a:xfrm>
          <a:prstGeom prst="rect">
            <a:avLst/>
          </a:prstGeom>
          <a:noFill/>
          <a:ln/>
        </p:spPr>
        <p:txBody>
          <a:bodyPr wrap="square" lIns="0" tIns="0" rIns="0" bIns="0" rtlCol="0" anchor="ctr"/>
          <a:lstStyle/>
          <a:p>
            <a:pPr marL="0" indent="0">
              <a:buNone/>
            </a:pPr>
            <a:r>
              <a:rPr lang="en-US" sz="1300" b="1" dirty="0">
                <a:solidFill>
                  <a:srgbClr val="AED6F1"/>
                </a:solidFill>
                <a:latin typeface="Calibri" pitchFamily="34" charset="0"/>
                <a:ea typeface="Calibri" pitchFamily="34" charset="-122"/>
                <a:cs typeface="Calibri" pitchFamily="34" charset="-120"/>
              </a:rPr>
              <a:t>4-bit Processor</a:t>
            </a:r>
            <a:endParaRPr lang="en-US" sz="1300" dirty="0"/>
          </a:p>
        </p:txBody>
      </p:sp>
      <p:sp>
        <p:nvSpPr>
          <p:cNvPr id="8" name="Text 6"/>
          <p:cNvSpPr/>
          <p:nvPr/>
        </p:nvSpPr>
        <p:spPr>
          <a:xfrm>
            <a:off x="987552" y="1261872"/>
            <a:ext cx="7772400" cy="256032"/>
          </a:xfrm>
          <a:prstGeom prst="rect">
            <a:avLst/>
          </a:prstGeom>
          <a:noFill/>
          <a:ln/>
        </p:spPr>
        <p:txBody>
          <a:bodyPr wrap="square" lIns="0" tIns="0" rIns="0" bIns="0" rtlCol="0" anchor="ctr"/>
          <a:lstStyle/>
          <a:p>
            <a:pPr marL="0" indent="0">
              <a:buNone/>
            </a:pPr>
            <a:r>
              <a:rPr lang="en-US" sz="1100" dirty="0">
                <a:solidFill>
                  <a:srgbClr val="AED6F1"/>
                </a:solidFill>
                <a:latin typeface="Calibri" pitchFamily="34" charset="0"/>
                <a:ea typeface="Calibri" pitchFamily="34" charset="-122"/>
                <a:cs typeface="Calibri" pitchFamily="34" charset="-120"/>
              </a:rPr>
              <a:t>Executes MOVI, ADD, NEG, JZR — sum 1+2+3=6 stored in R7 and displayed on board</a:t>
            </a:r>
            <a:endParaRPr lang="en-US" sz="1100" dirty="0"/>
          </a:p>
        </p:txBody>
      </p:sp>
      <p:sp>
        <p:nvSpPr>
          <p:cNvPr id="9" name="Shape 7"/>
          <p:cNvSpPr/>
          <p:nvPr/>
        </p:nvSpPr>
        <p:spPr>
          <a:xfrm>
            <a:off x="274320" y="1737360"/>
            <a:ext cx="502920" cy="640080"/>
          </a:xfrm>
          <a:prstGeom prst="rect">
            <a:avLst/>
          </a:prstGeom>
          <a:solidFill>
            <a:srgbClr val="2E86C1"/>
          </a:solidFill>
          <a:ln w="12700">
            <a:solidFill>
              <a:srgbClr val="2E86C1"/>
            </a:solidFill>
            <a:prstDash val="solid"/>
          </a:ln>
        </p:spPr>
        <p:txBody>
          <a:bodyPr/>
          <a:lstStyle/>
          <a:p>
            <a:endParaRPr lang="en-US"/>
          </a:p>
        </p:txBody>
      </p:sp>
      <p:sp>
        <p:nvSpPr>
          <p:cNvPr id="10" name="Text 8"/>
          <p:cNvSpPr/>
          <p:nvPr/>
        </p:nvSpPr>
        <p:spPr>
          <a:xfrm>
            <a:off x="274320" y="1783080"/>
            <a:ext cx="50292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868680" y="1737360"/>
            <a:ext cx="8046720" cy="640080"/>
          </a:xfrm>
          <a:prstGeom prst="rect">
            <a:avLst/>
          </a:prstGeom>
          <a:solidFill>
            <a:srgbClr val="1B2A3B"/>
          </a:solidFill>
          <a:ln w="12700">
            <a:solidFill>
              <a:srgbClr val="1B2A3B"/>
            </a:solidFill>
            <a:prstDash val="solid"/>
          </a:ln>
        </p:spPr>
        <p:txBody>
          <a:bodyPr/>
          <a:lstStyle/>
          <a:p>
            <a:endParaRPr lang="en-US"/>
          </a:p>
        </p:txBody>
      </p:sp>
      <p:sp>
        <p:nvSpPr>
          <p:cNvPr id="12" name="Text 10"/>
          <p:cNvSpPr/>
          <p:nvPr/>
        </p:nvSpPr>
        <p:spPr>
          <a:xfrm>
            <a:off x="987552" y="1773936"/>
            <a:ext cx="2286000" cy="292608"/>
          </a:xfrm>
          <a:prstGeom prst="rect">
            <a:avLst/>
          </a:prstGeom>
          <a:noFill/>
          <a:ln/>
        </p:spPr>
        <p:txBody>
          <a:bodyPr wrap="square" lIns="0" tIns="0" rIns="0" bIns="0" rtlCol="0" anchor="ctr"/>
          <a:lstStyle/>
          <a:p>
            <a:pPr marL="0" indent="0">
              <a:buNone/>
            </a:pPr>
            <a:r>
              <a:rPr lang="en-US" sz="1300" b="1" dirty="0">
                <a:solidFill>
                  <a:srgbClr val="AED6F1"/>
                </a:solidFill>
                <a:latin typeface="Calibri" pitchFamily="34" charset="0"/>
                <a:ea typeface="Calibri" pitchFamily="34" charset="-122"/>
                <a:cs typeface="Calibri" pitchFamily="34" charset="-120"/>
              </a:rPr>
              <a:t>Modular VHDL Design</a:t>
            </a:r>
            <a:endParaRPr lang="en-US" sz="1300" dirty="0"/>
          </a:p>
        </p:txBody>
      </p:sp>
      <p:sp>
        <p:nvSpPr>
          <p:cNvPr id="13" name="Text 11"/>
          <p:cNvSpPr/>
          <p:nvPr/>
        </p:nvSpPr>
        <p:spPr>
          <a:xfrm>
            <a:off x="987552" y="2084832"/>
            <a:ext cx="7772400" cy="256032"/>
          </a:xfrm>
          <a:prstGeom prst="rect">
            <a:avLst/>
          </a:prstGeom>
          <a:noFill/>
          <a:ln/>
        </p:spPr>
        <p:txBody>
          <a:bodyPr wrap="square" lIns="0" tIns="0" rIns="0" bIns="0" rtlCol="0" anchor="ctr"/>
          <a:lstStyle/>
          <a:p>
            <a:pPr marL="0" indent="0">
              <a:buNone/>
            </a:pPr>
            <a:r>
              <a:rPr lang="en-US" sz="1100" dirty="0">
                <a:solidFill>
                  <a:srgbClr val="AED6F1"/>
                </a:solidFill>
                <a:latin typeface="Calibri" pitchFamily="34" charset="0"/>
                <a:ea typeface="Calibri" pitchFamily="34" charset="-122"/>
                <a:cs typeface="Calibri" pitchFamily="34" charset="-120"/>
              </a:rPr>
              <a:t>Each component developed, tested, and simulated independently before integration</a:t>
            </a:r>
            <a:endParaRPr lang="en-US" sz="1100" dirty="0"/>
          </a:p>
        </p:txBody>
      </p:sp>
      <p:sp>
        <p:nvSpPr>
          <p:cNvPr id="14" name="Shape 12"/>
          <p:cNvSpPr/>
          <p:nvPr/>
        </p:nvSpPr>
        <p:spPr>
          <a:xfrm>
            <a:off x="274320" y="2560320"/>
            <a:ext cx="502920" cy="640080"/>
          </a:xfrm>
          <a:prstGeom prst="rect">
            <a:avLst/>
          </a:prstGeom>
          <a:solidFill>
            <a:srgbClr val="2E86C1"/>
          </a:solidFill>
          <a:ln w="12700">
            <a:solidFill>
              <a:srgbClr val="2E86C1"/>
            </a:solidFill>
            <a:prstDash val="solid"/>
          </a:ln>
        </p:spPr>
        <p:txBody>
          <a:bodyPr/>
          <a:lstStyle/>
          <a:p>
            <a:endParaRPr lang="en-US"/>
          </a:p>
        </p:txBody>
      </p:sp>
      <p:sp>
        <p:nvSpPr>
          <p:cNvPr id="15" name="Text 13"/>
          <p:cNvSpPr/>
          <p:nvPr/>
        </p:nvSpPr>
        <p:spPr>
          <a:xfrm>
            <a:off x="274320" y="2606040"/>
            <a:ext cx="50292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868680" y="2560320"/>
            <a:ext cx="8046720" cy="640080"/>
          </a:xfrm>
          <a:prstGeom prst="rect">
            <a:avLst/>
          </a:prstGeom>
          <a:solidFill>
            <a:srgbClr val="1B2A3B"/>
          </a:solidFill>
          <a:ln w="12700">
            <a:solidFill>
              <a:srgbClr val="1B2A3B"/>
            </a:solidFill>
            <a:prstDash val="solid"/>
          </a:ln>
        </p:spPr>
        <p:txBody>
          <a:bodyPr/>
          <a:lstStyle/>
          <a:p>
            <a:endParaRPr lang="en-US"/>
          </a:p>
        </p:txBody>
      </p:sp>
      <p:sp>
        <p:nvSpPr>
          <p:cNvPr id="17" name="Text 15"/>
          <p:cNvSpPr/>
          <p:nvPr/>
        </p:nvSpPr>
        <p:spPr>
          <a:xfrm>
            <a:off x="987552" y="2596896"/>
            <a:ext cx="2286000" cy="292608"/>
          </a:xfrm>
          <a:prstGeom prst="rect">
            <a:avLst/>
          </a:prstGeom>
          <a:noFill/>
          <a:ln/>
        </p:spPr>
        <p:txBody>
          <a:bodyPr wrap="square" lIns="0" tIns="0" rIns="0" bIns="0" rtlCol="0" anchor="ctr"/>
          <a:lstStyle/>
          <a:p>
            <a:pPr marL="0" indent="0">
              <a:buNone/>
            </a:pPr>
            <a:r>
              <a:rPr lang="en-US" sz="1300" b="1" dirty="0">
                <a:solidFill>
                  <a:srgbClr val="AED6F1"/>
                </a:solidFill>
                <a:latin typeface="Calibri" pitchFamily="34" charset="0"/>
                <a:ea typeface="Calibri" pitchFamily="34" charset="-122"/>
                <a:cs typeface="Calibri" pitchFamily="34" charset="-120"/>
              </a:rPr>
              <a:t>Resource Optimisation</a:t>
            </a:r>
            <a:endParaRPr lang="en-US" sz="1300" dirty="0"/>
          </a:p>
        </p:txBody>
      </p:sp>
      <p:sp>
        <p:nvSpPr>
          <p:cNvPr id="18" name="Text 16"/>
          <p:cNvSpPr/>
          <p:nvPr/>
        </p:nvSpPr>
        <p:spPr>
          <a:xfrm>
            <a:off x="987552" y="2907792"/>
            <a:ext cx="7772400" cy="256032"/>
          </a:xfrm>
          <a:prstGeom prst="rect">
            <a:avLst/>
          </a:prstGeom>
          <a:noFill/>
          <a:ln/>
        </p:spPr>
        <p:txBody>
          <a:bodyPr wrap="square" lIns="0" tIns="0" rIns="0" bIns="0" rtlCol="0" anchor="ctr"/>
          <a:lstStyle/>
          <a:p>
            <a:pPr marL="0" indent="0">
              <a:buNone/>
            </a:pPr>
            <a:r>
              <a:rPr lang="en-US" sz="1100" dirty="0">
                <a:solidFill>
                  <a:srgbClr val="AED6F1"/>
                </a:solidFill>
                <a:latin typeface="Calibri" pitchFamily="34" charset="0"/>
                <a:ea typeface="Calibri" pitchFamily="34" charset="-122"/>
                <a:cs typeface="Calibri" pitchFamily="34" charset="-120"/>
              </a:rPr>
              <a:t>20 LUTs, 41 FDREs — case-when, with-select, dead logic elimination and gate sharing</a:t>
            </a:r>
            <a:endParaRPr lang="en-US" sz="1100" dirty="0"/>
          </a:p>
        </p:txBody>
      </p:sp>
      <p:sp>
        <p:nvSpPr>
          <p:cNvPr id="19" name="Shape 17"/>
          <p:cNvSpPr/>
          <p:nvPr/>
        </p:nvSpPr>
        <p:spPr>
          <a:xfrm>
            <a:off x="274320" y="3383280"/>
            <a:ext cx="502920" cy="640080"/>
          </a:xfrm>
          <a:prstGeom prst="rect">
            <a:avLst/>
          </a:prstGeom>
          <a:solidFill>
            <a:srgbClr val="2E86C1"/>
          </a:solidFill>
          <a:ln w="12700">
            <a:solidFill>
              <a:srgbClr val="2E86C1"/>
            </a:solidFill>
            <a:prstDash val="solid"/>
          </a:ln>
        </p:spPr>
        <p:txBody>
          <a:bodyPr/>
          <a:lstStyle/>
          <a:p>
            <a:endParaRPr lang="en-US"/>
          </a:p>
        </p:txBody>
      </p:sp>
      <p:sp>
        <p:nvSpPr>
          <p:cNvPr id="20" name="Text 18"/>
          <p:cNvSpPr/>
          <p:nvPr/>
        </p:nvSpPr>
        <p:spPr>
          <a:xfrm>
            <a:off x="274320" y="3429000"/>
            <a:ext cx="50292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1" name="Shape 19"/>
          <p:cNvSpPr/>
          <p:nvPr/>
        </p:nvSpPr>
        <p:spPr>
          <a:xfrm>
            <a:off x="868680" y="3383280"/>
            <a:ext cx="8046720" cy="640080"/>
          </a:xfrm>
          <a:prstGeom prst="rect">
            <a:avLst/>
          </a:prstGeom>
          <a:solidFill>
            <a:srgbClr val="1B2A3B"/>
          </a:solidFill>
          <a:ln w="12700">
            <a:solidFill>
              <a:srgbClr val="1B2A3B"/>
            </a:solidFill>
            <a:prstDash val="solid"/>
          </a:ln>
        </p:spPr>
        <p:txBody>
          <a:bodyPr/>
          <a:lstStyle/>
          <a:p>
            <a:endParaRPr lang="en-US"/>
          </a:p>
        </p:txBody>
      </p:sp>
      <p:sp>
        <p:nvSpPr>
          <p:cNvPr id="22" name="Text 20"/>
          <p:cNvSpPr/>
          <p:nvPr/>
        </p:nvSpPr>
        <p:spPr>
          <a:xfrm>
            <a:off x="987552" y="3419856"/>
            <a:ext cx="2286000" cy="292608"/>
          </a:xfrm>
          <a:prstGeom prst="rect">
            <a:avLst/>
          </a:prstGeom>
          <a:noFill/>
          <a:ln/>
        </p:spPr>
        <p:txBody>
          <a:bodyPr wrap="square" lIns="0" tIns="0" rIns="0" bIns="0" rtlCol="0" anchor="ctr"/>
          <a:lstStyle/>
          <a:p>
            <a:pPr marL="0" indent="0">
              <a:buNone/>
            </a:pPr>
            <a:r>
              <a:rPr lang="en-US" sz="1300" b="1" dirty="0">
                <a:solidFill>
                  <a:srgbClr val="AED6F1"/>
                </a:solidFill>
                <a:latin typeface="Calibri" pitchFamily="34" charset="0"/>
                <a:ea typeface="Calibri" pitchFamily="34" charset="-122"/>
                <a:cs typeface="Calibri" pitchFamily="34" charset="-120"/>
              </a:rPr>
              <a:t>Extended Instruction Set</a:t>
            </a:r>
            <a:endParaRPr lang="en-US" sz="1300" dirty="0"/>
          </a:p>
        </p:txBody>
      </p:sp>
      <p:sp>
        <p:nvSpPr>
          <p:cNvPr id="23" name="Text 21"/>
          <p:cNvSpPr/>
          <p:nvPr/>
        </p:nvSpPr>
        <p:spPr>
          <a:xfrm>
            <a:off x="987552" y="3730752"/>
            <a:ext cx="7772400" cy="256032"/>
          </a:xfrm>
          <a:prstGeom prst="rect">
            <a:avLst/>
          </a:prstGeom>
          <a:noFill/>
          <a:ln/>
        </p:spPr>
        <p:txBody>
          <a:bodyPr wrap="square" lIns="0" tIns="0" rIns="0" bIns="0" rtlCol="0" anchor="ctr"/>
          <a:lstStyle/>
          <a:p>
            <a:pPr marL="0" indent="0">
              <a:buNone/>
            </a:pPr>
            <a:r>
              <a:rPr lang="en-US" sz="1100" dirty="0">
                <a:solidFill>
                  <a:srgbClr val="AED6F1"/>
                </a:solidFill>
                <a:latin typeface="Calibri" pitchFamily="34" charset="0"/>
                <a:ea typeface="Calibri" pitchFamily="34" charset="-122"/>
                <a:cs typeface="Calibri" pitchFamily="34" charset="-120"/>
              </a:rPr>
              <a:t>Comparator, Multiplier, Parity Generator, Magnitude Detector added as extra features</a:t>
            </a:r>
            <a:endParaRPr lang="en-US" sz="1100" dirty="0"/>
          </a:p>
        </p:txBody>
      </p:sp>
      <p:sp>
        <p:nvSpPr>
          <p:cNvPr id="24" name="Shape 22"/>
          <p:cNvSpPr/>
          <p:nvPr/>
        </p:nvSpPr>
        <p:spPr>
          <a:xfrm>
            <a:off x="274320" y="4206240"/>
            <a:ext cx="502920" cy="640080"/>
          </a:xfrm>
          <a:prstGeom prst="rect">
            <a:avLst/>
          </a:prstGeom>
          <a:solidFill>
            <a:srgbClr val="2E86C1"/>
          </a:solidFill>
          <a:ln w="12700">
            <a:solidFill>
              <a:srgbClr val="2E86C1"/>
            </a:solidFill>
            <a:prstDash val="solid"/>
          </a:ln>
        </p:spPr>
        <p:txBody>
          <a:bodyPr/>
          <a:lstStyle/>
          <a:p>
            <a:endParaRPr lang="en-US"/>
          </a:p>
        </p:txBody>
      </p:sp>
      <p:sp>
        <p:nvSpPr>
          <p:cNvPr id="25" name="Text 23"/>
          <p:cNvSpPr/>
          <p:nvPr/>
        </p:nvSpPr>
        <p:spPr>
          <a:xfrm>
            <a:off x="274320" y="4251960"/>
            <a:ext cx="50292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6" name="Shape 24"/>
          <p:cNvSpPr/>
          <p:nvPr/>
        </p:nvSpPr>
        <p:spPr>
          <a:xfrm>
            <a:off x="868680" y="4206240"/>
            <a:ext cx="8046720" cy="640080"/>
          </a:xfrm>
          <a:prstGeom prst="rect">
            <a:avLst/>
          </a:prstGeom>
          <a:solidFill>
            <a:srgbClr val="1B2A3B"/>
          </a:solidFill>
          <a:ln w="12700">
            <a:solidFill>
              <a:srgbClr val="1B2A3B"/>
            </a:solidFill>
            <a:prstDash val="solid"/>
          </a:ln>
        </p:spPr>
        <p:txBody>
          <a:bodyPr/>
          <a:lstStyle/>
          <a:p>
            <a:endParaRPr lang="en-US"/>
          </a:p>
        </p:txBody>
      </p:sp>
      <p:sp>
        <p:nvSpPr>
          <p:cNvPr id="27" name="Text 25"/>
          <p:cNvSpPr/>
          <p:nvPr/>
        </p:nvSpPr>
        <p:spPr>
          <a:xfrm>
            <a:off x="987552" y="4242816"/>
            <a:ext cx="2286000" cy="292608"/>
          </a:xfrm>
          <a:prstGeom prst="rect">
            <a:avLst/>
          </a:prstGeom>
          <a:noFill/>
          <a:ln/>
        </p:spPr>
        <p:txBody>
          <a:bodyPr wrap="square" lIns="0" tIns="0" rIns="0" bIns="0" rtlCol="0" anchor="ctr"/>
          <a:lstStyle/>
          <a:p>
            <a:pPr marL="0" indent="0">
              <a:buNone/>
            </a:pPr>
            <a:r>
              <a:rPr lang="en-US" sz="1300" b="1" dirty="0">
                <a:solidFill>
                  <a:srgbClr val="AED6F1"/>
                </a:solidFill>
                <a:latin typeface="Calibri" pitchFamily="34" charset="0"/>
                <a:ea typeface="Calibri" pitchFamily="34" charset="-122"/>
                <a:cs typeface="Calibri" pitchFamily="34" charset="-120"/>
              </a:rPr>
              <a:t>FPGA Deployment</a:t>
            </a:r>
            <a:endParaRPr lang="en-US" sz="1300" dirty="0"/>
          </a:p>
        </p:txBody>
      </p:sp>
      <p:sp>
        <p:nvSpPr>
          <p:cNvPr id="28" name="Text 26"/>
          <p:cNvSpPr/>
          <p:nvPr/>
        </p:nvSpPr>
        <p:spPr>
          <a:xfrm>
            <a:off x="987552" y="4553712"/>
            <a:ext cx="7772400" cy="256032"/>
          </a:xfrm>
          <a:prstGeom prst="rect">
            <a:avLst/>
          </a:prstGeom>
          <a:noFill/>
          <a:ln/>
        </p:spPr>
        <p:txBody>
          <a:bodyPr wrap="square" lIns="0" tIns="0" rIns="0" bIns="0" rtlCol="0" anchor="ctr"/>
          <a:lstStyle/>
          <a:p>
            <a:pPr marL="0" indent="0">
              <a:buNone/>
            </a:pPr>
            <a:r>
              <a:rPr lang="en-US" sz="1100" dirty="0">
                <a:solidFill>
                  <a:srgbClr val="AED6F1"/>
                </a:solidFill>
                <a:latin typeface="Calibri" pitchFamily="34" charset="0"/>
                <a:ea typeface="Calibri" pitchFamily="34" charset="-122"/>
                <a:cs typeface="Calibri" pitchFamily="34" charset="-120"/>
              </a:rPr>
              <a:t>Synthesis → Implementation → Bitstream → BASYS3 board verified and demonstrated</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92495D6B-E65D-ED9B-CB31-47393472F49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9DB365F-639B-7C81-81DA-043F728866D5}"/>
              </a:ext>
            </a:extLst>
          </p:cNvPr>
          <p:cNvSpPr/>
          <p:nvPr/>
        </p:nvSpPr>
        <p:spPr>
          <a:xfrm>
            <a:off x="0" y="0"/>
            <a:ext cx="164592" cy="5143500"/>
          </a:xfrm>
          <a:prstGeom prst="rect">
            <a:avLst/>
          </a:prstGeom>
          <a:solidFill>
            <a:srgbClr val="2E86C1"/>
          </a:solidFill>
          <a:ln w="12700">
            <a:solidFill>
              <a:srgbClr val="2E86C1"/>
            </a:solidFill>
            <a:prstDash val="solid"/>
          </a:ln>
        </p:spPr>
        <p:txBody>
          <a:bodyPr/>
          <a:lstStyle/>
          <a:p>
            <a:endParaRPr lang="en-US"/>
          </a:p>
        </p:txBody>
      </p:sp>
      <p:sp>
        <p:nvSpPr>
          <p:cNvPr id="3" name="Shape 1">
            <a:extLst>
              <a:ext uri="{FF2B5EF4-FFF2-40B4-BE49-F238E27FC236}">
                <a16:creationId xmlns:a16="http://schemas.microsoft.com/office/drawing/2014/main" id="{3B905865-C388-0774-BC23-4CA87A2C9F66}"/>
              </a:ext>
            </a:extLst>
          </p:cNvPr>
          <p:cNvSpPr/>
          <p:nvPr/>
        </p:nvSpPr>
        <p:spPr>
          <a:xfrm>
            <a:off x="0" y="0"/>
            <a:ext cx="9144000" cy="713232"/>
          </a:xfrm>
          <a:prstGeom prst="rect">
            <a:avLst/>
          </a:prstGeom>
          <a:solidFill>
            <a:srgbClr val="0D1B2A"/>
          </a:solidFill>
          <a:ln w="12700">
            <a:solidFill>
              <a:srgbClr val="0D1B2A"/>
            </a:solidFill>
            <a:prstDash val="solid"/>
          </a:ln>
        </p:spPr>
        <p:txBody>
          <a:bodyPr/>
          <a:lstStyle/>
          <a:p>
            <a:endParaRPr lang="en-US"/>
          </a:p>
        </p:txBody>
      </p:sp>
      <p:sp>
        <p:nvSpPr>
          <p:cNvPr id="4" name="Text 2">
            <a:extLst>
              <a:ext uri="{FF2B5EF4-FFF2-40B4-BE49-F238E27FC236}">
                <a16:creationId xmlns:a16="http://schemas.microsoft.com/office/drawing/2014/main" id="{C6C18F94-71BB-1C9B-3C25-3565DB2326B9}"/>
              </a:ext>
            </a:extLst>
          </p:cNvPr>
          <p:cNvSpPr/>
          <p:nvPr/>
        </p:nvSpPr>
        <p:spPr>
          <a:xfrm>
            <a:off x="274320" y="73152"/>
            <a:ext cx="8595360"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Members and Contributions</a:t>
            </a:r>
            <a:endParaRPr lang="en-US" sz="2200" dirty="0"/>
          </a:p>
        </p:txBody>
      </p:sp>
      <p:graphicFrame>
        <p:nvGraphicFramePr>
          <p:cNvPr id="34" name="Table 33">
            <a:extLst>
              <a:ext uri="{FF2B5EF4-FFF2-40B4-BE49-F238E27FC236}">
                <a16:creationId xmlns:a16="http://schemas.microsoft.com/office/drawing/2014/main" id="{D0DE30BF-1B0D-610C-08BD-171BC31B8BDF}"/>
              </a:ext>
            </a:extLst>
          </p:cNvPr>
          <p:cNvGraphicFramePr>
            <a:graphicFrameLocks noGrp="1"/>
          </p:cNvGraphicFramePr>
          <p:nvPr>
            <p:extLst>
              <p:ext uri="{D42A27DB-BD31-4B8C-83A1-F6EECF244321}">
                <p14:modId xmlns:p14="http://schemas.microsoft.com/office/powerpoint/2010/main" val="167265663"/>
              </p:ext>
            </p:extLst>
          </p:nvPr>
        </p:nvGraphicFramePr>
        <p:xfrm>
          <a:off x="513806" y="1270621"/>
          <a:ext cx="8116388" cy="3076862"/>
        </p:xfrm>
        <a:graphic>
          <a:graphicData uri="http://schemas.openxmlformats.org/drawingml/2006/table">
            <a:tbl>
              <a:tblPr firstRow="1" bandRow="1">
                <a:tableStyleId>{5C22544A-7EE6-4342-B048-85BDC9FD1C3A}</a:tableStyleId>
              </a:tblPr>
              <a:tblGrid>
                <a:gridCol w="1421674">
                  <a:extLst>
                    <a:ext uri="{9D8B030D-6E8A-4147-A177-3AD203B41FA5}">
                      <a16:colId xmlns:a16="http://schemas.microsoft.com/office/drawing/2014/main" val="1553914594"/>
                    </a:ext>
                  </a:extLst>
                </a:gridCol>
                <a:gridCol w="6694714">
                  <a:extLst>
                    <a:ext uri="{9D8B030D-6E8A-4147-A177-3AD203B41FA5}">
                      <a16:colId xmlns:a16="http://schemas.microsoft.com/office/drawing/2014/main" val="814266077"/>
                    </a:ext>
                  </a:extLst>
                </a:gridCol>
              </a:tblGrid>
              <a:tr h="250706">
                <a:tc>
                  <a:txBody>
                    <a:bodyPr/>
                    <a:lstStyle/>
                    <a:p>
                      <a:r>
                        <a:rPr lang="en-US" sz="900" dirty="0"/>
                        <a:t>Team Member</a:t>
                      </a:r>
                    </a:p>
                  </a:txBody>
                  <a:tcPr anchor="ctr"/>
                </a:tc>
                <a:tc>
                  <a:txBody>
                    <a:bodyPr/>
                    <a:lstStyle/>
                    <a:p>
                      <a:r>
                        <a:rPr lang="en-US" sz="900" dirty="0"/>
                        <a:t>Contribution</a:t>
                      </a:r>
                    </a:p>
                  </a:txBody>
                  <a:tcPr anchor="ctr"/>
                </a:tc>
                <a:extLst>
                  <a:ext uri="{0D108BD9-81ED-4DB2-BD59-A6C34878D82A}">
                    <a16:rowId xmlns:a16="http://schemas.microsoft.com/office/drawing/2014/main" val="1353174034"/>
                  </a:ext>
                </a:extLst>
              </a:tr>
              <a:tr h="437077">
                <a:tc>
                  <a:txBody>
                    <a:bodyPr/>
                    <a:lstStyle/>
                    <a:p>
                      <a:r>
                        <a:rPr lang="en-US" sz="900" dirty="0"/>
                        <a:t>Jayasekara J.P.D.N.R. </a:t>
                      </a:r>
                    </a:p>
                  </a:txBody>
                  <a:tcPr anchor="ctr"/>
                </a:tc>
                <a:tc>
                  <a:txBody>
                    <a:bodyPr/>
                    <a:lstStyle/>
                    <a:p>
                      <a:r>
                        <a:rPr lang="en-US" sz="900" dirty="0"/>
                        <a:t>Designed the Instruction Decoder and generated all control signals including register enable, MUX selection, ALU operation control, and jump logic. Implemented the Program Counter, 3-bit adder (PC+1), and Program ROM for instruction storage and execution control.</a:t>
                      </a:r>
                    </a:p>
                  </a:txBody>
                  <a:tcPr anchor="ctr"/>
                </a:tc>
                <a:extLst>
                  <a:ext uri="{0D108BD9-81ED-4DB2-BD59-A6C34878D82A}">
                    <a16:rowId xmlns:a16="http://schemas.microsoft.com/office/drawing/2014/main" val="339391313"/>
                  </a:ext>
                </a:extLst>
              </a:tr>
              <a:tr h="370064">
                <a:tc>
                  <a:txBody>
                    <a:bodyPr/>
                    <a:lstStyle/>
                    <a:p>
                      <a:r>
                        <a:rPr lang="en-US" sz="900" dirty="0"/>
                        <a:t>Jackson J.W. </a:t>
                      </a:r>
                    </a:p>
                  </a:txBody>
                  <a:tcPr anchor="ctr"/>
                </a:tc>
                <a:tc>
                  <a:txBody>
                    <a:bodyPr/>
                    <a:lstStyle/>
                    <a:p>
                      <a:r>
                        <a:rPr lang="en-US" sz="900" dirty="0"/>
                        <a:t>Designed all multiplexers including 8-way 4-bit MUX, 2-way 4-bit MUX, and 2-way 3-bit MUX. Developed 4-bit, 3-bit, and 12-bit bus structures. Managed data routing between registers, ALU, and immediate values ensuring correct system data flow.</a:t>
                      </a:r>
                    </a:p>
                  </a:txBody>
                  <a:tcPr anchor="ctr"/>
                </a:tc>
                <a:extLst>
                  <a:ext uri="{0D108BD9-81ED-4DB2-BD59-A6C34878D82A}">
                    <a16:rowId xmlns:a16="http://schemas.microsoft.com/office/drawing/2014/main" val="1984153445"/>
                  </a:ext>
                </a:extLst>
              </a:tr>
              <a:tr h="3349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t>Isaiyalan K. </a:t>
                      </a:r>
                    </a:p>
                  </a:txBody>
                  <a:tcPr anchor="ctr"/>
                </a:tc>
                <a:tc>
                  <a:txBody>
                    <a:bodyPr/>
                    <a:lstStyle/>
                    <a:p>
                      <a:r>
                        <a:rPr lang="en-US" sz="900" dirty="0"/>
                        <a:t>Designed and implemented the 4-bit Add/Subtract Unit, including 2’s complement logic for subtraction and NEG operations. Handled overflow detection and supported testing of ADD and NEG instructions.</a:t>
                      </a:r>
                    </a:p>
                  </a:txBody>
                  <a:tcPr anchor="ctr"/>
                </a:tc>
                <a:extLst>
                  <a:ext uri="{0D108BD9-81ED-4DB2-BD59-A6C34878D82A}">
                    <a16:rowId xmlns:a16="http://schemas.microsoft.com/office/drawing/2014/main" val="3442952278"/>
                  </a:ext>
                </a:extLst>
              </a:tr>
              <a:tr h="3859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err="1"/>
                        <a:t>Jathursanan</a:t>
                      </a:r>
                      <a:r>
                        <a:rPr lang="en-US" sz="900" dirty="0"/>
                        <a:t> S. </a:t>
                      </a:r>
                    </a:p>
                  </a:txBody>
                  <a:tcPr anchor="ctr"/>
                </a:tc>
                <a:tc>
                  <a:txBody>
                    <a:bodyPr/>
                    <a:lstStyle/>
                    <a:p>
                      <a:r>
                        <a:rPr lang="en-US" sz="900" dirty="0"/>
                        <a:t>Implemented an 8 × 4-bit register bank (R0–R7) with R0 hardwired to zero. Designed the 3-to-8 decoder for register selection, register enable logic, and reset functionality. Ensured correct data storage and retrieval across the system.</a:t>
                      </a:r>
                    </a:p>
                  </a:txBody>
                  <a:tcPr anchor="ctr"/>
                </a:tc>
                <a:extLst>
                  <a:ext uri="{0D108BD9-81ED-4DB2-BD59-A6C34878D82A}">
                    <a16:rowId xmlns:a16="http://schemas.microsoft.com/office/drawing/2014/main" val="3601049639"/>
                  </a:ext>
                </a:extLst>
              </a:tr>
              <a:tr h="1267265">
                <a:tc>
                  <a:txBody>
                    <a:bodyPr/>
                    <a:lstStyle/>
                    <a:p>
                      <a:r>
                        <a:rPr lang="en-US" sz="900" dirty="0"/>
                        <a:t>Together</a:t>
                      </a:r>
                    </a:p>
                  </a:txBody>
                  <a:tcPr anchor="ctr"/>
                </a:tc>
                <a:tc>
                  <a:txBody>
                    <a:bodyPr/>
                    <a:lstStyle/>
                    <a:p>
                      <a:r>
                        <a:rPr lang="en-US" sz="900" dirty="0"/>
                        <a:t>The </a:t>
                      </a:r>
                      <a:r>
                        <a:rPr lang="en-US" sz="900" dirty="0" err="1"/>
                        <a:t>nanoprocessor</a:t>
                      </a:r>
                      <a:r>
                        <a:rPr lang="en-US" sz="900" dirty="0"/>
                        <a:t> was developed as a fully integrated system combining arithmetic logic, data storage, data routing, and control units. Each module was independently designed and then integrated to form a working 4-bit processor capable of executing a small instruction set.</a:t>
                      </a:r>
                    </a:p>
                    <a:p>
                      <a:r>
                        <a:rPr lang="en-US" sz="900" dirty="0"/>
                        <a:t>Extensive teamwork was involved in debugging and verification using simulation and hardware testing on the BASYS 3 board. The final system successfully executed instructions such as MOV and ADD, with outputs displayed via LEDs and a 7-segment display. The project improved understanding of processor architecture, modular design, and hardware-software integration.</a:t>
                      </a:r>
                    </a:p>
                  </a:txBody>
                  <a:tcPr anchor="ctr"/>
                </a:tc>
                <a:extLst>
                  <a:ext uri="{0D108BD9-81ED-4DB2-BD59-A6C34878D82A}">
                    <a16:rowId xmlns:a16="http://schemas.microsoft.com/office/drawing/2014/main" val="357603834"/>
                  </a:ext>
                </a:extLst>
              </a:tr>
            </a:tbl>
          </a:graphicData>
        </a:graphic>
      </p:graphicFrame>
    </p:spTree>
    <p:extLst>
      <p:ext uri="{BB962C8B-B14F-4D97-AF65-F5344CB8AC3E}">
        <p14:creationId xmlns:p14="http://schemas.microsoft.com/office/powerpoint/2010/main" val="25621983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86C1"/>
          </a:solidFill>
          <a:ln w="12700">
            <a:solidFill>
              <a:srgbClr val="2E86C1"/>
            </a:solidFill>
            <a:prstDash val="solid"/>
          </a:ln>
        </p:spPr>
        <p:txBody>
          <a:bodyPr/>
          <a:lstStyle/>
          <a:p>
            <a:endParaRPr lang="en-US"/>
          </a:p>
        </p:txBody>
      </p:sp>
      <p:sp>
        <p:nvSpPr>
          <p:cNvPr id="3" name="Shape 1"/>
          <p:cNvSpPr/>
          <p:nvPr/>
        </p:nvSpPr>
        <p:spPr>
          <a:xfrm>
            <a:off x="0" y="5079492"/>
            <a:ext cx="9144000" cy="64008"/>
          </a:xfrm>
          <a:prstGeom prst="rect">
            <a:avLst/>
          </a:prstGeom>
          <a:solidFill>
            <a:srgbClr val="2E86C1"/>
          </a:solidFill>
          <a:ln w="12700">
            <a:solidFill>
              <a:srgbClr val="2E86C1"/>
            </a:solidFill>
            <a:prstDash val="solid"/>
          </a:ln>
        </p:spPr>
        <p:txBody>
          <a:bodyPr/>
          <a:lstStyle/>
          <a:p>
            <a:endParaRPr lang="en-US"/>
          </a:p>
        </p:txBody>
      </p:sp>
      <p:sp>
        <p:nvSpPr>
          <p:cNvPr id="4" name="Text 2"/>
          <p:cNvSpPr/>
          <p:nvPr/>
        </p:nvSpPr>
        <p:spPr>
          <a:xfrm>
            <a:off x="457200" y="1463040"/>
            <a:ext cx="8229600" cy="1280160"/>
          </a:xfrm>
          <a:prstGeom prst="rect">
            <a:avLst/>
          </a:prstGeom>
          <a:noFill/>
          <a:ln/>
        </p:spPr>
        <p:txBody>
          <a:bodyPr wrap="square"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Thank You</a:t>
            </a:r>
            <a:endParaRPr lang="en-US" sz="4400" dirty="0"/>
          </a:p>
        </p:txBody>
      </p:sp>
      <p:sp>
        <p:nvSpPr>
          <p:cNvPr id="6" name="Text 4"/>
          <p:cNvSpPr/>
          <p:nvPr/>
        </p:nvSpPr>
        <p:spPr>
          <a:xfrm>
            <a:off x="457200" y="2442763"/>
            <a:ext cx="8229600" cy="365760"/>
          </a:xfrm>
          <a:prstGeom prst="rect">
            <a:avLst/>
          </a:prstGeom>
          <a:noFill/>
          <a:ln/>
        </p:spPr>
        <p:txBody>
          <a:bodyPr wrap="square" rtlCol="0" anchor="ctr"/>
          <a:lstStyle/>
          <a:p>
            <a:pPr marL="0" indent="0" algn="ctr">
              <a:buNone/>
            </a:pPr>
            <a:r>
              <a:rPr lang="en-US" sz="1500">
                <a:solidFill>
                  <a:srgbClr val="D5D8DC"/>
                </a:solidFill>
                <a:latin typeface="Calibri" pitchFamily="34" charset="0"/>
                <a:ea typeface="Calibri" pitchFamily="34" charset="-122"/>
                <a:cs typeface="Calibri" pitchFamily="34" charset="-120"/>
              </a:rPr>
              <a:t>Group 19  </a:t>
            </a:r>
            <a:r>
              <a:rPr lang="en-US" sz="1500" dirty="0">
                <a:solidFill>
                  <a:srgbClr val="D5D8DC"/>
                </a:solidFill>
                <a:latin typeface="Calibri" pitchFamily="34" charset="0"/>
                <a:ea typeface="Calibri" pitchFamily="34" charset="-122"/>
                <a:cs typeface="Calibri" pitchFamily="34" charset="-120"/>
              </a:rPr>
              <a:t>—  CS1050 Computer Organization and Digital Design</a:t>
            </a:r>
            <a:endParaRPr lang="en-US" sz="1500" dirty="0"/>
          </a:p>
        </p:txBody>
      </p:sp>
      <p:sp>
        <p:nvSpPr>
          <p:cNvPr id="7" name="Text 5"/>
          <p:cNvSpPr/>
          <p:nvPr/>
        </p:nvSpPr>
        <p:spPr>
          <a:xfrm>
            <a:off x="457200" y="2677901"/>
            <a:ext cx="8229600" cy="365760"/>
          </a:xfrm>
          <a:prstGeom prst="rect">
            <a:avLst/>
          </a:prstGeom>
          <a:noFill/>
          <a:ln/>
        </p:spPr>
        <p:txBody>
          <a:bodyPr wrap="square" rtlCol="0" anchor="ctr"/>
          <a:lstStyle/>
          <a:p>
            <a:pPr marL="0" indent="0" algn="ctr">
              <a:buNone/>
            </a:pPr>
            <a:r>
              <a:rPr lang="en-US" sz="1300" dirty="0">
                <a:solidFill>
                  <a:srgbClr val="5D6D7E"/>
                </a:solidFill>
                <a:latin typeface="Calibri" pitchFamily="34" charset="0"/>
                <a:ea typeface="Calibri" pitchFamily="34" charset="-122"/>
                <a:cs typeface="Calibri" pitchFamily="34" charset="-120"/>
              </a:rPr>
              <a:t>University of Moratuwa   |   Department of Computer Science and Engineering</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978</TotalTime>
  <Words>3011</Words>
  <Application>Microsoft Office PowerPoint</Application>
  <PresentationFormat>On-screen Show (16:9)</PresentationFormat>
  <Paragraphs>494</Paragraphs>
  <Slides>31</Slides>
  <Notes>31</Notes>
  <HiddenSlides>3</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Aptos</vt: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4-bit Nanoprocessor Design</dc:title>
  <dc:subject>PptxGenJS Presentation</dc:subject>
  <dc:creator>PptxGenJS</dc:creator>
  <cp:lastModifiedBy>Jackson</cp:lastModifiedBy>
  <cp:revision>19</cp:revision>
  <dcterms:created xsi:type="dcterms:W3CDTF">2026-05-10T16:14:26Z</dcterms:created>
  <dcterms:modified xsi:type="dcterms:W3CDTF">2026-05-12T13:43:01Z</dcterms:modified>
</cp:coreProperties>
</file>